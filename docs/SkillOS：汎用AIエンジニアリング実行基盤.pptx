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  <p:embeddedFontLst>
    <p:embeddedFont>
      <p:font typeface="Noto Sans JP" charset="-122" pitchFamily="34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ine-1"/>
          <p:cNvSpPr/>
          <p:nvPr/>
        </p:nvSpPr>
        <p:spPr>
          <a:xfrm>
            <a:off x="762000" y="1320800"/>
            <a:ext cx="965200" cy="635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cover-grid-1"/>
          <p:cNvSpPr/>
          <p:nvPr/>
        </p:nvSpPr>
        <p:spPr>
          <a:xfrm>
            <a:off x="11125200" y="1168400"/>
            <a:ext cx="34290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cover-grid-2"/>
          <p:cNvSpPr/>
          <p:nvPr/>
        </p:nvSpPr>
        <p:spPr>
          <a:xfrm>
            <a:off x="12623800" y="2235200"/>
            <a:ext cx="2108200" cy="25400"/>
          </a:xfrm>
          <a:prstGeom prst="rect">
            <a:avLst/>
          </a:prstGeom>
          <a:solidFill>
            <a:srgbClr val="00FFFF">
              <a:alpha val="80000"/>
            </a:srgbClr>
          </a:solidFill>
          <a:ln/>
        </p:spPr>
      </p:sp>
      <p:sp>
        <p:nvSpPr>
          <p:cNvPr id="5" name="cover-grid-3"/>
          <p:cNvSpPr/>
          <p:nvPr/>
        </p:nvSpPr>
        <p:spPr>
          <a:xfrm>
            <a:off x="11734800" y="3302000"/>
            <a:ext cx="29210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cover-panel"/>
          <p:cNvSpPr/>
          <p:nvPr/>
        </p:nvSpPr>
        <p:spPr>
          <a:xfrm>
            <a:off x="11112500" y="4089400"/>
            <a:ext cx="3175000" cy="2489200"/>
          </a:xfrm>
          <a:prstGeom prst="roundRect">
            <a:avLst>
              <a:gd name="adj" fmla="val 8163"/>
            </a:avLst>
          </a:prstGeom>
          <a:solidFill>
            <a:srgbClr val="1C2541"/>
          </a:solidFill>
          <a:ln/>
        </p:spPr>
      </p:sp>
      <p:pic>
        <p:nvPicPr>
          <p:cNvPr id="7" name="cov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0" y="4635500"/>
            <a:ext cx="914400" cy="914400"/>
          </a:xfrm>
          <a:prstGeom prst="rect">
            <a:avLst/>
          </a:prstGeom>
        </p:spPr>
      </p:pic>
      <p:sp>
        <p:nvSpPr>
          <p:cNvPr id="8" name="cover-panel-bar"/>
          <p:cNvSpPr/>
          <p:nvPr/>
        </p:nvSpPr>
        <p:spPr>
          <a:xfrm>
            <a:off x="11658600" y="5892800"/>
            <a:ext cx="208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9" name="cover-kicker"/>
          <p:cNvSpPr/>
          <p:nvPr/>
        </p:nvSpPr>
        <p:spPr>
          <a:xfrm>
            <a:off x="762000" y="19812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ARCHITECTURE ANALYSIS / 2026.10.02</a:t>
            </a:r>
            <a:endParaRPr lang="en-US" sz="1600" dirty="0"/>
          </a:p>
        </p:txBody>
      </p:sp>
      <p:sp>
        <p:nvSpPr>
          <p:cNvPr id="10" name="cover-title"/>
          <p:cNvSpPr/>
          <p:nvPr/>
        </p:nvSpPr>
        <p:spPr>
          <a:xfrm>
            <a:off x="762000" y="2616200"/>
            <a:ext cx="96520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36"/>
              </a:lnSpc>
              <a:buNone/>
            </a:pPr>
            <a:r>
              <a:rPr lang="en-US" altLang="en-US" sz="5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SkillOS：汎用AI</a:t>
            </a:r>
            <a:endParaRPr lang="en-US" sz="5200" dirty="0"/>
          </a:p>
          <a:p>
            <a:pPr algn="l" indent="0" marL="0">
              <a:lnSpc>
                <a:spcPts val="6136"/>
              </a:lnSpc>
              <a:buNone/>
            </a:pPr>
            <a:r>
              <a:rPr lang="en-US" altLang="en-US" sz="5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エンジニアリング実行基盤</a:t>
            </a:r>
            <a:endParaRPr lang="en-US" sz="5200" dirty="0"/>
          </a:p>
        </p:txBody>
      </p:sp>
      <p:sp>
        <p:nvSpPr>
          <p:cNvPr id="11" name="cover-subtitle"/>
          <p:cNvSpPr/>
          <p:nvPr/>
        </p:nvSpPr>
        <p:spPr>
          <a:xfrm>
            <a:off x="762000" y="5003800"/>
            <a:ext cx="850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35"/>
              </a:lnSpc>
              <a:buNone/>
            </a:pPr>
            <a:r>
              <a:rPr lang="en-US" altLang="en-US" sz="23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Skill・Playbook・PDCAを、再利用可能な</a:t>
            </a:r>
            <a:endParaRPr lang="en-US" sz="2300" dirty="0"/>
          </a:p>
          <a:p>
            <a:pPr algn="l" indent="0" marL="0">
              <a:lnSpc>
                <a:spcPts val="3335"/>
              </a:lnSpc>
              <a:buNone/>
            </a:pPr>
            <a:r>
              <a:rPr lang="en-US" altLang="en-US" sz="23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実行資産として管理するためのアーキテクチャ構想</a:t>
            </a:r>
            <a:endParaRPr lang="en-US" sz="2300" dirty="0"/>
          </a:p>
        </p:txBody>
      </p:sp>
      <p:sp>
        <p:nvSpPr>
          <p:cNvPr id="12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01 / 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990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エグゼクティブサマリー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320800"/>
            <a:ext cx="1422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本質は「Claude CodeのWeb化」ではなく、実行原理を独立した基盤として固化すること。</a:t>
            </a:r>
            <a:endParaRPr lang="en-US" sz="2100" dirty="0"/>
          </a:p>
        </p:txBody>
      </p:sp>
      <p:sp>
        <p:nvSpPr>
          <p:cNvPr id="5" name="current-card"/>
          <p:cNvSpPr/>
          <p:nvPr/>
        </p:nvSpPr>
        <p:spPr>
          <a:xfrm>
            <a:off x="762000" y="2311400"/>
            <a:ext cx="5334000" cy="3505200"/>
          </a:xfrm>
          <a:prstGeom prst="roundRect">
            <a:avLst>
              <a:gd name="adj" fmla="val 5797"/>
            </a:avLst>
          </a:prstGeom>
          <a:solidFill>
            <a:srgbClr val="1C2541"/>
          </a:solidFill>
          <a:ln/>
        </p:spPr>
      </p:sp>
      <p:sp>
        <p:nvSpPr>
          <p:cNvPr id="6" name="current-label"/>
          <p:cNvSpPr/>
          <p:nvPr/>
        </p:nvSpPr>
        <p:spPr>
          <a:xfrm>
            <a:off x="1168400" y="27432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従来の発想</a:t>
            </a:r>
            <a:endParaRPr lang="en-US" sz="1500" dirty="0"/>
          </a:p>
        </p:txBody>
      </p:sp>
      <p:pic>
        <p:nvPicPr>
          <p:cNvPr id="7" name="curren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3276600"/>
            <a:ext cx="533400" cy="533400"/>
          </a:xfrm>
          <a:prstGeom prst="rect">
            <a:avLst/>
          </a:prstGeom>
        </p:spPr>
      </p:pic>
      <p:sp>
        <p:nvSpPr>
          <p:cNvPr id="8" name="current-title"/>
          <p:cNvSpPr/>
          <p:nvPr/>
        </p:nvSpPr>
        <p:spPr>
          <a:xfrm>
            <a:off x="1955800" y="3251200"/>
            <a:ext cx="355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AIコーディング支援</a:t>
            </a:r>
            <a:endParaRPr lang="en-US" sz="2300" dirty="0"/>
          </a:p>
        </p:txBody>
      </p:sp>
      <p:sp>
        <p:nvSpPr>
          <p:cNvPr id="9" name="current-body"/>
          <p:cNvSpPr/>
          <p:nvPr/>
        </p:nvSpPr>
        <p:spPr>
          <a:xfrm>
            <a:off x="1168400" y="4140200"/>
            <a:ext cx="4318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モデル中心</a:t>
            </a:r>
            <a:endParaRPr lang="en-US" sz="160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会話・操作が単発化</a:t>
            </a:r>
            <a:endParaRPr lang="en-US" sz="160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状態・証跡・評価が分散</a:t>
            </a:r>
            <a:endParaRPr lang="en-US" sz="1600" dirty="0"/>
          </a:p>
        </p:txBody>
      </p:sp>
      <p:sp>
        <p:nvSpPr>
          <p:cNvPr id="10" name="transition"/>
          <p:cNvSpPr/>
          <p:nvPr/>
        </p:nvSpPr>
        <p:spPr>
          <a:xfrm>
            <a:off x="6477000" y="4064000"/>
            <a:ext cx="3175000" cy="9144"/>
          </a:xfrm>
          <a:prstGeom prst="line">
            <a:avLst/>
          </a:prstGeom>
          <a:ln w="38100">
            <a:solidFill>
              <a:srgbClr val="00FFFF"/>
            </a:solidFill>
            <a:prstDash val="solid"/>
            <a:tailEnd type="triangle"/>
          </a:ln>
        </p:spPr>
      </p:sp>
      <p:sp>
        <p:nvSpPr>
          <p:cNvPr id="11" name="transition-label"/>
          <p:cNvSpPr/>
          <p:nvPr/>
        </p:nvSpPr>
        <p:spPr>
          <a:xfrm>
            <a:off x="6731000" y="3606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構造を再定義</a:t>
            </a:r>
            <a:endParaRPr lang="en-US" sz="1500" dirty="0"/>
          </a:p>
        </p:txBody>
      </p:sp>
      <p:sp>
        <p:nvSpPr>
          <p:cNvPr id="12" name="target-card"/>
          <p:cNvSpPr/>
          <p:nvPr/>
        </p:nvSpPr>
        <p:spPr>
          <a:xfrm>
            <a:off x="10160000" y="2311400"/>
            <a:ext cx="5334000" cy="3505200"/>
          </a:xfrm>
          <a:prstGeom prst="roundRect">
            <a:avLst>
              <a:gd name="adj" fmla="val 5797"/>
            </a:avLst>
          </a:prstGeom>
          <a:solidFill>
            <a:srgbClr val="1C2541"/>
          </a:solidFill>
          <a:ln/>
        </p:spPr>
      </p:sp>
      <p:sp>
        <p:nvSpPr>
          <p:cNvPr id="13" name="target-label"/>
          <p:cNvSpPr/>
          <p:nvPr/>
        </p:nvSpPr>
        <p:spPr>
          <a:xfrm>
            <a:off x="10566400" y="27432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目指す姿</a:t>
            </a:r>
            <a:endParaRPr lang="en-US" sz="1500" dirty="0"/>
          </a:p>
        </p:txBody>
      </p:sp>
      <p:pic>
        <p:nvPicPr>
          <p:cNvPr id="14" name="targe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400" y="3276600"/>
            <a:ext cx="533400" cy="533400"/>
          </a:xfrm>
          <a:prstGeom prst="rect">
            <a:avLst/>
          </a:prstGeom>
        </p:spPr>
      </p:pic>
      <p:sp>
        <p:nvSpPr>
          <p:cNvPr id="15" name="target-title"/>
          <p:cNvSpPr/>
          <p:nvPr/>
        </p:nvSpPr>
        <p:spPr>
          <a:xfrm>
            <a:off x="11353800" y="3149600"/>
            <a:ext cx="3619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AI Engineering</a:t>
            </a:r>
            <a:endParaRPr lang="en-US" sz="220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Execution Platform</a:t>
            </a:r>
            <a:endParaRPr lang="en-US" sz="2200" dirty="0"/>
          </a:p>
        </p:txBody>
      </p:sp>
      <p:sp>
        <p:nvSpPr>
          <p:cNvPr id="16" name="target-body"/>
          <p:cNvSpPr/>
          <p:nvPr/>
        </p:nvSpPr>
        <p:spPr>
          <a:xfrm>
            <a:off x="10566400" y="4140200"/>
            <a:ext cx="4318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再利用可能な実行資産</a:t>
            </a:r>
            <a:endParaRPr lang="en-US" sz="160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評価・改善を含む閉ループ</a:t>
            </a:r>
            <a:endParaRPr lang="en-US" sz="160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説明可能な受入と納品</a:t>
            </a:r>
            <a:endParaRPr lang="en-US" sz="1600" dirty="0"/>
          </a:p>
        </p:txBody>
      </p:sp>
      <p:sp>
        <p:nvSpPr>
          <p:cNvPr id="17" name="core-callout"/>
          <p:cNvSpPr/>
          <p:nvPr/>
        </p:nvSpPr>
        <p:spPr>
          <a:xfrm>
            <a:off x="762000" y="6477000"/>
            <a:ext cx="14732000" cy="1270000"/>
          </a:xfrm>
          <a:prstGeom prst="roundRect">
            <a:avLst>
              <a:gd name="adj" fmla="val 14000"/>
            </a:avLst>
          </a:prstGeom>
          <a:solidFill>
            <a:srgbClr val="13203A"/>
          </a:solidFill>
          <a:ln/>
        </p:spPr>
      </p:sp>
      <p:pic>
        <p:nvPicPr>
          <p:cNvPr id="18" name="core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6832600"/>
            <a:ext cx="457200" cy="457200"/>
          </a:xfrm>
          <a:prstGeom prst="rect">
            <a:avLst/>
          </a:prstGeom>
        </p:spPr>
      </p:pic>
      <p:sp>
        <p:nvSpPr>
          <p:cNvPr id="19" name="core-text"/>
          <p:cNvSpPr/>
          <p:nvPr/>
        </p:nvSpPr>
        <p:spPr>
          <a:xfrm>
            <a:off x="1955800" y="6731000"/>
            <a:ext cx="1289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知識・手順・評価・実行証跡をモデルから分離し、組織の実行資産として管理する。</a:t>
            </a:r>
            <a:endParaRPr lang="en-US" sz="2200" dirty="0"/>
          </a:p>
        </p:txBody>
      </p:sp>
      <p:sp>
        <p:nvSpPr>
          <p:cNvPr id="20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02 / 20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発想転換：AIコーディング支援から実行エンジンへ</a:t>
            </a:r>
            <a:endParaRPr lang="en-US" sz="3200" dirty="0"/>
          </a:p>
        </p:txBody>
      </p:sp>
      <p:sp>
        <p:nvSpPr>
          <p:cNvPr id="4" name="old-card"/>
          <p:cNvSpPr/>
          <p:nvPr/>
        </p:nvSpPr>
        <p:spPr>
          <a:xfrm>
            <a:off x="762000" y="1625600"/>
            <a:ext cx="5588000" cy="3200400"/>
          </a:xfrm>
          <a:prstGeom prst="roundRect">
            <a:avLst>
              <a:gd name="adj" fmla="val 6349"/>
            </a:avLst>
          </a:prstGeom>
          <a:solidFill>
            <a:srgbClr val="1C2541"/>
          </a:solidFill>
          <a:ln/>
        </p:spPr>
      </p:sp>
      <p:sp>
        <p:nvSpPr>
          <p:cNvPr id="5" name="old-kicker"/>
          <p:cNvSpPr/>
          <p:nvPr/>
        </p:nvSpPr>
        <p:spPr>
          <a:xfrm>
            <a:off x="1219200" y="20828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BEFORE</a:t>
            </a:r>
            <a:endParaRPr lang="en-US" sz="1500" dirty="0"/>
          </a:p>
        </p:txBody>
      </p:sp>
      <p:sp>
        <p:nvSpPr>
          <p:cNvPr id="6" name="old-title"/>
          <p:cNvSpPr/>
          <p:nvPr/>
        </p:nvSpPr>
        <p:spPr>
          <a:xfrm>
            <a:off x="1219200" y="2565400"/>
            <a:ext cx="406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altLang="en-US" sz="2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Claude</a:t>
            </a:r>
            <a:endParaRPr lang="en-US" sz="2900" dirty="0"/>
          </a:p>
          <a:p>
            <a:pPr algn="l" indent="0" marL="0">
              <a:lnSpc>
                <a:spcPts val="3480"/>
              </a:lnSpc>
              <a:buNone/>
            </a:pPr>
            <a:r>
              <a:rPr lang="en-US" altLang="en-US" sz="2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↓ コードを書く</a:t>
            </a:r>
            <a:endParaRPr lang="en-US" sz="2900" dirty="0"/>
          </a:p>
        </p:txBody>
      </p:sp>
      <p:sp>
        <p:nvSpPr>
          <p:cNvPr id="7" name="old-body"/>
          <p:cNvSpPr/>
          <p:nvPr/>
        </p:nvSpPr>
        <p:spPr>
          <a:xfrm>
            <a:off x="1219200" y="3886200"/>
            <a:ext cx="381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モデルとUIに価値が集中する</a:t>
            </a:r>
            <a:endParaRPr lang="en-US" sz="1900" dirty="0"/>
          </a:p>
        </p:txBody>
      </p:sp>
      <p:sp>
        <p:nvSpPr>
          <p:cNvPr id="8" name="arrow"/>
          <p:cNvSpPr/>
          <p:nvPr/>
        </p:nvSpPr>
        <p:spPr>
          <a:xfrm>
            <a:off x="6807200" y="3213100"/>
            <a:ext cx="2616200" cy="9144"/>
          </a:xfrm>
          <a:prstGeom prst="line">
            <a:avLst/>
          </a:prstGeom>
          <a:ln w="50800">
            <a:solidFill>
              <a:srgbClr val="32CD32"/>
            </a:solidFill>
            <a:prstDash val="solid"/>
            <a:tailEnd type="triangle"/>
          </a:ln>
        </p:spPr>
      </p:sp>
      <p:sp>
        <p:nvSpPr>
          <p:cNvPr id="9" name="arrow-label"/>
          <p:cNvSpPr/>
          <p:nvPr/>
        </p:nvSpPr>
        <p:spPr>
          <a:xfrm>
            <a:off x="6959600" y="27305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能力をシステム化</a:t>
            </a:r>
            <a:endParaRPr lang="en-US" sz="1500" dirty="0"/>
          </a:p>
        </p:txBody>
      </p:sp>
      <p:sp>
        <p:nvSpPr>
          <p:cNvPr id="10" name="new-card"/>
          <p:cNvSpPr/>
          <p:nvPr/>
        </p:nvSpPr>
        <p:spPr>
          <a:xfrm>
            <a:off x="9906000" y="1625600"/>
            <a:ext cx="5588000" cy="3200400"/>
          </a:xfrm>
          <a:prstGeom prst="roundRect">
            <a:avLst>
              <a:gd name="adj" fmla="val 6349"/>
            </a:avLst>
          </a:prstGeom>
          <a:solidFill>
            <a:srgbClr val="132B43"/>
          </a:solidFill>
          <a:ln/>
        </p:spPr>
      </p:sp>
      <p:sp>
        <p:nvSpPr>
          <p:cNvPr id="11" name="new-kicker"/>
          <p:cNvSpPr/>
          <p:nvPr/>
        </p:nvSpPr>
        <p:spPr>
          <a:xfrm>
            <a:off x="10363200" y="20828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AFTER</a:t>
            </a:r>
            <a:endParaRPr lang="en-US" sz="1500" dirty="0"/>
          </a:p>
        </p:txBody>
      </p:sp>
      <p:sp>
        <p:nvSpPr>
          <p:cNvPr id="12" name="new-title"/>
          <p:cNvSpPr/>
          <p:nvPr/>
        </p:nvSpPr>
        <p:spPr>
          <a:xfrm>
            <a:off x="10363200" y="2565400"/>
            <a:ext cx="4368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altLang="en-US" sz="2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Autonomous Work</a:t>
            </a:r>
            <a:endParaRPr lang="en-US" sz="2900" dirty="0"/>
          </a:p>
          <a:p>
            <a:pPr algn="l" indent="0" marL="0">
              <a:lnSpc>
                <a:spcPts val="3480"/>
              </a:lnSpc>
              <a:buNone/>
            </a:pPr>
            <a:r>
              <a:rPr lang="en-US" altLang="en-US" sz="2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Engine</a:t>
            </a:r>
            <a:endParaRPr lang="en-US" sz="2900" dirty="0"/>
          </a:p>
        </p:txBody>
      </p:sp>
      <p:sp>
        <p:nvSpPr>
          <p:cNvPr id="13" name="new-body"/>
          <p:cNvSpPr/>
          <p:nvPr/>
        </p:nvSpPr>
        <p:spPr>
          <a:xfrm>
            <a:off x="10363200" y="3886200"/>
            <a:ext cx="4013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実行・評価・改善を一気通貫で管理</a:t>
            </a:r>
            <a:endParaRPr lang="en-US" sz="1900" dirty="0"/>
          </a:p>
        </p:txBody>
      </p:sp>
      <p:sp>
        <p:nvSpPr>
          <p:cNvPr id="14" name="roles-label"/>
          <p:cNvSpPr/>
          <p:nvPr/>
        </p:nvSpPr>
        <p:spPr>
          <a:xfrm>
            <a:off x="762000" y="56388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既存のSkill群を、製品の実行能力として再定義する</a:t>
            </a:r>
            <a:endParaRPr lang="en-US" sz="2000" dirty="0"/>
          </a:p>
        </p:txBody>
      </p:sp>
      <p:sp>
        <p:nvSpPr>
          <p:cNvPr id="15" name="role-1"/>
          <p:cNvSpPr/>
          <p:nvPr/>
        </p:nvSpPr>
        <p:spPr>
          <a:xfrm>
            <a:off x="762000" y="6299200"/>
            <a:ext cx="3365500" cy="1371600"/>
          </a:xfrm>
          <a:prstGeom prst="roundRect">
            <a:avLst>
              <a:gd name="adj" fmla="val 11111"/>
            </a:avLst>
          </a:prstGeom>
          <a:solidFill>
            <a:srgbClr val="1C2541"/>
          </a:solidFill>
          <a:ln/>
        </p:spPr>
      </p:sp>
      <p:pic>
        <p:nvPicPr>
          <p:cNvPr id="16" name="role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731000"/>
            <a:ext cx="431800" cy="431800"/>
          </a:xfrm>
          <a:prstGeom prst="rect">
            <a:avLst/>
          </a:prstGeom>
        </p:spPr>
      </p:pic>
      <p:sp>
        <p:nvSpPr>
          <p:cNvPr id="17" name="role-1-text"/>
          <p:cNvSpPr/>
          <p:nvPr/>
        </p:nvSpPr>
        <p:spPr>
          <a:xfrm>
            <a:off x="1727200" y="6604000"/>
            <a:ext cx="203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Planner /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Architect</a:t>
            </a:r>
            <a:endParaRPr lang="en-US" sz="1900" dirty="0"/>
          </a:p>
        </p:txBody>
      </p:sp>
      <p:sp>
        <p:nvSpPr>
          <p:cNvPr id="18" name="role-2"/>
          <p:cNvSpPr/>
          <p:nvPr/>
        </p:nvSpPr>
        <p:spPr>
          <a:xfrm>
            <a:off x="4508500" y="6299200"/>
            <a:ext cx="3365500" cy="1371600"/>
          </a:xfrm>
          <a:prstGeom prst="roundRect">
            <a:avLst>
              <a:gd name="adj" fmla="val 11111"/>
            </a:avLst>
          </a:prstGeom>
          <a:solidFill>
            <a:srgbClr val="1C2541"/>
          </a:solidFill>
          <a:ln/>
        </p:spPr>
      </p:sp>
      <p:pic>
        <p:nvPicPr>
          <p:cNvPr id="19" name="role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00" y="6731000"/>
            <a:ext cx="431800" cy="431800"/>
          </a:xfrm>
          <a:prstGeom prst="rect">
            <a:avLst/>
          </a:prstGeom>
        </p:spPr>
      </p:pic>
      <p:sp>
        <p:nvSpPr>
          <p:cNvPr id="20" name="role-2-text"/>
          <p:cNvSpPr/>
          <p:nvPr/>
        </p:nvSpPr>
        <p:spPr>
          <a:xfrm>
            <a:off x="5473700" y="67310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Executor</a:t>
            </a:r>
            <a:endParaRPr lang="en-US" sz="1900" dirty="0"/>
          </a:p>
        </p:txBody>
      </p:sp>
      <p:sp>
        <p:nvSpPr>
          <p:cNvPr id="21" name="role-3"/>
          <p:cNvSpPr/>
          <p:nvPr/>
        </p:nvSpPr>
        <p:spPr>
          <a:xfrm>
            <a:off x="8255000" y="6299200"/>
            <a:ext cx="3365500" cy="1371600"/>
          </a:xfrm>
          <a:prstGeom prst="roundRect">
            <a:avLst>
              <a:gd name="adj" fmla="val 11111"/>
            </a:avLst>
          </a:prstGeom>
          <a:solidFill>
            <a:srgbClr val="1C2541"/>
          </a:solidFill>
          <a:ln/>
        </p:spPr>
      </p:sp>
      <p:pic>
        <p:nvPicPr>
          <p:cNvPr id="22" name="role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00" y="6731000"/>
            <a:ext cx="431800" cy="431800"/>
          </a:xfrm>
          <a:prstGeom prst="rect">
            <a:avLst/>
          </a:prstGeom>
        </p:spPr>
      </p:pic>
      <p:sp>
        <p:nvSpPr>
          <p:cNvPr id="23" name="role-3-text"/>
          <p:cNvSpPr/>
          <p:nvPr/>
        </p:nvSpPr>
        <p:spPr>
          <a:xfrm>
            <a:off x="9220200" y="67310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Evaluator</a:t>
            </a:r>
            <a:endParaRPr lang="en-US" sz="1900" dirty="0"/>
          </a:p>
        </p:txBody>
      </p:sp>
      <p:sp>
        <p:nvSpPr>
          <p:cNvPr id="24" name="role-4"/>
          <p:cNvSpPr/>
          <p:nvPr/>
        </p:nvSpPr>
        <p:spPr>
          <a:xfrm>
            <a:off x="12001500" y="6299200"/>
            <a:ext cx="3492500" cy="1371600"/>
          </a:xfrm>
          <a:prstGeom prst="roundRect">
            <a:avLst>
              <a:gd name="adj" fmla="val 11111"/>
            </a:avLst>
          </a:prstGeom>
          <a:solidFill>
            <a:srgbClr val="1C2541"/>
          </a:solidFill>
          <a:ln/>
        </p:spPr>
      </p:sp>
      <p:pic>
        <p:nvPicPr>
          <p:cNvPr id="25" name="role-4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300" y="6731000"/>
            <a:ext cx="431800" cy="431800"/>
          </a:xfrm>
          <a:prstGeom prst="rect">
            <a:avLst/>
          </a:prstGeom>
        </p:spPr>
      </p:pic>
      <p:sp>
        <p:nvSpPr>
          <p:cNvPr id="26" name="role-4-text"/>
          <p:cNvSpPr/>
          <p:nvPr/>
        </p:nvSpPr>
        <p:spPr>
          <a:xfrm>
            <a:off x="12966700" y="6604000"/>
            <a:ext cx="213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Controller /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Optimizer</a:t>
            </a:r>
            <a:endParaRPr lang="en-US" sz="1900" dirty="0"/>
          </a:p>
        </p:txBody>
      </p:sp>
      <p:sp>
        <p:nvSpPr>
          <p:cNvPr id="27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03 / 20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設計原則：UIではなく実行原理を抽出する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Claude Codeの価値は画面ではなく、推論・作業環境・ツール・Agent Loopの組み合わせにある。</a:t>
            </a:r>
            <a:endParaRPr lang="en-US" sz="2000" dirty="0"/>
          </a:p>
        </p:txBody>
      </p:sp>
      <p:sp>
        <p:nvSpPr>
          <p:cNvPr id="5" name="client-label"/>
          <p:cNvSpPr/>
          <p:nvPr/>
        </p:nvSpPr>
        <p:spPr>
          <a:xfrm>
            <a:off x="762000" y="213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CLIENT CHANNELS</a:t>
            </a:r>
            <a:endParaRPr lang="en-US" sz="1500" dirty="0"/>
          </a:p>
        </p:txBody>
      </p:sp>
      <p:sp>
        <p:nvSpPr>
          <p:cNvPr id="6" name="client-1"/>
          <p:cNvSpPr/>
          <p:nvPr/>
        </p:nvSpPr>
        <p:spPr>
          <a:xfrm>
            <a:off x="762000" y="2641600"/>
            <a:ext cx="2413000" cy="812800"/>
          </a:xfrm>
          <a:prstGeom prst="roundRect">
            <a:avLst>
              <a:gd name="adj" fmla="val 15625"/>
            </a:avLst>
          </a:prstGeom>
          <a:solidFill>
            <a:srgbClr val="1C2541"/>
          </a:solidFill>
          <a:ln/>
        </p:spPr>
      </p:sp>
      <p:sp>
        <p:nvSpPr>
          <p:cNvPr id="7" name="client-1-text"/>
          <p:cNvSpPr/>
          <p:nvPr/>
        </p:nvSpPr>
        <p:spPr>
          <a:xfrm>
            <a:off x="762000" y="26416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Web</a:t>
            </a:r>
            <a:endParaRPr lang="en-US" sz="1900" dirty="0"/>
          </a:p>
        </p:txBody>
      </p:sp>
      <p:sp>
        <p:nvSpPr>
          <p:cNvPr id="8" name="client-2"/>
          <p:cNvSpPr/>
          <p:nvPr/>
        </p:nvSpPr>
        <p:spPr>
          <a:xfrm>
            <a:off x="3429000" y="2641600"/>
            <a:ext cx="2413000" cy="812800"/>
          </a:xfrm>
          <a:prstGeom prst="roundRect">
            <a:avLst>
              <a:gd name="adj" fmla="val 15625"/>
            </a:avLst>
          </a:prstGeom>
          <a:solidFill>
            <a:srgbClr val="1C2541"/>
          </a:solidFill>
          <a:ln/>
        </p:spPr>
      </p:sp>
      <p:sp>
        <p:nvSpPr>
          <p:cNvPr id="9" name="client-2-text"/>
          <p:cNvSpPr/>
          <p:nvPr/>
        </p:nvSpPr>
        <p:spPr>
          <a:xfrm>
            <a:off x="3429000" y="26416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API</a:t>
            </a:r>
            <a:endParaRPr lang="en-US" sz="1900" dirty="0"/>
          </a:p>
        </p:txBody>
      </p:sp>
      <p:sp>
        <p:nvSpPr>
          <p:cNvPr id="10" name="client-3"/>
          <p:cNvSpPr/>
          <p:nvPr/>
        </p:nvSpPr>
        <p:spPr>
          <a:xfrm>
            <a:off x="6096000" y="2641600"/>
            <a:ext cx="2413000" cy="812800"/>
          </a:xfrm>
          <a:prstGeom prst="roundRect">
            <a:avLst>
              <a:gd name="adj" fmla="val 15625"/>
            </a:avLst>
          </a:prstGeom>
          <a:solidFill>
            <a:srgbClr val="1C2541"/>
          </a:solidFill>
          <a:ln/>
        </p:spPr>
      </p:sp>
      <p:sp>
        <p:nvSpPr>
          <p:cNvPr id="11" name="client-3-text"/>
          <p:cNvSpPr/>
          <p:nvPr/>
        </p:nvSpPr>
        <p:spPr>
          <a:xfrm>
            <a:off x="6096000" y="26416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VS Code</a:t>
            </a:r>
            <a:endParaRPr lang="en-US" sz="1900" dirty="0"/>
          </a:p>
        </p:txBody>
      </p:sp>
      <p:sp>
        <p:nvSpPr>
          <p:cNvPr id="12" name="client-4"/>
          <p:cNvSpPr/>
          <p:nvPr/>
        </p:nvSpPr>
        <p:spPr>
          <a:xfrm>
            <a:off x="8763000" y="2641600"/>
            <a:ext cx="2413000" cy="812800"/>
          </a:xfrm>
          <a:prstGeom prst="roundRect">
            <a:avLst>
              <a:gd name="adj" fmla="val 15625"/>
            </a:avLst>
          </a:prstGeom>
          <a:solidFill>
            <a:srgbClr val="1C2541"/>
          </a:solidFill>
          <a:ln/>
        </p:spPr>
      </p:sp>
      <p:sp>
        <p:nvSpPr>
          <p:cNvPr id="13" name="client-4-text"/>
          <p:cNvSpPr/>
          <p:nvPr/>
        </p:nvSpPr>
        <p:spPr>
          <a:xfrm>
            <a:off x="8763000" y="26416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Slack / LINE</a:t>
            </a:r>
            <a:endParaRPr lang="en-US" sz="1900" dirty="0"/>
          </a:p>
        </p:txBody>
      </p:sp>
      <p:sp>
        <p:nvSpPr>
          <p:cNvPr id="14" name="client-5"/>
          <p:cNvSpPr/>
          <p:nvPr/>
        </p:nvSpPr>
        <p:spPr>
          <a:xfrm>
            <a:off x="11430000" y="2641600"/>
            <a:ext cx="2413000" cy="812800"/>
          </a:xfrm>
          <a:prstGeom prst="roundRect">
            <a:avLst>
              <a:gd name="adj" fmla="val 15625"/>
            </a:avLst>
          </a:prstGeom>
          <a:solidFill>
            <a:srgbClr val="1C2541"/>
          </a:solidFill>
          <a:ln/>
        </p:spPr>
      </p:sp>
      <p:sp>
        <p:nvSpPr>
          <p:cNvPr id="15" name="client-5-text"/>
          <p:cNvSpPr/>
          <p:nvPr/>
        </p:nvSpPr>
        <p:spPr>
          <a:xfrm>
            <a:off x="11430000" y="26416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Mobile</a:t>
            </a:r>
            <a:endParaRPr lang="en-US" sz="1900" dirty="0"/>
          </a:p>
        </p:txBody>
      </p:sp>
      <p:sp>
        <p:nvSpPr>
          <p:cNvPr id="16" name="client-line"/>
          <p:cNvSpPr/>
          <p:nvPr/>
        </p:nvSpPr>
        <p:spPr>
          <a:xfrm>
            <a:off x="1968500" y="3810000"/>
            <a:ext cx="105410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</a:ln>
        </p:spPr>
      </p:sp>
      <p:sp>
        <p:nvSpPr>
          <p:cNvPr id="17" name="runtime-shell"/>
          <p:cNvSpPr/>
          <p:nvPr/>
        </p:nvSpPr>
        <p:spPr>
          <a:xfrm>
            <a:off x="762000" y="4292600"/>
            <a:ext cx="14732000" cy="2565400"/>
          </a:xfrm>
          <a:prstGeom prst="roundRect">
            <a:avLst>
              <a:gd name="adj" fmla="val 7921"/>
            </a:avLst>
          </a:prstGeom>
          <a:solidFill>
            <a:srgbClr val="13203A"/>
          </a:solidFill>
          <a:ln/>
        </p:spPr>
      </p:sp>
      <p:sp>
        <p:nvSpPr>
          <p:cNvPr id="18" name="runtime-label"/>
          <p:cNvSpPr/>
          <p:nvPr/>
        </p:nvSpPr>
        <p:spPr>
          <a:xfrm>
            <a:off x="1168400" y="4673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INDEPENDENT EXECUTION RUNTIME</a:t>
            </a:r>
            <a:endParaRPr lang="en-US" sz="1600" dirty="0"/>
          </a:p>
        </p:txBody>
      </p:sp>
      <p:sp>
        <p:nvSpPr>
          <p:cNvPr id="19" name="runtime-1"/>
          <p:cNvSpPr/>
          <p:nvPr/>
        </p:nvSpPr>
        <p:spPr>
          <a:xfrm>
            <a:off x="1168400" y="5283200"/>
            <a:ext cx="2438400" cy="1041400"/>
          </a:xfrm>
          <a:prstGeom prst="roundRect">
            <a:avLst>
              <a:gd name="adj" fmla="val 12195"/>
            </a:avLst>
          </a:prstGeom>
          <a:solidFill>
            <a:srgbClr val="1C2541"/>
          </a:solidFill>
          <a:ln/>
        </p:spPr>
      </p:sp>
      <p:pic>
        <p:nvPicPr>
          <p:cNvPr id="20" name="runtime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5562600"/>
            <a:ext cx="381000" cy="381000"/>
          </a:xfrm>
          <a:prstGeom prst="rect">
            <a:avLst/>
          </a:prstGeom>
        </p:spPr>
      </p:pic>
      <p:sp>
        <p:nvSpPr>
          <p:cNvPr id="21" name="runtime-1-text"/>
          <p:cNvSpPr/>
          <p:nvPr/>
        </p:nvSpPr>
        <p:spPr>
          <a:xfrm>
            <a:off x="1955800" y="5410200"/>
            <a:ext cx="1371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LLM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22" name="runtime-2"/>
          <p:cNvSpPr/>
          <p:nvPr/>
        </p:nvSpPr>
        <p:spPr>
          <a:xfrm>
            <a:off x="3860800" y="5283200"/>
            <a:ext cx="2438400" cy="1041400"/>
          </a:xfrm>
          <a:prstGeom prst="roundRect">
            <a:avLst>
              <a:gd name="adj" fmla="val 12195"/>
            </a:avLst>
          </a:prstGeom>
          <a:solidFill>
            <a:srgbClr val="1C2541"/>
          </a:solidFill>
          <a:ln/>
        </p:spPr>
      </p:sp>
      <p:pic>
        <p:nvPicPr>
          <p:cNvPr id="23" name="runtime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562600"/>
            <a:ext cx="381000" cy="381000"/>
          </a:xfrm>
          <a:prstGeom prst="rect">
            <a:avLst/>
          </a:prstGeom>
        </p:spPr>
      </p:pic>
      <p:sp>
        <p:nvSpPr>
          <p:cNvPr id="24" name="runtime-2-text"/>
          <p:cNvSpPr/>
          <p:nvPr/>
        </p:nvSpPr>
        <p:spPr>
          <a:xfrm>
            <a:off x="4648200" y="5410200"/>
            <a:ext cx="1371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Filesystem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Workspace</a:t>
            </a:r>
            <a:endParaRPr lang="en-US" sz="1600" dirty="0"/>
          </a:p>
        </p:txBody>
      </p:sp>
      <p:sp>
        <p:nvSpPr>
          <p:cNvPr id="25" name="runtime-3"/>
          <p:cNvSpPr/>
          <p:nvPr/>
        </p:nvSpPr>
        <p:spPr>
          <a:xfrm>
            <a:off x="6553200" y="5283200"/>
            <a:ext cx="2438400" cy="1041400"/>
          </a:xfrm>
          <a:prstGeom prst="roundRect">
            <a:avLst>
              <a:gd name="adj" fmla="val 12195"/>
            </a:avLst>
          </a:prstGeom>
          <a:solidFill>
            <a:srgbClr val="1C2541"/>
          </a:solidFill>
          <a:ln/>
        </p:spPr>
      </p:sp>
      <p:pic>
        <p:nvPicPr>
          <p:cNvPr id="26" name="runtime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5562600"/>
            <a:ext cx="381000" cy="381000"/>
          </a:xfrm>
          <a:prstGeom prst="rect">
            <a:avLst/>
          </a:prstGeom>
        </p:spPr>
      </p:pic>
      <p:sp>
        <p:nvSpPr>
          <p:cNvPr id="27" name="runtime-3-text"/>
          <p:cNvSpPr/>
          <p:nvPr/>
        </p:nvSpPr>
        <p:spPr>
          <a:xfrm>
            <a:off x="7340600" y="5410200"/>
            <a:ext cx="1371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Shell /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Code Exec</a:t>
            </a:r>
            <a:endParaRPr lang="en-US" sz="1600" dirty="0"/>
          </a:p>
        </p:txBody>
      </p:sp>
      <p:sp>
        <p:nvSpPr>
          <p:cNvPr id="28" name="runtime-4"/>
          <p:cNvSpPr/>
          <p:nvPr/>
        </p:nvSpPr>
        <p:spPr>
          <a:xfrm>
            <a:off x="9245600" y="5283200"/>
            <a:ext cx="2438400" cy="1041400"/>
          </a:xfrm>
          <a:prstGeom prst="roundRect">
            <a:avLst>
              <a:gd name="adj" fmla="val 12195"/>
            </a:avLst>
          </a:prstGeom>
          <a:solidFill>
            <a:srgbClr val="1C2541"/>
          </a:solidFill>
          <a:ln/>
        </p:spPr>
      </p:sp>
      <p:pic>
        <p:nvPicPr>
          <p:cNvPr id="29" name="runtime-4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0" y="5562600"/>
            <a:ext cx="381000" cy="381000"/>
          </a:xfrm>
          <a:prstGeom prst="rect">
            <a:avLst/>
          </a:prstGeom>
        </p:spPr>
      </p:pic>
      <p:sp>
        <p:nvSpPr>
          <p:cNvPr id="30" name="runtime-4-text"/>
          <p:cNvSpPr/>
          <p:nvPr/>
        </p:nvSpPr>
        <p:spPr>
          <a:xfrm>
            <a:off x="10033000" y="5410200"/>
            <a:ext cx="1371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Tools /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MCP</a:t>
            </a:r>
            <a:endParaRPr lang="en-US" sz="1600" dirty="0"/>
          </a:p>
        </p:txBody>
      </p:sp>
      <p:sp>
        <p:nvSpPr>
          <p:cNvPr id="31" name="runtime-5"/>
          <p:cNvSpPr/>
          <p:nvPr/>
        </p:nvSpPr>
        <p:spPr>
          <a:xfrm>
            <a:off x="11938000" y="5283200"/>
            <a:ext cx="2794000" cy="1041400"/>
          </a:xfrm>
          <a:prstGeom prst="roundRect">
            <a:avLst>
              <a:gd name="adj" fmla="val 12195"/>
            </a:avLst>
          </a:prstGeom>
          <a:solidFill>
            <a:srgbClr val="1C2541"/>
          </a:solidFill>
          <a:ln/>
        </p:spPr>
      </p:sp>
      <p:pic>
        <p:nvPicPr>
          <p:cNvPr id="32" name="runtime-5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5562600"/>
            <a:ext cx="381000" cy="381000"/>
          </a:xfrm>
          <a:prstGeom prst="rect">
            <a:avLst/>
          </a:prstGeom>
        </p:spPr>
      </p:pic>
      <p:sp>
        <p:nvSpPr>
          <p:cNvPr id="33" name="runtime-5-text"/>
          <p:cNvSpPr/>
          <p:nvPr/>
        </p:nvSpPr>
        <p:spPr>
          <a:xfrm>
            <a:off x="12725400" y="5410200"/>
            <a:ext cx="167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Agent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Loop</a:t>
            </a:r>
            <a:endParaRPr lang="en-US" sz="1600" dirty="0"/>
          </a:p>
        </p:txBody>
      </p:sp>
      <p:sp>
        <p:nvSpPr>
          <p:cNvPr id="34" name="principle-callout"/>
          <p:cNvSpPr/>
          <p:nvPr/>
        </p:nvSpPr>
        <p:spPr>
          <a:xfrm>
            <a:off x="762000" y="7366000"/>
            <a:ext cx="1473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WebはRuntimeに接続するクライアントのひとつ。中核はUIではなく、独立した実行原理である。</a:t>
            </a:r>
            <a:endParaRPr lang="en-US" sz="2100" dirty="0"/>
          </a:p>
        </p:txBody>
      </p:sp>
      <p:sp>
        <p:nvSpPr>
          <p:cNvPr id="35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04 / 20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117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推奨全体アーキテクチャ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70000"/>
            <a:ext cx="137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Control PlaneとRuntime Adapterを分離し、モデル・実行環境・UI・業務領域を疎結合にする。</a:t>
            </a:r>
            <a:endParaRPr lang="en-US" sz="1600" dirty="0"/>
          </a:p>
        </p:txBody>
      </p:sp>
      <p:sp>
        <p:nvSpPr>
          <p:cNvPr id="5" name="ui-layer"/>
          <p:cNvSpPr/>
          <p:nvPr/>
        </p:nvSpPr>
        <p:spPr>
          <a:xfrm>
            <a:off x="3302000" y="1778000"/>
            <a:ext cx="9652000" cy="736600"/>
          </a:xfrm>
          <a:prstGeom prst="roundRect">
            <a:avLst>
              <a:gd name="adj" fmla="val 17241"/>
            </a:avLst>
          </a:prstGeom>
          <a:solidFill>
            <a:srgbClr val="1C2541"/>
          </a:solidFill>
          <a:ln/>
        </p:spPr>
      </p:sp>
      <p:pic>
        <p:nvPicPr>
          <p:cNvPr id="6" name="ui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200" y="1993900"/>
            <a:ext cx="304800" cy="304800"/>
          </a:xfrm>
          <a:prstGeom prst="rect">
            <a:avLst/>
          </a:prstGeom>
        </p:spPr>
      </p:pic>
      <p:sp>
        <p:nvSpPr>
          <p:cNvPr id="7" name="ui-text"/>
          <p:cNvSpPr/>
          <p:nvPr/>
        </p:nvSpPr>
        <p:spPr>
          <a:xfrm>
            <a:off x="4140200" y="1905000"/>
            <a:ext cx="825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Web UI / API Gateway　—　Task・Project・Skills・Runs・PDCA</a:t>
            </a:r>
            <a:endParaRPr lang="en-US" sz="1900" dirty="0"/>
          </a:p>
        </p:txBody>
      </p:sp>
      <p:sp>
        <p:nvSpPr>
          <p:cNvPr id="8" name="arr-1"/>
          <p:cNvSpPr/>
          <p:nvPr/>
        </p:nvSpPr>
        <p:spPr>
          <a:xfrm>
            <a:off x="8128000" y="2514600"/>
            <a:ext cx="9144" cy="304800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control"/>
          <p:cNvSpPr/>
          <p:nvPr/>
        </p:nvSpPr>
        <p:spPr>
          <a:xfrm>
            <a:off x="2032000" y="2921000"/>
            <a:ext cx="12192000" cy="1371600"/>
          </a:xfrm>
          <a:prstGeom prst="roundRect">
            <a:avLst>
              <a:gd name="adj" fmla="val 11111"/>
            </a:avLst>
          </a:prstGeom>
          <a:solidFill>
            <a:srgbClr val="13203A"/>
          </a:solidFill>
          <a:ln/>
        </p:spPr>
      </p:sp>
      <p:sp>
        <p:nvSpPr>
          <p:cNvPr id="10" name="control-title"/>
          <p:cNvSpPr/>
          <p:nvPr/>
        </p:nvSpPr>
        <p:spPr>
          <a:xfrm>
            <a:off x="2438400" y="31496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CONTROL PLANE</a:t>
            </a:r>
            <a:endParaRPr lang="en-US" sz="2000" dirty="0"/>
          </a:p>
        </p:txBody>
      </p:sp>
      <p:sp>
        <p:nvSpPr>
          <p:cNvPr id="11" name="control-body"/>
          <p:cNvSpPr/>
          <p:nvPr/>
        </p:nvSpPr>
        <p:spPr>
          <a:xfrm>
            <a:off x="2438400" y="3632200"/>
            <a:ext cx="1117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Auth / Tenant / Project　•　Skill &amp; Playbook Registry　•　Policy　•　Secret　•　Model Router　•　Cost Control</a:t>
            </a:r>
            <a:endParaRPr lang="en-US" sz="1600" dirty="0"/>
          </a:p>
        </p:txBody>
      </p:sp>
      <p:sp>
        <p:nvSpPr>
          <p:cNvPr id="12" name="arr-2"/>
          <p:cNvSpPr/>
          <p:nvPr/>
        </p:nvSpPr>
        <p:spPr>
          <a:xfrm>
            <a:off x="8128000" y="4292600"/>
            <a:ext cx="9144" cy="304800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orchestrator"/>
          <p:cNvSpPr/>
          <p:nvPr/>
        </p:nvSpPr>
        <p:spPr>
          <a:xfrm>
            <a:off x="4953000" y="4699000"/>
            <a:ext cx="6350000" cy="685800"/>
          </a:xfrm>
          <a:prstGeom prst="roundRect">
            <a:avLst>
              <a:gd name="adj" fmla="val 18519"/>
            </a:avLst>
          </a:prstGeom>
          <a:solidFill>
            <a:srgbClr val="1C2541"/>
          </a:solidFill>
          <a:ln/>
        </p:spPr>
      </p:sp>
      <p:sp>
        <p:nvSpPr>
          <p:cNvPr id="14" name="orchestrator-text"/>
          <p:cNvSpPr/>
          <p:nvPr/>
        </p:nvSpPr>
        <p:spPr>
          <a:xfrm>
            <a:off x="4953000" y="4699000"/>
            <a:ext cx="635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Agent Orchestrator</a:t>
            </a:r>
            <a:endParaRPr lang="en-US" sz="2000" dirty="0"/>
          </a:p>
        </p:txBody>
      </p:sp>
      <p:sp>
        <p:nvSpPr>
          <p:cNvPr id="15" name="arr-3"/>
          <p:cNvSpPr/>
          <p:nvPr/>
        </p:nvSpPr>
        <p:spPr>
          <a:xfrm>
            <a:off x="8128000" y="5384800"/>
            <a:ext cx="9144" cy="254000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agent-1"/>
          <p:cNvSpPr/>
          <p:nvPr/>
        </p:nvSpPr>
        <p:spPr>
          <a:xfrm>
            <a:off x="1968500" y="5740400"/>
            <a:ext cx="3429000" cy="838200"/>
          </a:xfrm>
          <a:prstGeom prst="roundRect">
            <a:avLst>
              <a:gd name="adj" fmla="val 15152"/>
            </a:avLst>
          </a:prstGeom>
          <a:solidFill>
            <a:srgbClr val="1C2541"/>
          </a:solidFill>
          <a:ln/>
        </p:spPr>
      </p:sp>
      <p:pic>
        <p:nvPicPr>
          <p:cNvPr id="17" name="agent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5994400"/>
            <a:ext cx="330200" cy="330200"/>
          </a:xfrm>
          <a:prstGeom prst="rect">
            <a:avLst/>
          </a:prstGeom>
        </p:spPr>
      </p:pic>
      <p:sp>
        <p:nvSpPr>
          <p:cNvPr id="18" name="agent-1-text"/>
          <p:cNvSpPr/>
          <p:nvPr/>
        </p:nvSpPr>
        <p:spPr>
          <a:xfrm>
            <a:off x="2819400" y="5969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Planner Agent</a:t>
            </a:r>
            <a:endParaRPr lang="en-US" sz="1800" dirty="0"/>
          </a:p>
        </p:txBody>
      </p:sp>
      <p:sp>
        <p:nvSpPr>
          <p:cNvPr id="19" name="agent-2"/>
          <p:cNvSpPr/>
          <p:nvPr/>
        </p:nvSpPr>
        <p:spPr>
          <a:xfrm>
            <a:off x="6413500" y="5740400"/>
            <a:ext cx="3429000" cy="838200"/>
          </a:xfrm>
          <a:prstGeom prst="roundRect">
            <a:avLst>
              <a:gd name="adj" fmla="val 15152"/>
            </a:avLst>
          </a:prstGeom>
          <a:solidFill>
            <a:srgbClr val="1C2541"/>
          </a:solidFill>
          <a:ln/>
        </p:spPr>
      </p:sp>
      <p:pic>
        <p:nvPicPr>
          <p:cNvPr id="20" name="agent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5994400"/>
            <a:ext cx="330200" cy="330200"/>
          </a:xfrm>
          <a:prstGeom prst="rect">
            <a:avLst/>
          </a:prstGeom>
        </p:spPr>
      </p:pic>
      <p:sp>
        <p:nvSpPr>
          <p:cNvPr id="21" name="agent-2-text"/>
          <p:cNvSpPr/>
          <p:nvPr/>
        </p:nvSpPr>
        <p:spPr>
          <a:xfrm>
            <a:off x="7264400" y="5969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Executor Agent</a:t>
            </a:r>
            <a:endParaRPr lang="en-US" sz="1800" dirty="0"/>
          </a:p>
        </p:txBody>
      </p:sp>
      <p:sp>
        <p:nvSpPr>
          <p:cNvPr id="22" name="agent-3"/>
          <p:cNvSpPr/>
          <p:nvPr/>
        </p:nvSpPr>
        <p:spPr>
          <a:xfrm>
            <a:off x="10858500" y="5740400"/>
            <a:ext cx="3429000" cy="838200"/>
          </a:xfrm>
          <a:prstGeom prst="roundRect">
            <a:avLst>
              <a:gd name="adj" fmla="val 15152"/>
            </a:avLst>
          </a:prstGeom>
          <a:solidFill>
            <a:srgbClr val="1C2541"/>
          </a:solidFill>
          <a:ln/>
        </p:spPr>
      </p:sp>
      <p:pic>
        <p:nvPicPr>
          <p:cNvPr id="23" name="agent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0600" y="5994400"/>
            <a:ext cx="330200" cy="330200"/>
          </a:xfrm>
          <a:prstGeom prst="rect">
            <a:avLst/>
          </a:prstGeom>
        </p:spPr>
      </p:pic>
      <p:sp>
        <p:nvSpPr>
          <p:cNvPr id="24" name="agent-3-text"/>
          <p:cNvSpPr/>
          <p:nvPr/>
        </p:nvSpPr>
        <p:spPr>
          <a:xfrm>
            <a:off x="11709400" y="5969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Evaluator Agent</a:t>
            </a:r>
            <a:endParaRPr lang="en-US" sz="1800" dirty="0"/>
          </a:p>
        </p:txBody>
      </p:sp>
      <p:sp>
        <p:nvSpPr>
          <p:cNvPr id="25" name="arr-4"/>
          <p:cNvSpPr/>
          <p:nvPr/>
        </p:nvSpPr>
        <p:spPr>
          <a:xfrm>
            <a:off x="8128000" y="6578600"/>
            <a:ext cx="9144" cy="254000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6" name="runtime"/>
          <p:cNvSpPr/>
          <p:nvPr/>
        </p:nvSpPr>
        <p:spPr>
          <a:xfrm>
            <a:off x="2032000" y="6934200"/>
            <a:ext cx="12192000" cy="787400"/>
          </a:xfrm>
          <a:prstGeom prst="roundRect">
            <a:avLst>
              <a:gd name="adj" fmla="val 16129"/>
            </a:avLst>
          </a:prstGeom>
          <a:solidFill>
            <a:srgbClr val="13203A"/>
          </a:solidFill>
          <a:ln/>
        </p:spPr>
      </p:sp>
      <p:sp>
        <p:nvSpPr>
          <p:cNvPr id="27" name="runtime-text"/>
          <p:cNvSpPr/>
          <p:nvPr/>
        </p:nvSpPr>
        <p:spPr>
          <a:xfrm>
            <a:off x="2349500" y="7073900"/>
            <a:ext cx="1155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Domain Skills　→　Tool / MCP Layer　→　GitHub・Docker・Cloud・DB・SaaS　→　Execution Sandbox / Workspace</a:t>
            </a:r>
            <a:endParaRPr lang="en-US" sz="1600" dirty="0"/>
          </a:p>
        </p:txBody>
      </p:sp>
      <p:sp>
        <p:nvSpPr>
          <p:cNvPr id="28" name="evidence"/>
          <p:cNvSpPr/>
          <p:nvPr/>
        </p:nvSpPr>
        <p:spPr>
          <a:xfrm>
            <a:off x="762000" y="8051800"/>
            <a:ext cx="147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 / Metrics　→　PDCA Controller　→　FAIL: Re-plan　|　PASS: Deliver</a:t>
            </a:r>
            <a:endParaRPr lang="en-US" sz="1500" dirty="0"/>
          </a:p>
        </p:txBody>
      </p:sp>
      <p:sp>
        <p:nvSpPr>
          <p:cNvPr id="29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05 / 20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0668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10層のシステム境界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70000"/>
            <a:ext cx="138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各層の責務を明確にすることで、共通Execution KernelとDomain Capability Packを両立させる。</a:t>
            </a:r>
            <a:endParaRPr lang="en-US" sz="1600" dirty="0"/>
          </a:p>
        </p:txBody>
      </p:sp>
      <p:sp>
        <p:nvSpPr>
          <p:cNvPr id="5" name="kernel-bg"/>
          <p:cNvSpPr/>
          <p:nvPr/>
        </p:nvSpPr>
        <p:spPr>
          <a:xfrm>
            <a:off x="660400" y="1879600"/>
            <a:ext cx="14935200" cy="5664200"/>
          </a:xfrm>
          <a:prstGeom prst="roundRect">
            <a:avLst>
              <a:gd name="adj" fmla="val 4036"/>
            </a:avLst>
          </a:prstGeom>
          <a:solidFill>
            <a:srgbClr val="101A32"/>
          </a:solidFill>
          <a:ln/>
        </p:spPr>
      </p:sp>
      <p:sp>
        <p:nvSpPr>
          <p:cNvPr id="6" name="kernel-label"/>
          <p:cNvSpPr/>
          <p:nvPr/>
        </p:nvSpPr>
        <p:spPr>
          <a:xfrm>
            <a:off x="1092200" y="20828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COMMON EXECUTION KERNEL</a:t>
            </a:r>
            <a:endParaRPr lang="en-US" sz="1400" dirty="0"/>
          </a:p>
        </p:txBody>
      </p:sp>
      <p:sp>
        <p:nvSpPr>
          <p:cNvPr id="7" name="l1"/>
          <p:cNvSpPr/>
          <p:nvPr/>
        </p:nvSpPr>
        <p:spPr>
          <a:xfrm>
            <a:off x="1066800" y="2565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8" name="l1-text"/>
          <p:cNvSpPr/>
          <p:nvPr/>
        </p:nvSpPr>
        <p:spPr>
          <a:xfrm>
            <a:off x="1346200" y="2705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L1　Model　　　Reasoning / Generation</a:t>
            </a:r>
            <a:endParaRPr lang="en-US" sz="1700" dirty="0"/>
          </a:p>
        </p:txBody>
      </p:sp>
      <p:sp>
        <p:nvSpPr>
          <p:cNvPr id="9" name="l2"/>
          <p:cNvSpPr/>
          <p:nvPr/>
        </p:nvSpPr>
        <p:spPr>
          <a:xfrm>
            <a:off x="1066800" y="3454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10" name="l2-text"/>
          <p:cNvSpPr/>
          <p:nvPr/>
        </p:nvSpPr>
        <p:spPr>
          <a:xfrm>
            <a:off x="1346200" y="3594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L2　Skill　　　 専門知識・実行ルール</a:t>
            </a:r>
            <a:endParaRPr lang="en-US" sz="1700" dirty="0"/>
          </a:p>
        </p:txBody>
      </p:sp>
      <p:sp>
        <p:nvSpPr>
          <p:cNvPr id="11" name="l3"/>
          <p:cNvSpPr/>
          <p:nvPr/>
        </p:nvSpPr>
        <p:spPr>
          <a:xfrm>
            <a:off x="1066800" y="4343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12" name="l3-text"/>
          <p:cNvSpPr/>
          <p:nvPr/>
        </p:nvSpPr>
        <p:spPr>
          <a:xfrm>
            <a:off x="1346200" y="4483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L3　Playbook　 タスクの実行計画</a:t>
            </a:r>
            <a:endParaRPr lang="en-US" sz="1700" dirty="0"/>
          </a:p>
        </p:txBody>
      </p:sp>
      <p:sp>
        <p:nvSpPr>
          <p:cNvPr id="13" name="l4"/>
          <p:cNvSpPr/>
          <p:nvPr/>
        </p:nvSpPr>
        <p:spPr>
          <a:xfrm>
            <a:off x="1066800" y="5232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14" name="l4-text"/>
          <p:cNvSpPr/>
          <p:nvPr/>
        </p:nvSpPr>
        <p:spPr>
          <a:xfrm>
            <a:off x="1346200" y="5372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L4　Orchestrator　Agent / Step編成</a:t>
            </a:r>
            <a:endParaRPr lang="en-US" sz="1700" dirty="0"/>
          </a:p>
        </p:txBody>
      </p:sp>
      <p:sp>
        <p:nvSpPr>
          <p:cNvPr id="15" name="l5"/>
          <p:cNvSpPr/>
          <p:nvPr/>
        </p:nvSpPr>
        <p:spPr>
          <a:xfrm>
            <a:off x="1066800" y="6121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7324B"/>
          </a:solidFill>
          <a:ln/>
        </p:spPr>
      </p:sp>
      <p:sp>
        <p:nvSpPr>
          <p:cNvPr id="16" name="l5-text"/>
          <p:cNvSpPr/>
          <p:nvPr/>
        </p:nvSpPr>
        <p:spPr>
          <a:xfrm>
            <a:off x="1346200" y="6261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L5　Runtime　  ファイル・コード・ツール実行</a:t>
            </a:r>
            <a:endParaRPr lang="en-US" sz="1700" dirty="0"/>
          </a:p>
        </p:txBody>
      </p:sp>
      <p:sp>
        <p:nvSpPr>
          <p:cNvPr id="17" name="l6"/>
          <p:cNvSpPr/>
          <p:nvPr/>
        </p:nvSpPr>
        <p:spPr>
          <a:xfrm>
            <a:off x="8712200" y="2565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18" name="l6-text"/>
          <p:cNvSpPr/>
          <p:nvPr/>
        </p:nvSpPr>
        <p:spPr>
          <a:xfrm>
            <a:off x="8991600" y="2705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L6　Evidence　 実行証拠</a:t>
            </a:r>
            <a:endParaRPr lang="en-US" sz="1700" dirty="0"/>
          </a:p>
        </p:txBody>
      </p:sp>
      <p:sp>
        <p:nvSpPr>
          <p:cNvPr id="19" name="l7"/>
          <p:cNvSpPr/>
          <p:nvPr/>
        </p:nvSpPr>
        <p:spPr>
          <a:xfrm>
            <a:off x="8712200" y="3454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20" name="l7-text"/>
          <p:cNvSpPr/>
          <p:nvPr/>
        </p:nvSpPr>
        <p:spPr>
          <a:xfrm>
            <a:off x="8991600" y="3594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L7　Evaluator　状態評価</a:t>
            </a:r>
            <a:endParaRPr lang="en-US" sz="1700" dirty="0"/>
          </a:p>
        </p:txBody>
      </p:sp>
      <p:sp>
        <p:nvSpPr>
          <p:cNvPr id="21" name="l8"/>
          <p:cNvSpPr/>
          <p:nvPr/>
        </p:nvSpPr>
        <p:spPr>
          <a:xfrm>
            <a:off x="8712200" y="4343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7324B"/>
          </a:solidFill>
          <a:ln/>
        </p:spPr>
      </p:sp>
      <p:sp>
        <p:nvSpPr>
          <p:cNvPr id="22" name="l8-text"/>
          <p:cNvSpPr/>
          <p:nvPr/>
        </p:nvSpPr>
        <p:spPr>
          <a:xfrm>
            <a:off x="8991600" y="4483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L8　PDCA　　　自動修正</a:t>
            </a:r>
            <a:endParaRPr lang="en-US" sz="1700" dirty="0"/>
          </a:p>
        </p:txBody>
      </p:sp>
      <p:sp>
        <p:nvSpPr>
          <p:cNvPr id="23" name="l9"/>
          <p:cNvSpPr/>
          <p:nvPr/>
        </p:nvSpPr>
        <p:spPr>
          <a:xfrm>
            <a:off x="8712200" y="5232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7324B"/>
          </a:solidFill>
          <a:ln/>
        </p:spPr>
      </p:sp>
      <p:sp>
        <p:nvSpPr>
          <p:cNvPr id="24" name="l9-text"/>
          <p:cNvSpPr/>
          <p:nvPr/>
        </p:nvSpPr>
        <p:spPr>
          <a:xfrm>
            <a:off x="8991600" y="5372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L9　Governance　権限・安全・監査</a:t>
            </a:r>
            <a:endParaRPr lang="en-US" sz="1700" dirty="0"/>
          </a:p>
        </p:txBody>
      </p:sp>
      <p:sp>
        <p:nvSpPr>
          <p:cNvPr id="25" name="l10"/>
          <p:cNvSpPr/>
          <p:nvPr/>
        </p:nvSpPr>
        <p:spPr>
          <a:xfrm>
            <a:off x="8712200" y="6121400"/>
            <a:ext cx="6477000" cy="7112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26" name="l10-text"/>
          <p:cNvSpPr/>
          <p:nvPr/>
        </p:nvSpPr>
        <p:spPr>
          <a:xfrm>
            <a:off x="8991600" y="62611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L10 UI / API　  ユーザー入口</a:t>
            </a:r>
            <a:endParaRPr lang="en-US" sz="1700" dirty="0"/>
          </a:p>
        </p:txBody>
      </p:sp>
      <p:sp>
        <p:nvSpPr>
          <p:cNvPr id="27" name="middle-link"/>
          <p:cNvSpPr/>
          <p:nvPr/>
        </p:nvSpPr>
        <p:spPr>
          <a:xfrm>
            <a:off x="7543800" y="4699000"/>
            <a:ext cx="1168400" cy="9144"/>
          </a:xfrm>
          <a:prstGeom prst="line">
            <a:avLst/>
          </a:prstGeom>
          <a:ln w="38100">
            <a:solidFill>
              <a:srgbClr val="00FFFF"/>
            </a:solidFill>
            <a:prstDash val="solid"/>
            <a:tailEnd type="triangle"/>
          </a:ln>
        </p:spPr>
      </p:sp>
      <p:sp>
        <p:nvSpPr>
          <p:cNvPr id="28" name="bottom-statement"/>
          <p:cNvSpPr/>
          <p:nvPr/>
        </p:nvSpPr>
        <p:spPr>
          <a:xfrm>
            <a:off x="762000" y="79502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一般Platform ＋ Domain Capability Pack ＋ Domain Tools ＋ Domain Evaluation ＝ 業務特化Agent</a:t>
            </a:r>
            <a:endParaRPr lang="en-US" sz="2000" dirty="0"/>
          </a:p>
        </p:txBody>
      </p:sp>
      <p:sp>
        <p:nvSpPr>
          <p:cNvPr id="29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06 / 20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Registry：CapabilityのSource of Truth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39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Skillをコード内の条件分岐や巨大Promptへ埋め込まず、再利用・レビュー・配布可能な実行資産として扱う。</a:t>
            </a:r>
            <a:endParaRPr lang="en-US" sz="1600" dirty="0"/>
          </a:p>
        </p:txBody>
      </p:sp>
      <p:sp>
        <p:nvSpPr>
          <p:cNvPr id="5" name="anti"/>
          <p:cNvSpPr/>
          <p:nvPr/>
        </p:nvSpPr>
        <p:spPr>
          <a:xfrm>
            <a:off x="762000" y="2006600"/>
            <a:ext cx="4953000" cy="3962400"/>
          </a:xfrm>
          <a:prstGeom prst="roundRect">
            <a:avLst>
              <a:gd name="adj" fmla="val 4487"/>
            </a:avLst>
          </a:prstGeom>
          <a:solidFill>
            <a:srgbClr val="2A1A2A"/>
          </a:solidFill>
          <a:ln/>
        </p:spPr>
      </p:sp>
      <p:sp>
        <p:nvSpPr>
          <p:cNvPr id="6" name="anti-label"/>
          <p:cNvSpPr/>
          <p:nvPr/>
        </p:nvSpPr>
        <p:spPr>
          <a:xfrm>
            <a:off x="1168400" y="24130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CA5A5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AVOID</a:t>
            </a:r>
            <a:endParaRPr lang="en-US" sz="1500" dirty="0"/>
          </a:p>
        </p:txBody>
      </p:sp>
      <p:sp>
        <p:nvSpPr>
          <p:cNvPr id="7" name="anti-title"/>
          <p:cNvSpPr/>
          <p:nvPr/>
        </p:nvSpPr>
        <p:spPr>
          <a:xfrm>
            <a:off x="1168400" y="29464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ハードコードされたSkill</a:t>
            </a:r>
            <a:endParaRPr lang="en-US" sz="2100" dirty="0"/>
          </a:p>
        </p:txBody>
      </p:sp>
      <p:sp>
        <p:nvSpPr>
          <p:cNvPr id="8" name="anti-code"/>
          <p:cNvSpPr/>
          <p:nvPr/>
        </p:nvSpPr>
        <p:spPr>
          <a:xfrm>
            <a:off x="1168400" y="3632200"/>
            <a:ext cx="4038600" cy="1473200"/>
          </a:xfrm>
          <a:prstGeom prst="roundRect">
            <a:avLst>
              <a:gd name="adj" fmla="val 6897"/>
            </a:avLst>
          </a:prstGeom>
          <a:solidFill>
            <a:srgbClr val="111827"/>
          </a:solidFill>
          <a:ln/>
        </p:spPr>
      </p:sp>
      <p:sp>
        <p:nvSpPr>
          <p:cNvPr id="9" name="anti-code-text"/>
          <p:cNvSpPr/>
          <p:nvPr/>
        </p:nvSpPr>
        <p:spPr>
          <a:xfrm>
            <a:off x="1447800" y="3937000"/>
            <a:ext cx="355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altLang="en-US" sz="1500" dirty="0">
                <a:solidFill>
                  <a:srgbClr val="FCA5A5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if task == "create_playbook":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altLang="en-US" sz="1500" dirty="0">
                <a:solidFill>
                  <a:srgbClr val="FCA5A5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　prompt = "..."</a:t>
            </a:r>
            <a:endParaRPr lang="en-US" sz="1500" dirty="0"/>
          </a:p>
        </p:txBody>
      </p:sp>
      <p:sp>
        <p:nvSpPr>
          <p:cNvPr id="10" name="anti-body"/>
          <p:cNvSpPr/>
          <p:nvPr/>
        </p:nvSpPr>
        <p:spPr>
          <a:xfrm>
            <a:off x="1168400" y="5384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更新・監査・再利用が困難</a:t>
            </a:r>
            <a:endParaRPr lang="en-US" sz="1500" dirty="0"/>
          </a:p>
        </p:txBody>
      </p:sp>
      <p:sp>
        <p:nvSpPr>
          <p:cNvPr id="11" name="arrow"/>
          <p:cNvSpPr/>
          <p:nvPr/>
        </p:nvSpPr>
        <p:spPr>
          <a:xfrm>
            <a:off x="6096000" y="3987800"/>
            <a:ext cx="2667000" cy="9144"/>
          </a:xfrm>
          <a:prstGeom prst="line">
            <a:avLst/>
          </a:prstGeom>
          <a:ln w="50800">
            <a:solidFill>
              <a:srgbClr val="32CD32"/>
            </a:solidFill>
            <a:prstDash val="solid"/>
            <a:tailEnd type="triangle"/>
          </a:ln>
        </p:spPr>
      </p:sp>
      <p:sp>
        <p:nvSpPr>
          <p:cNvPr id="12" name="registry"/>
          <p:cNvSpPr/>
          <p:nvPr/>
        </p:nvSpPr>
        <p:spPr>
          <a:xfrm>
            <a:off x="9144000" y="2006600"/>
            <a:ext cx="6350000" cy="3962400"/>
          </a:xfrm>
          <a:prstGeom prst="roundRect">
            <a:avLst>
              <a:gd name="adj" fmla="val 4487"/>
            </a:avLst>
          </a:prstGeom>
          <a:solidFill>
            <a:srgbClr val="13203A"/>
          </a:solidFill>
          <a:ln/>
        </p:spPr>
      </p:sp>
      <p:sp>
        <p:nvSpPr>
          <p:cNvPr id="13" name="registry-label"/>
          <p:cNvSpPr/>
          <p:nvPr/>
        </p:nvSpPr>
        <p:spPr>
          <a:xfrm>
            <a:off x="9550400" y="24130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RECOMMENDED</a:t>
            </a:r>
            <a:endParaRPr lang="en-US" sz="1500" dirty="0"/>
          </a:p>
        </p:txBody>
      </p:sp>
      <p:sp>
        <p:nvSpPr>
          <p:cNvPr id="14" name="registry-title"/>
          <p:cNvSpPr/>
          <p:nvPr/>
        </p:nvSpPr>
        <p:spPr>
          <a:xfrm>
            <a:off x="9550400" y="29464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Capability Registry</a:t>
            </a:r>
            <a:endParaRPr lang="en-US" sz="2100" dirty="0"/>
          </a:p>
        </p:txBody>
      </p:sp>
      <p:sp>
        <p:nvSpPr>
          <p:cNvPr id="15" name="chain-1"/>
          <p:cNvSpPr/>
          <p:nvPr/>
        </p:nvSpPr>
        <p:spPr>
          <a:xfrm>
            <a:off x="9550400" y="3657600"/>
            <a:ext cx="1473200" cy="736600"/>
          </a:xfrm>
          <a:prstGeom prst="roundRect">
            <a:avLst>
              <a:gd name="adj" fmla="val 13793"/>
            </a:avLst>
          </a:prstGeom>
          <a:solidFill>
            <a:srgbClr val="1C2541"/>
          </a:solidFill>
          <a:ln/>
        </p:spPr>
      </p:sp>
      <p:sp>
        <p:nvSpPr>
          <p:cNvPr id="16" name="chain-1-text"/>
          <p:cNvSpPr/>
          <p:nvPr/>
        </p:nvSpPr>
        <p:spPr>
          <a:xfrm>
            <a:off x="9550400" y="3657600"/>
            <a:ext cx="147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Registry</a:t>
            </a:r>
            <a:endParaRPr lang="en-US" sz="1500" dirty="0"/>
          </a:p>
        </p:txBody>
      </p:sp>
      <p:sp>
        <p:nvSpPr>
          <p:cNvPr id="17" name="chain-a1"/>
          <p:cNvSpPr/>
          <p:nvPr/>
        </p:nvSpPr>
        <p:spPr>
          <a:xfrm>
            <a:off x="11023600" y="4025900"/>
            <a:ext cx="431800" cy="9144"/>
          </a:xfrm>
          <a:prstGeom prst="line">
            <a:avLst/>
          </a:prstGeom>
          <a:ln w="25400">
            <a:solidFill>
              <a:srgbClr val="00FFFF"/>
            </a:solidFill>
            <a:prstDash val="solid"/>
            <a:tailEnd type="triangle"/>
          </a:ln>
        </p:spPr>
      </p:sp>
      <p:sp>
        <p:nvSpPr>
          <p:cNvPr id="18" name="chain-2"/>
          <p:cNvSpPr/>
          <p:nvPr/>
        </p:nvSpPr>
        <p:spPr>
          <a:xfrm>
            <a:off x="11480800" y="3657600"/>
            <a:ext cx="1473200" cy="736600"/>
          </a:xfrm>
          <a:prstGeom prst="roundRect">
            <a:avLst>
              <a:gd name="adj" fmla="val 13793"/>
            </a:avLst>
          </a:prstGeom>
          <a:solidFill>
            <a:srgbClr val="1C2541"/>
          </a:solidFill>
          <a:ln/>
        </p:spPr>
      </p:sp>
      <p:sp>
        <p:nvSpPr>
          <p:cNvPr id="19" name="chain-2-text"/>
          <p:cNvSpPr/>
          <p:nvPr/>
        </p:nvSpPr>
        <p:spPr>
          <a:xfrm>
            <a:off x="11480800" y="3657600"/>
            <a:ext cx="147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Resolver</a:t>
            </a:r>
            <a:endParaRPr lang="en-US" sz="1500" dirty="0"/>
          </a:p>
        </p:txBody>
      </p:sp>
      <p:sp>
        <p:nvSpPr>
          <p:cNvPr id="20" name="chain-a2"/>
          <p:cNvSpPr/>
          <p:nvPr/>
        </p:nvSpPr>
        <p:spPr>
          <a:xfrm>
            <a:off x="12954000" y="4025900"/>
            <a:ext cx="431800" cy="9144"/>
          </a:xfrm>
          <a:prstGeom prst="line">
            <a:avLst/>
          </a:prstGeom>
          <a:ln w="25400">
            <a:solidFill>
              <a:srgbClr val="00FFFF"/>
            </a:solidFill>
            <a:prstDash val="solid"/>
            <a:tailEnd type="triangle"/>
          </a:ln>
        </p:spPr>
      </p:sp>
      <p:sp>
        <p:nvSpPr>
          <p:cNvPr id="21" name="chain-3"/>
          <p:cNvSpPr/>
          <p:nvPr/>
        </p:nvSpPr>
        <p:spPr>
          <a:xfrm>
            <a:off x="13411200" y="3657600"/>
            <a:ext cx="1473200" cy="736600"/>
          </a:xfrm>
          <a:prstGeom prst="roundRect">
            <a:avLst>
              <a:gd name="adj" fmla="val 13793"/>
            </a:avLst>
          </a:prstGeom>
          <a:solidFill>
            <a:srgbClr val="1C2541"/>
          </a:solidFill>
          <a:ln/>
        </p:spPr>
      </p:sp>
      <p:sp>
        <p:nvSpPr>
          <p:cNvPr id="22" name="chain-3-text"/>
          <p:cNvSpPr/>
          <p:nvPr/>
        </p:nvSpPr>
        <p:spPr>
          <a:xfrm>
            <a:off x="13411200" y="3657600"/>
            <a:ext cx="147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Loader</a:t>
            </a:r>
            <a:endParaRPr lang="en-US" sz="1500" dirty="0"/>
          </a:p>
        </p:txBody>
      </p:sp>
      <p:sp>
        <p:nvSpPr>
          <p:cNvPr id="23" name="metadata"/>
          <p:cNvSpPr/>
          <p:nvPr/>
        </p:nvSpPr>
        <p:spPr>
          <a:xfrm>
            <a:off x="9550400" y="4826000"/>
            <a:ext cx="533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skill_id / version / dependencies / required_tools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risk_level / input・output schema / evaluation / owner</a:t>
            </a:r>
            <a:endParaRPr lang="en-US" sz="1500" dirty="0"/>
          </a:p>
        </p:txBody>
      </p:sp>
      <p:sp>
        <p:nvSpPr>
          <p:cNvPr id="24" name="benefit"/>
          <p:cNvSpPr/>
          <p:nvPr/>
        </p:nvSpPr>
        <p:spPr>
          <a:xfrm>
            <a:off x="762000" y="6604000"/>
            <a:ext cx="14732000" cy="10668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pic>
        <p:nvPicPr>
          <p:cNvPr id="25" name="benefi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6934200"/>
            <a:ext cx="406400" cy="406400"/>
          </a:xfrm>
          <a:prstGeom prst="rect">
            <a:avLst/>
          </a:prstGeom>
        </p:spPr>
      </p:pic>
      <p:sp>
        <p:nvSpPr>
          <p:cNvPr id="26" name="benefit-text"/>
          <p:cNvSpPr/>
          <p:nvPr/>
        </p:nvSpPr>
        <p:spPr>
          <a:xfrm>
            <a:off x="1905000" y="68072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Registryにより、Version管理・Release / Rollback・Benchmark・A/B Test・品質評価を運用可能にする。</a:t>
            </a:r>
            <a:endParaRPr lang="en-US" sz="2000" dirty="0"/>
          </a:p>
        </p:txBody>
      </p:sp>
      <p:sp>
        <p:nvSpPr>
          <p:cNvPr id="27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07 / 20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Playbook：読む文書から実行可能なDSLへ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0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人間向けにはMarkdownを維持しつつ、Runtime内部では構造化されたExecutable Objectを扱う。</a:t>
            </a:r>
            <a:endParaRPr lang="en-US" sz="1600" dirty="0"/>
          </a:p>
        </p:txBody>
      </p:sp>
      <p:sp>
        <p:nvSpPr>
          <p:cNvPr id="5" name="markdown-card"/>
          <p:cNvSpPr/>
          <p:nvPr/>
        </p:nvSpPr>
        <p:spPr>
          <a:xfrm>
            <a:off x="762000" y="1955800"/>
            <a:ext cx="4851400" cy="4191000"/>
          </a:xfrm>
          <a:prstGeom prst="roundRect">
            <a:avLst>
              <a:gd name="adj" fmla="val 4242"/>
            </a:avLst>
          </a:prstGeom>
          <a:solidFill>
            <a:srgbClr val="1C2541"/>
          </a:solidFill>
          <a:ln/>
        </p:spPr>
      </p:sp>
      <p:sp>
        <p:nvSpPr>
          <p:cNvPr id="6" name="markdown-label"/>
          <p:cNvSpPr/>
          <p:nvPr/>
        </p:nvSpPr>
        <p:spPr>
          <a:xfrm>
            <a:off x="1168400" y="2387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HUMAN-READABLE</a:t>
            </a:r>
            <a:endParaRPr lang="en-US" sz="1500" dirty="0"/>
          </a:p>
        </p:txBody>
      </p:sp>
      <p:sp>
        <p:nvSpPr>
          <p:cNvPr id="7" name="markdown-title"/>
          <p:cNvSpPr/>
          <p:nvPr/>
        </p:nvSpPr>
        <p:spPr>
          <a:xfrm>
            <a:off x="1168400" y="2895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Markdown Playbook</a:t>
            </a:r>
            <a:endParaRPr lang="en-US" sz="2100" dirty="0"/>
          </a:p>
        </p:txBody>
      </p:sp>
      <p:sp>
        <p:nvSpPr>
          <p:cNvPr id="8" name="markdown-body"/>
          <p:cNvSpPr/>
          <p:nvPr/>
        </p:nvSpPr>
        <p:spPr>
          <a:xfrm>
            <a:off x="1168400" y="3632200"/>
            <a:ext cx="355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PB-001：ログイン機能を改善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1. 現在のコードを確認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2. APIを修正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3. フロントエンドを修正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4. テストを追加</a:t>
            </a:r>
            <a:endParaRPr lang="en-US" sz="1600" dirty="0"/>
          </a:p>
        </p:txBody>
      </p:sp>
      <p:sp>
        <p:nvSpPr>
          <p:cNvPr id="9" name="trans-arrow"/>
          <p:cNvSpPr/>
          <p:nvPr/>
        </p:nvSpPr>
        <p:spPr>
          <a:xfrm>
            <a:off x="5994400" y="4064000"/>
            <a:ext cx="3302000" cy="9144"/>
          </a:xfrm>
          <a:prstGeom prst="line">
            <a:avLst/>
          </a:prstGeom>
          <a:ln w="50800">
            <a:solidFill>
              <a:srgbClr val="00FFFF"/>
            </a:solidFill>
            <a:prstDash val="solid"/>
            <a:tailEnd type="triangle"/>
          </a:ln>
        </p:spPr>
      </p:sp>
      <p:sp>
        <p:nvSpPr>
          <p:cNvPr id="10" name="trans-label"/>
          <p:cNvSpPr/>
          <p:nvPr/>
        </p:nvSpPr>
        <p:spPr>
          <a:xfrm>
            <a:off x="6553200" y="35814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構造化・検証可能化</a:t>
            </a:r>
            <a:endParaRPr lang="en-US" sz="1500" dirty="0"/>
          </a:p>
        </p:txBody>
      </p:sp>
      <p:sp>
        <p:nvSpPr>
          <p:cNvPr id="11" name="dsl-card"/>
          <p:cNvSpPr/>
          <p:nvPr/>
        </p:nvSpPr>
        <p:spPr>
          <a:xfrm>
            <a:off x="9677400" y="1955800"/>
            <a:ext cx="5816600" cy="4191000"/>
          </a:xfrm>
          <a:prstGeom prst="roundRect">
            <a:avLst>
              <a:gd name="adj" fmla="val 4242"/>
            </a:avLst>
          </a:prstGeom>
          <a:solidFill>
            <a:srgbClr val="13203A"/>
          </a:solidFill>
          <a:ln/>
        </p:spPr>
      </p:sp>
      <p:sp>
        <p:nvSpPr>
          <p:cNvPr id="12" name="dsl-label"/>
          <p:cNvSpPr/>
          <p:nvPr/>
        </p:nvSpPr>
        <p:spPr>
          <a:xfrm>
            <a:off x="10083800" y="2387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RUNTIME OBJECT</a:t>
            </a:r>
            <a:endParaRPr lang="en-US" sz="1500" dirty="0"/>
          </a:p>
        </p:txBody>
      </p:sp>
      <p:sp>
        <p:nvSpPr>
          <p:cNvPr id="13" name="dsl-title"/>
          <p:cNvSpPr/>
          <p:nvPr/>
        </p:nvSpPr>
        <p:spPr>
          <a:xfrm>
            <a:off x="10083800" y="2895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Executable Playbook DSL</a:t>
            </a:r>
            <a:endParaRPr lang="en-US" sz="2100" dirty="0"/>
          </a:p>
        </p:txBody>
      </p:sp>
      <p:sp>
        <p:nvSpPr>
          <p:cNvPr id="14" name="dsl-code"/>
          <p:cNvSpPr/>
          <p:nvPr/>
        </p:nvSpPr>
        <p:spPr>
          <a:xfrm>
            <a:off x="10083800" y="3530600"/>
            <a:ext cx="5003800" cy="2032000"/>
          </a:xfrm>
          <a:prstGeom prst="roundRect">
            <a:avLst>
              <a:gd name="adj" fmla="val 5000"/>
            </a:avLst>
          </a:prstGeom>
          <a:solidFill>
            <a:srgbClr val="0B1428"/>
          </a:solidFill>
          <a:ln/>
        </p:spPr>
      </p:sp>
      <p:sp>
        <p:nvSpPr>
          <p:cNvPr id="15" name="dsl-code-text"/>
          <p:cNvSpPr/>
          <p:nvPr/>
        </p:nvSpPr>
        <p:spPr>
          <a:xfrm>
            <a:off x="10363200" y="37338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goal: implement_login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requirements: JWT / RBAC / refresh_token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steps: analyze → implement → test → evaluate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acceptance: tests_pass / coverage / security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artifacts: source / report / evidence</a:t>
            </a:r>
            <a:endParaRPr lang="en-US" sz="1400" dirty="0"/>
          </a:p>
        </p:txBody>
      </p:sp>
      <p:sp>
        <p:nvSpPr>
          <p:cNvPr id="16" name="operability-label"/>
          <p:cNvSpPr/>
          <p:nvPr/>
        </p:nvSpPr>
        <p:spPr>
          <a:xfrm>
            <a:off x="762000" y="67564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実行時に得られる運用性</a:t>
            </a:r>
            <a:endParaRPr lang="en-US" sz="2000" dirty="0"/>
          </a:p>
        </p:txBody>
      </p:sp>
      <p:sp>
        <p:nvSpPr>
          <p:cNvPr id="17" name="op-1"/>
          <p:cNvSpPr/>
          <p:nvPr/>
        </p:nvSpPr>
        <p:spPr>
          <a:xfrm>
            <a:off x="762000" y="7289800"/>
            <a:ext cx="16764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18" name="op-1-text"/>
          <p:cNvSpPr/>
          <p:nvPr/>
        </p:nvSpPr>
        <p:spPr>
          <a:xfrm>
            <a:off x="762000" y="7289800"/>
            <a:ext cx="167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Pause / Resume</a:t>
            </a:r>
            <a:endParaRPr lang="en-US" sz="1400" dirty="0"/>
          </a:p>
        </p:txBody>
      </p:sp>
      <p:sp>
        <p:nvSpPr>
          <p:cNvPr id="19" name="op-2"/>
          <p:cNvSpPr/>
          <p:nvPr/>
        </p:nvSpPr>
        <p:spPr>
          <a:xfrm>
            <a:off x="2590800" y="7289800"/>
            <a:ext cx="16764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20" name="op-2-text"/>
          <p:cNvSpPr/>
          <p:nvPr/>
        </p:nvSpPr>
        <p:spPr>
          <a:xfrm>
            <a:off x="2590800" y="7289800"/>
            <a:ext cx="167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Retry</a:t>
            </a:r>
            <a:endParaRPr lang="en-US" sz="1400" dirty="0"/>
          </a:p>
        </p:txBody>
      </p:sp>
      <p:sp>
        <p:nvSpPr>
          <p:cNvPr id="21" name="op-3"/>
          <p:cNvSpPr/>
          <p:nvPr/>
        </p:nvSpPr>
        <p:spPr>
          <a:xfrm>
            <a:off x="4419600" y="7289800"/>
            <a:ext cx="16764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22" name="op-3-text"/>
          <p:cNvSpPr/>
          <p:nvPr/>
        </p:nvSpPr>
        <p:spPr>
          <a:xfrm>
            <a:off x="4419600" y="7289800"/>
            <a:ext cx="167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Partial Exec</a:t>
            </a:r>
            <a:endParaRPr lang="en-US" sz="1400" dirty="0"/>
          </a:p>
        </p:txBody>
      </p:sp>
      <p:sp>
        <p:nvSpPr>
          <p:cNvPr id="23" name="op-4"/>
          <p:cNvSpPr/>
          <p:nvPr/>
        </p:nvSpPr>
        <p:spPr>
          <a:xfrm>
            <a:off x="6248400" y="7289800"/>
            <a:ext cx="16764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24" name="op-4-text"/>
          <p:cNvSpPr/>
          <p:nvPr/>
        </p:nvSpPr>
        <p:spPr>
          <a:xfrm>
            <a:off x="6248400" y="7289800"/>
            <a:ext cx="167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Rollback</a:t>
            </a:r>
            <a:endParaRPr lang="en-US" sz="1400" dirty="0"/>
          </a:p>
        </p:txBody>
      </p:sp>
      <p:sp>
        <p:nvSpPr>
          <p:cNvPr id="25" name="op-5"/>
          <p:cNvSpPr/>
          <p:nvPr/>
        </p:nvSpPr>
        <p:spPr>
          <a:xfrm>
            <a:off x="8077200" y="7289800"/>
            <a:ext cx="16764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26" name="op-5-text"/>
          <p:cNvSpPr/>
          <p:nvPr/>
        </p:nvSpPr>
        <p:spPr>
          <a:xfrm>
            <a:off x="8077200" y="7289800"/>
            <a:ext cx="167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Replay</a:t>
            </a:r>
            <a:endParaRPr lang="en-US" sz="1400" dirty="0"/>
          </a:p>
        </p:txBody>
      </p:sp>
      <p:sp>
        <p:nvSpPr>
          <p:cNvPr id="27" name="op-6"/>
          <p:cNvSpPr/>
          <p:nvPr/>
        </p:nvSpPr>
        <p:spPr>
          <a:xfrm>
            <a:off x="9906000" y="7289800"/>
            <a:ext cx="16764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28" name="op-6-text"/>
          <p:cNvSpPr/>
          <p:nvPr/>
        </p:nvSpPr>
        <p:spPr>
          <a:xfrm>
            <a:off x="9906000" y="7289800"/>
            <a:ext cx="167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Audit</a:t>
            </a:r>
            <a:endParaRPr lang="en-US" sz="1400" dirty="0"/>
          </a:p>
        </p:txBody>
      </p:sp>
      <p:sp>
        <p:nvSpPr>
          <p:cNvPr id="29" name="op-7"/>
          <p:cNvSpPr/>
          <p:nvPr/>
        </p:nvSpPr>
        <p:spPr>
          <a:xfrm>
            <a:off x="11734800" y="7289800"/>
            <a:ext cx="16764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30" name="op-7-text"/>
          <p:cNvSpPr/>
          <p:nvPr/>
        </p:nvSpPr>
        <p:spPr>
          <a:xfrm>
            <a:off x="11734800" y="7289800"/>
            <a:ext cx="167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31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08 / 20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0668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Task中心の実行フロー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39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会話ではなくTaskを単位に、理解・実行・評価・受入・納品を一貫して管理する。</a:t>
            </a:r>
            <a:endParaRPr lang="en-US" sz="1600" dirty="0"/>
          </a:p>
        </p:txBody>
      </p:sp>
      <p:sp>
        <p:nvSpPr>
          <p:cNvPr id="5" name="step-1"/>
          <p:cNvSpPr/>
          <p:nvPr/>
        </p:nvSpPr>
        <p:spPr>
          <a:xfrm>
            <a:off x="762000" y="2209800"/>
            <a:ext cx="2387600" cy="1092200"/>
          </a:xfrm>
          <a:prstGeom prst="roundRect">
            <a:avLst>
              <a:gd name="adj" fmla="val 13953"/>
            </a:avLst>
          </a:prstGeom>
          <a:solidFill>
            <a:srgbClr val="1C2541"/>
          </a:solidFill>
          <a:ln/>
        </p:spPr>
      </p:sp>
      <p:sp>
        <p:nvSpPr>
          <p:cNvPr id="6" name="step-1-num"/>
          <p:cNvSpPr/>
          <p:nvPr/>
        </p:nvSpPr>
        <p:spPr>
          <a:xfrm>
            <a:off x="1041400" y="238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tep-1-text"/>
          <p:cNvSpPr/>
          <p:nvPr/>
        </p:nvSpPr>
        <p:spPr>
          <a:xfrm>
            <a:off x="1041400" y="27432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User Goal</a:t>
            </a:r>
            <a:endParaRPr lang="en-US" sz="1800" dirty="0"/>
          </a:p>
        </p:txBody>
      </p:sp>
      <p:sp>
        <p:nvSpPr>
          <p:cNvPr id="8" name="a1"/>
          <p:cNvSpPr/>
          <p:nvPr/>
        </p:nvSpPr>
        <p:spPr>
          <a:xfrm>
            <a:off x="3149600" y="2755900"/>
            <a:ext cx="5080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step-2"/>
          <p:cNvSpPr/>
          <p:nvPr/>
        </p:nvSpPr>
        <p:spPr>
          <a:xfrm>
            <a:off x="3657600" y="2209800"/>
            <a:ext cx="2387600" cy="1092200"/>
          </a:xfrm>
          <a:prstGeom prst="roundRect">
            <a:avLst>
              <a:gd name="adj" fmla="val 13953"/>
            </a:avLst>
          </a:prstGeom>
          <a:solidFill>
            <a:srgbClr val="1C2541"/>
          </a:solidFill>
          <a:ln/>
        </p:spPr>
      </p:sp>
      <p:sp>
        <p:nvSpPr>
          <p:cNvPr id="10" name="step-2-num"/>
          <p:cNvSpPr/>
          <p:nvPr/>
        </p:nvSpPr>
        <p:spPr>
          <a:xfrm>
            <a:off x="3937000" y="238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tep-2-text"/>
          <p:cNvSpPr/>
          <p:nvPr/>
        </p:nvSpPr>
        <p:spPr>
          <a:xfrm>
            <a:off x="3937000" y="2743200"/>
            <a:ext cx="184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 Understanding</a:t>
            </a:r>
            <a:endParaRPr lang="en-US" sz="1800" dirty="0"/>
          </a:p>
        </p:txBody>
      </p:sp>
      <p:sp>
        <p:nvSpPr>
          <p:cNvPr id="12" name="a2"/>
          <p:cNvSpPr/>
          <p:nvPr/>
        </p:nvSpPr>
        <p:spPr>
          <a:xfrm>
            <a:off x="6045200" y="2755900"/>
            <a:ext cx="5080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step-3"/>
          <p:cNvSpPr/>
          <p:nvPr/>
        </p:nvSpPr>
        <p:spPr>
          <a:xfrm>
            <a:off x="6553200" y="2209800"/>
            <a:ext cx="2387600" cy="1092200"/>
          </a:xfrm>
          <a:prstGeom prst="roundRect">
            <a:avLst>
              <a:gd name="adj" fmla="val 13953"/>
            </a:avLst>
          </a:prstGeom>
          <a:solidFill>
            <a:srgbClr val="1C2541"/>
          </a:solidFill>
          <a:ln/>
        </p:spPr>
      </p:sp>
      <p:sp>
        <p:nvSpPr>
          <p:cNvPr id="14" name="step-3-num"/>
          <p:cNvSpPr/>
          <p:nvPr/>
        </p:nvSpPr>
        <p:spPr>
          <a:xfrm>
            <a:off x="6832600" y="238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tep-3-text"/>
          <p:cNvSpPr/>
          <p:nvPr/>
        </p:nvSpPr>
        <p:spPr>
          <a:xfrm>
            <a:off x="6832600" y="2743200"/>
            <a:ext cx="184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Selection</a:t>
            </a:r>
            <a:endParaRPr lang="en-US" sz="1800" dirty="0"/>
          </a:p>
        </p:txBody>
      </p:sp>
      <p:sp>
        <p:nvSpPr>
          <p:cNvPr id="16" name="a3"/>
          <p:cNvSpPr/>
          <p:nvPr/>
        </p:nvSpPr>
        <p:spPr>
          <a:xfrm>
            <a:off x="8940800" y="2755900"/>
            <a:ext cx="5080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step-4"/>
          <p:cNvSpPr/>
          <p:nvPr/>
        </p:nvSpPr>
        <p:spPr>
          <a:xfrm>
            <a:off x="9448800" y="2209800"/>
            <a:ext cx="2387600" cy="1092200"/>
          </a:xfrm>
          <a:prstGeom prst="roundRect">
            <a:avLst>
              <a:gd name="adj" fmla="val 13953"/>
            </a:avLst>
          </a:prstGeom>
          <a:solidFill>
            <a:srgbClr val="1C2541"/>
          </a:solidFill>
          <a:ln/>
        </p:spPr>
      </p:sp>
      <p:sp>
        <p:nvSpPr>
          <p:cNvPr id="18" name="step-4-num"/>
          <p:cNvSpPr/>
          <p:nvPr/>
        </p:nvSpPr>
        <p:spPr>
          <a:xfrm>
            <a:off x="9728200" y="238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step-4-text"/>
          <p:cNvSpPr/>
          <p:nvPr/>
        </p:nvSpPr>
        <p:spPr>
          <a:xfrm>
            <a:off x="9728200" y="2743200"/>
            <a:ext cx="184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Playbook</a:t>
            </a:r>
            <a:endParaRPr lang="en-US" sz="1800" dirty="0"/>
          </a:p>
        </p:txBody>
      </p:sp>
      <p:sp>
        <p:nvSpPr>
          <p:cNvPr id="20" name="a4"/>
          <p:cNvSpPr/>
          <p:nvPr/>
        </p:nvSpPr>
        <p:spPr>
          <a:xfrm>
            <a:off x="11836400" y="2755900"/>
            <a:ext cx="5080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1" name="step-5"/>
          <p:cNvSpPr/>
          <p:nvPr/>
        </p:nvSpPr>
        <p:spPr>
          <a:xfrm>
            <a:off x="12344400" y="2209800"/>
            <a:ext cx="2387600" cy="1092200"/>
          </a:xfrm>
          <a:prstGeom prst="roundRect">
            <a:avLst>
              <a:gd name="adj" fmla="val 13953"/>
            </a:avLst>
          </a:prstGeom>
          <a:solidFill>
            <a:srgbClr val="17324B"/>
          </a:solidFill>
          <a:ln/>
        </p:spPr>
      </p:sp>
      <p:sp>
        <p:nvSpPr>
          <p:cNvPr id="22" name="step-5-num"/>
          <p:cNvSpPr/>
          <p:nvPr/>
        </p:nvSpPr>
        <p:spPr>
          <a:xfrm>
            <a:off x="12623800" y="238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step-5-text"/>
          <p:cNvSpPr/>
          <p:nvPr/>
        </p:nvSpPr>
        <p:spPr>
          <a:xfrm>
            <a:off x="12623800" y="2743200"/>
            <a:ext cx="184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24" name="down"/>
          <p:cNvSpPr/>
          <p:nvPr/>
        </p:nvSpPr>
        <p:spPr>
          <a:xfrm>
            <a:off x="13538200" y="3302000"/>
            <a:ext cx="9144" cy="914400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5" name="step-6"/>
          <p:cNvSpPr/>
          <p:nvPr/>
        </p:nvSpPr>
        <p:spPr>
          <a:xfrm>
            <a:off x="10490200" y="4445000"/>
            <a:ext cx="2387600" cy="1092200"/>
          </a:xfrm>
          <a:prstGeom prst="roundRect">
            <a:avLst>
              <a:gd name="adj" fmla="val 13953"/>
            </a:avLst>
          </a:prstGeom>
          <a:solidFill>
            <a:srgbClr val="1C2541"/>
          </a:solidFill>
          <a:ln/>
        </p:spPr>
      </p:sp>
      <p:sp>
        <p:nvSpPr>
          <p:cNvPr id="26" name="step-6-num"/>
          <p:cNvSpPr/>
          <p:nvPr/>
        </p:nvSpPr>
        <p:spPr>
          <a:xfrm>
            <a:off x="10769600" y="4622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step-6-text"/>
          <p:cNvSpPr/>
          <p:nvPr/>
        </p:nvSpPr>
        <p:spPr>
          <a:xfrm>
            <a:off x="10769600" y="4978400"/>
            <a:ext cx="184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8" name="a6"/>
          <p:cNvSpPr/>
          <p:nvPr/>
        </p:nvSpPr>
        <p:spPr>
          <a:xfrm flipH="1">
            <a:off x="9982200" y="4991100"/>
            <a:ext cx="5080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9" name="step-7"/>
          <p:cNvSpPr/>
          <p:nvPr/>
        </p:nvSpPr>
        <p:spPr>
          <a:xfrm>
            <a:off x="7594600" y="4445000"/>
            <a:ext cx="2387600" cy="1092200"/>
          </a:xfrm>
          <a:prstGeom prst="roundRect">
            <a:avLst>
              <a:gd name="adj" fmla="val 13953"/>
            </a:avLst>
          </a:prstGeom>
          <a:solidFill>
            <a:srgbClr val="1C2541"/>
          </a:solidFill>
          <a:ln/>
        </p:spPr>
      </p:sp>
      <p:sp>
        <p:nvSpPr>
          <p:cNvPr id="30" name="step-7-num"/>
          <p:cNvSpPr/>
          <p:nvPr/>
        </p:nvSpPr>
        <p:spPr>
          <a:xfrm>
            <a:off x="7874000" y="4622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step-7-text"/>
          <p:cNvSpPr/>
          <p:nvPr/>
        </p:nvSpPr>
        <p:spPr>
          <a:xfrm>
            <a:off x="7874000" y="4978400"/>
            <a:ext cx="184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32" name="a7"/>
          <p:cNvSpPr/>
          <p:nvPr/>
        </p:nvSpPr>
        <p:spPr>
          <a:xfrm flipH="1">
            <a:off x="7086600" y="4991100"/>
            <a:ext cx="5080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3" name="gate"/>
          <p:cNvSpPr/>
          <p:nvPr/>
        </p:nvSpPr>
        <p:spPr>
          <a:xfrm>
            <a:off x="4191000" y="4445000"/>
            <a:ext cx="2895600" cy="1092200"/>
          </a:xfrm>
          <a:prstGeom prst="roundRect">
            <a:avLst>
              <a:gd name="adj" fmla="val 13953"/>
            </a:avLst>
          </a:prstGeom>
          <a:solidFill>
            <a:srgbClr val="17324B"/>
          </a:solidFill>
          <a:ln/>
        </p:spPr>
      </p:sp>
      <p:pic>
        <p:nvPicPr>
          <p:cNvPr id="34" name="gat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800" y="4787900"/>
            <a:ext cx="381000" cy="381000"/>
          </a:xfrm>
          <a:prstGeom prst="rect">
            <a:avLst/>
          </a:prstGeom>
        </p:spPr>
      </p:pic>
      <p:sp>
        <p:nvSpPr>
          <p:cNvPr id="35" name="gate-text"/>
          <p:cNvSpPr/>
          <p:nvPr/>
        </p:nvSpPr>
        <p:spPr>
          <a:xfrm>
            <a:off x="5105400" y="48260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Acceptance Gate</a:t>
            </a:r>
            <a:endParaRPr lang="en-US" sz="1800" dirty="0"/>
          </a:p>
        </p:txBody>
      </p:sp>
      <p:sp>
        <p:nvSpPr>
          <p:cNvPr id="36" name="pass-line"/>
          <p:cNvSpPr/>
          <p:nvPr/>
        </p:nvSpPr>
        <p:spPr>
          <a:xfrm flipH="1">
            <a:off x="2997200" y="4991100"/>
            <a:ext cx="1193800" cy="9144"/>
          </a:xfrm>
          <a:prstGeom prst="line">
            <a:avLst/>
          </a:prstGeom>
          <a:ln w="38100">
            <a:solidFill>
              <a:srgbClr val="32CD32"/>
            </a:solidFill>
            <a:prstDash val="solid"/>
            <a:tailEnd type="triangle"/>
          </a:ln>
        </p:spPr>
      </p:sp>
      <p:sp>
        <p:nvSpPr>
          <p:cNvPr id="37" name="pass-label"/>
          <p:cNvSpPr/>
          <p:nvPr/>
        </p:nvSpPr>
        <p:spPr>
          <a:xfrm>
            <a:off x="3175000" y="4546600"/>
            <a:ext cx="736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PASS</a:t>
            </a:r>
            <a:endParaRPr lang="en-US" sz="1400" dirty="0"/>
          </a:p>
        </p:txBody>
      </p:sp>
      <p:sp>
        <p:nvSpPr>
          <p:cNvPr id="38" name="deliver"/>
          <p:cNvSpPr/>
          <p:nvPr/>
        </p:nvSpPr>
        <p:spPr>
          <a:xfrm>
            <a:off x="762000" y="4445000"/>
            <a:ext cx="1727200" cy="1092200"/>
          </a:xfrm>
          <a:prstGeom prst="roundRect">
            <a:avLst>
              <a:gd name="adj" fmla="val 13953"/>
            </a:avLst>
          </a:prstGeom>
          <a:solidFill>
            <a:srgbClr val="193825"/>
          </a:solidFill>
          <a:ln/>
        </p:spPr>
      </p:sp>
      <p:pic>
        <p:nvPicPr>
          <p:cNvPr id="39" name="deliver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4737100"/>
            <a:ext cx="381000" cy="381000"/>
          </a:xfrm>
          <a:prstGeom prst="rect">
            <a:avLst/>
          </a:prstGeom>
        </p:spPr>
      </p:pic>
      <p:sp>
        <p:nvSpPr>
          <p:cNvPr id="40" name="deliver-text"/>
          <p:cNvSpPr/>
          <p:nvPr/>
        </p:nvSpPr>
        <p:spPr>
          <a:xfrm>
            <a:off x="1549400" y="4826000"/>
            <a:ext cx="685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Deliver</a:t>
            </a:r>
            <a:endParaRPr lang="en-US" sz="1800" dirty="0"/>
          </a:p>
        </p:txBody>
      </p:sp>
      <p:sp>
        <p:nvSpPr>
          <p:cNvPr id="41" name="fail-line"/>
          <p:cNvSpPr/>
          <p:nvPr/>
        </p:nvSpPr>
        <p:spPr>
          <a:xfrm>
            <a:off x="5638800" y="5537200"/>
            <a:ext cx="9144" cy="990600"/>
          </a:xfrm>
          <a:prstGeom prst="line">
            <a:avLst/>
          </a:prstGeom>
          <a:ln w="25400">
            <a:solidFill>
              <a:srgbClr val="FCA5A5"/>
            </a:solidFill>
            <a:prstDash val="solid"/>
            <a:tailEnd type="triangle"/>
          </a:ln>
        </p:spPr>
      </p:sp>
      <p:sp>
        <p:nvSpPr>
          <p:cNvPr id="42" name="fail-label"/>
          <p:cNvSpPr/>
          <p:nvPr/>
        </p:nvSpPr>
        <p:spPr>
          <a:xfrm>
            <a:off x="5816600" y="5969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CA5A5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FAIL</a:t>
            </a:r>
            <a:endParaRPr lang="en-US" sz="1400" dirty="0"/>
          </a:p>
        </p:txBody>
      </p:sp>
      <p:sp>
        <p:nvSpPr>
          <p:cNvPr id="43" name="pdca"/>
          <p:cNvSpPr/>
          <p:nvPr/>
        </p:nvSpPr>
        <p:spPr>
          <a:xfrm>
            <a:off x="4191000" y="6781800"/>
            <a:ext cx="2895600" cy="736600"/>
          </a:xfrm>
          <a:prstGeom prst="roundRect">
            <a:avLst>
              <a:gd name="adj" fmla="val 17241"/>
            </a:avLst>
          </a:prstGeom>
          <a:solidFill>
            <a:srgbClr val="2B2D1A"/>
          </a:solidFill>
          <a:ln/>
        </p:spPr>
      </p:sp>
      <p:sp>
        <p:nvSpPr>
          <p:cNvPr id="44" name="pdca-text"/>
          <p:cNvSpPr/>
          <p:nvPr/>
        </p:nvSpPr>
        <p:spPr>
          <a:xfrm>
            <a:off x="4191000" y="6781800"/>
            <a:ext cx="2895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PDCA → Delta Playbook</a:t>
            </a:r>
            <a:endParaRPr lang="en-US" sz="1800" dirty="0"/>
          </a:p>
        </p:txBody>
      </p:sp>
      <p:sp>
        <p:nvSpPr>
          <p:cNvPr id="45" name="return-line"/>
          <p:cNvSpPr/>
          <p:nvPr/>
        </p:nvSpPr>
        <p:spPr>
          <a:xfrm flipV="1">
            <a:off x="7086600" y="3848100"/>
            <a:ext cx="5181600" cy="3302000"/>
          </a:xfrm>
          <a:prstGeom prst="bentConnector3">
            <a:avLst/>
          </a:prstGeom>
          <a:ln w="25400">
            <a:solidFill>
              <a:srgbClr val="00FFFF"/>
            </a:solidFill>
            <a:prstDash val="solid"/>
            <a:tailEnd type="triangle"/>
          </a:ln>
        </p:spPr>
      </p:sp>
      <p:sp>
        <p:nvSpPr>
          <p:cNvPr id="46" name="loop-label"/>
          <p:cNvSpPr/>
          <p:nvPr/>
        </p:nvSpPr>
        <p:spPr>
          <a:xfrm>
            <a:off x="8153400" y="6781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再計画して実行へ戻す</a:t>
            </a:r>
            <a:endParaRPr lang="en-US" sz="1400" dirty="0"/>
          </a:p>
        </p:txBody>
      </p:sp>
      <p:sp>
        <p:nvSpPr>
          <p:cNvPr id="47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09 / 20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168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PDCA Engine：差分だけを再実行する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0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全Playbookをやり直すのではなく、失敗ギャップに対するDelta Playbookを生成して再実行する。</a:t>
            </a:r>
            <a:endParaRPr lang="en-US" sz="1600" dirty="0"/>
          </a:p>
        </p:txBody>
      </p:sp>
      <p:sp>
        <p:nvSpPr>
          <p:cNvPr id="5" name="initial"/>
          <p:cNvSpPr/>
          <p:nvPr/>
        </p:nvSpPr>
        <p:spPr>
          <a:xfrm>
            <a:off x="762000" y="2311400"/>
            <a:ext cx="3048000" cy="1600200"/>
          </a:xfrm>
          <a:prstGeom prst="roundRect">
            <a:avLst>
              <a:gd name="adj" fmla="val 11111"/>
            </a:avLst>
          </a:prstGeom>
          <a:solidFill>
            <a:srgbClr val="1C2541"/>
          </a:solidFill>
          <a:ln/>
        </p:spPr>
      </p:sp>
      <p:sp>
        <p:nvSpPr>
          <p:cNvPr id="6" name="initial-label"/>
          <p:cNvSpPr/>
          <p:nvPr/>
        </p:nvSpPr>
        <p:spPr>
          <a:xfrm>
            <a:off x="1117600" y="2667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INITIAL RUN</a:t>
            </a:r>
            <a:endParaRPr lang="en-US" sz="1500" dirty="0"/>
          </a:p>
        </p:txBody>
      </p:sp>
      <p:sp>
        <p:nvSpPr>
          <p:cNvPr id="7" name="initial-title"/>
          <p:cNvSpPr/>
          <p:nvPr/>
        </p:nvSpPr>
        <p:spPr>
          <a:xfrm>
            <a:off x="1117600" y="31242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PB001 — PB040</a:t>
            </a:r>
            <a:endParaRPr lang="en-US" sz="2000" dirty="0"/>
          </a:p>
        </p:txBody>
      </p:sp>
      <p:sp>
        <p:nvSpPr>
          <p:cNvPr id="8" name="arrow-1"/>
          <p:cNvSpPr/>
          <p:nvPr/>
        </p:nvSpPr>
        <p:spPr>
          <a:xfrm>
            <a:off x="3810000" y="3111500"/>
            <a:ext cx="939800" cy="9144"/>
          </a:xfrm>
          <a:prstGeom prst="line">
            <a:avLst/>
          </a:prstGeom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result-1"/>
          <p:cNvSpPr/>
          <p:nvPr/>
        </p:nvSpPr>
        <p:spPr>
          <a:xfrm>
            <a:off x="5003800" y="2311400"/>
            <a:ext cx="2794000" cy="1600200"/>
          </a:xfrm>
          <a:prstGeom prst="roundRect">
            <a:avLst>
              <a:gd name="adj" fmla="val 11111"/>
            </a:avLst>
          </a:prstGeom>
          <a:solidFill>
            <a:srgbClr val="2A1A2A"/>
          </a:solidFill>
          <a:ln/>
        </p:spPr>
      </p:sp>
      <p:sp>
        <p:nvSpPr>
          <p:cNvPr id="10" name="result-1-label"/>
          <p:cNvSpPr/>
          <p:nvPr/>
        </p:nvSpPr>
        <p:spPr>
          <a:xfrm>
            <a:off x="5359400" y="2667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CA5A5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CHECK</a:t>
            </a:r>
            <a:endParaRPr lang="en-US" sz="1500" dirty="0"/>
          </a:p>
        </p:txBody>
      </p:sp>
      <p:sp>
        <p:nvSpPr>
          <p:cNvPr id="11" name="result-1-pass"/>
          <p:cNvSpPr/>
          <p:nvPr/>
        </p:nvSpPr>
        <p:spPr>
          <a:xfrm>
            <a:off x="5359400" y="31242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Pass: 36</a:t>
            </a:r>
            <a:endParaRPr lang="en-US" sz="2000" dirty="0"/>
          </a:p>
        </p:txBody>
      </p:sp>
      <p:sp>
        <p:nvSpPr>
          <p:cNvPr id="12" name="result-1-fail"/>
          <p:cNvSpPr/>
          <p:nvPr/>
        </p:nvSpPr>
        <p:spPr>
          <a:xfrm>
            <a:off x="5359400" y="35052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CA5A5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Fail: 4</a:t>
            </a:r>
            <a:endParaRPr lang="en-US" sz="2000" dirty="0"/>
          </a:p>
        </p:txBody>
      </p:sp>
      <p:sp>
        <p:nvSpPr>
          <p:cNvPr id="13" name="arrow-2"/>
          <p:cNvSpPr/>
          <p:nvPr/>
        </p:nvSpPr>
        <p:spPr>
          <a:xfrm>
            <a:off x="7797800" y="3111500"/>
            <a:ext cx="939800" cy="9144"/>
          </a:xfrm>
          <a:prstGeom prst="line">
            <a:avLst/>
          </a:prstGeom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delta-1"/>
          <p:cNvSpPr/>
          <p:nvPr/>
        </p:nvSpPr>
        <p:spPr>
          <a:xfrm>
            <a:off x="8991600" y="2311400"/>
            <a:ext cx="2997200" cy="1600200"/>
          </a:xfrm>
          <a:prstGeom prst="roundRect">
            <a:avLst>
              <a:gd name="adj" fmla="val 11111"/>
            </a:avLst>
          </a:prstGeom>
          <a:solidFill>
            <a:srgbClr val="2B2D1A"/>
          </a:solidFill>
          <a:ln/>
        </p:spPr>
      </p:sp>
      <p:sp>
        <p:nvSpPr>
          <p:cNvPr id="15" name="delta-1-label"/>
          <p:cNvSpPr/>
          <p:nvPr/>
        </p:nvSpPr>
        <p:spPr>
          <a:xfrm>
            <a:off x="9347200" y="26670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DELTA PLAYBOOK</a:t>
            </a:r>
            <a:endParaRPr lang="en-US" sz="1500" dirty="0"/>
          </a:p>
        </p:txBody>
      </p:sp>
      <p:sp>
        <p:nvSpPr>
          <p:cNvPr id="16" name="delta-1-body"/>
          <p:cNvSpPr/>
          <p:nvPr/>
        </p:nvSpPr>
        <p:spPr>
          <a:xfrm>
            <a:off x="9347200" y="3124200"/>
            <a:ext cx="203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PB041-FIX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… PB044-FIX</a:t>
            </a:r>
            <a:endParaRPr lang="en-US" sz="1600" dirty="0"/>
          </a:p>
        </p:txBody>
      </p:sp>
      <p:sp>
        <p:nvSpPr>
          <p:cNvPr id="17" name="arrow-3"/>
          <p:cNvSpPr/>
          <p:nvPr/>
        </p:nvSpPr>
        <p:spPr>
          <a:xfrm>
            <a:off x="11988800" y="3111500"/>
            <a:ext cx="939800" cy="9144"/>
          </a:xfrm>
          <a:prstGeom prst="line">
            <a:avLst/>
          </a:prstGeom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8" name="result-2"/>
          <p:cNvSpPr/>
          <p:nvPr/>
        </p:nvSpPr>
        <p:spPr>
          <a:xfrm>
            <a:off x="13182600" y="2311400"/>
            <a:ext cx="2311400" cy="1600200"/>
          </a:xfrm>
          <a:prstGeom prst="roundRect">
            <a:avLst>
              <a:gd name="adj" fmla="val 11111"/>
            </a:avLst>
          </a:prstGeom>
          <a:solidFill>
            <a:srgbClr val="17324B"/>
          </a:solidFill>
          <a:ln/>
        </p:spPr>
      </p:sp>
      <p:sp>
        <p:nvSpPr>
          <p:cNvPr id="19" name="result-2-label"/>
          <p:cNvSpPr/>
          <p:nvPr/>
        </p:nvSpPr>
        <p:spPr>
          <a:xfrm>
            <a:off x="13487400" y="26670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RE-RUN</a:t>
            </a:r>
            <a:endParaRPr lang="en-US" sz="1500" dirty="0"/>
          </a:p>
        </p:txBody>
      </p:sp>
      <p:sp>
        <p:nvSpPr>
          <p:cNvPr id="20" name="result-2-pass"/>
          <p:cNvSpPr/>
          <p:nvPr/>
        </p:nvSpPr>
        <p:spPr>
          <a:xfrm>
            <a:off x="13487400" y="3124200"/>
            <a:ext cx="1625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Pass: 39</a:t>
            </a:r>
            <a:endParaRPr lang="en-US" sz="1900" dirty="0"/>
          </a:p>
        </p:txBody>
      </p:sp>
      <p:sp>
        <p:nvSpPr>
          <p:cNvPr id="21" name="result-2-fail"/>
          <p:cNvSpPr/>
          <p:nvPr/>
        </p:nvSpPr>
        <p:spPr>
          <a:xfrm>
            <a:off x="13487400" y="3505200"/>
            <a:ext cx="1625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CA5A5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Fail: 1</a:t>
            </a:r>
            <a:endParaRPr lang="en-US" sz="1900" dirty="0"/>
          </a:p>
        </p:txBody>
      </p:sp>
      <p:sp>
        <p:nvSpPr>
          <p:cNvPr id="22" name="next-arrow"/>
          <p:cNvSpPr/>
          <p:nvPr/>
        </p:nvSpPr>
        <p:spPr>
          <a:xfrm>
            <a:off x="14325600" y="3911600"/>
            <a:ext cx="9144" cy="914400"/>
          </a:xfrm>
          <a:prstGeom prst="line">
            <a:avLst/>
          </a:prstGeom>
          <a:ln w="25400">
            <a:solidFill>
              <a:srgbClr val="FCA5A5"/>
            </a:solidFill>
            <a:prstDash val="solid"/>
            <a:tailEnd type="triangle"/>
          </a:ln>
        </p:spPr>
      </p:sp>
      <p:sp>
        <p:nvSpPr>
          <p:cNvPr id="23" name="delta-2"/>
          <p:cNvSpPr/>
          <p:nvPr/>
        </p:nvSpPr>
        <p:spPr>
          <a:xfrm>
            <a:off x="12446000" y="5105400"/>
            <a:ext cx="3048000" cy="1041400"/>
          </a:xfrm>
          <a:prstGeom prst="roundRect">
            <a:avLst>
              <a:gd name="adj" fmla="val 14634"/>
            </a:avLst>
          </a:prstGeom>
          <a:solidFill>
            <a:srgbClr val="2B2D1A"/>
          </a:solidFill>
          <a:ln/>
        </p:spPr>
      </p:sp>
      <p:sp>
        <p:nvSpPr>
          <p:cNvPr id="24" name="delta-2-text"/>
          <p:cNvSpPr/>
          <p:nvPr/>
        </p:nvSpPr>
        <p:spPr>
          <a:xfrm>
            <a:off x="12446000" y="5105400"/>
            <a:ext cx="304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PB045-FIX</a:t>
            </a:r>
            <a:endParaRPr lang="en-US" sz="1900" dirty="0"/>
          </a:p>
        </p:txBody>
      </p:sp>
      <p:sp>
        <p:nvSpPr>
          <p:cNvPr id="25" name="final-arrow"/>
          <p:cNvSpPr/>
          <p:nvPr/>
        </p:nvSpPr>
        <p:spPr>
          <a:xfrm flipH="1">
            <a:off x="10134600" y="5626100"/>
            <a:ext cx="2311400" cy="9144"/>
          </a:xfrm>
          <a:prstGeom prst="line">
            <a:avLst/>
          </a:prstGeom>
          <a:ln w="38100">
            <a:solidFill>
              <a:srgbClr val="32CD32"/>
            </a:solidFill>
            <a:prstDash val="solid"/>
            <a:tailEnd type="triangle"/>
          </a:ln>
        </p:spPr>
      </p:sp>
      <p:sp>
        <p:nvSpPr>
          <p:cNvPr id="26" name="final-gate"/>
          <p:cNvSpPr/>
          <p:nvPr/>
        </p:nvSpPr>
        <p:spPr>
          <a:xfrm>
            <a:off x="5842000" y="4927600"/>
            <a:ext cx="3810000" cy="1447800"/>
          </a:xfrm>
          <a:prstGeom prst="roundRect">
            <a:avLst>
              <a:gd name="adj" fmla="val 14035"/>
            </a:avLst>
          </a:prstGeom>
          <a:solidFill>
            <a:srgbClr val="193825"/>
          </a:solidFill>
          <a:ln/>
        </p:spPr>
      </p:sp>
      <p:pic>
        <p:nvPicPr>
          <p:cNvPr id="27" name="final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5384800"/>
            <a:ext cx="533400" cy="533400"/>
          </a:xfrm>
          <a:prstGeom prst="rect">
            <a:avLst/>
          </a:prstGeom>
        </p:spPr>
      </p:pic>
      <p:sp>
        <p:nvSpPr>
          <p:cNvPr id="28" name="final-text"/>
          <p:cNvSpPr/>
          <p:nvPr/>
        </p:nvSpPr>
        <p:spPr>
          <a:xfrm>
            <a:off x="7061200" y="5245100"/>
            <a:ext cx="2209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Acceptance Gate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＝ PASS</a:t>
            </a:r>
            <a:endParaRPr lang="en-US" sz="2000" dirty="0"/>
          </a:p>
        </p:txBody>
      </p:sp>
      <p:sp>
        <p:nvSpPr>
          <p:cNvPr id="29" name="outcome-label"/>
          <p:cNvSpPr/>
          <p:nvPr/>
        </p:nvSpPr>
        <p:spPr>
          <a:xfrm>
            <a:off x="762000" y="70358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WHY DELTA MATTERS</a:t>
            </a:r>
            <a:endParaRPr lang="en-US" sz="1500" dirty="0"/>
          </a:p>
        </p:txBody>
      </p:sp>
      <p:sp>
        <p:nvSpPr>
          <p:cNvPr id="30" name="benefit-1"/>
          <p:cNvSpPr/>
          <p:nvPr/>
        </p:nvSpPr>
        <p:spPr>
          <a:xfrm>
            <a:off x="762000" y="7467600"/>
            <a:ext cx="34290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31" name="benefit-1-text"/>
          <p:cNvSpPr/>
          <p:nvPr/>
        </p:nvSpPr>
        <p:spPr>
          <a:xfrm>
            <a:off x="762000" y="74676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Token削減</a:t>
            </a:r>
            <a:endParaRPr lang="en-US" sz="1500" dirty="0"/>
          </a:p>
        </p:txBody>
      </p:sp>
      <p:sp>
        <p:nvSpPr>
          <p:cNvPr id="32" name="benefit-2"/>
          <p:cNvSpPr/>
          <p:nvPr/>
        </p:nvSpPr>
        <p:spPr>
          <a:xfrm>
            <a:off x="4445000" y="7467600"/>
            <a:ext cx="34290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33" name="benefit-2-text"/>
          <p:cNvSpPr/>
          <p:nvPr/>
        </p:nvSpPr>
        <p:spPr>
          <a:xfrm>
            <a:off x="4445000" y="74676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実行時間短縮</a:t>
            </a:r>
            <a:endParaRPr lang="en-US" sz="1500" dirty="0"/>
          </a:p>
        </p:txBody>
      </p:sp>
      <p:sp>
        <p:nvSpPr>
          <p:cNvPr id="34" name="benefit-3"/>
          <p:cNvSpPr/>
          <p:nvPr/>
        </p:nvSpPr>
        <p:spPr>
          <a:xfrm>
            <a:off x="8128000" y="7467600"/>
            <a:ext cx="34290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35" name="benefit-3-text"/>
          <p:cNvSpPr/>
          <p:nvPr/>
        </p:nvSpPr>
        <p:spPr>
          <a:xfrm>
            <a:off x="8128000" y="74676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修正範囲の限定</a:t>
            </a:r>
            <a:endParaRPr lang="en-US" sz="1500" dirty="0"/>
          </a:p>
        </p:txBody>
      </p:sp>
      <p:sp>
        <p:nvSpPr>
          <p:cNvPr id="36" name="benefit-4"/>
          <p:cNvSpPr/>
          <p:nvPr/>
        </p:nvSpPr>
        <p:spPr>
          <a:xfrm>
            <a:off x="11811000" y="7467600"/>
            <a:ext cx="3683000" cy="533400"/>
          </a:xfrm>
          <a:prstGeom prst="roundRect">
            <a:avLst>
              <a:gd name="adj" fmla="val 19048"/>
            </a:avLst>
          </a:prstGeom>
          <a:solidFill>
            <a:srgbClr val="1C2541"/>
          </a:solidFill>
          <a:ln/>
        </p:spPr>
      </p:sp>
      <p:sp>
        <p:nvSpPr>
          <p:cNvPr id="37" name="benefit-4-text"/>
          <p:cNvSpPr/>
          <p:nvPr/>
        </p:nvSpPr>
        <p:spPr>
          <a:xfrm>
            <a:off x="11811000" y="7467600"/>
            <a:ext cx="36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回帰リスク低減</a:t>
            </a:r>
            <a:endParaRPr lang="en-US" sz="1500" dirty="0"/>
          </a:p>
        </p:txBody>
      </p:sp>
      <p:sp>
        <p:nvSpPr>
          <p:cNvPr id="38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10 / 20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219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Acceptance ContractとEvidence Bundle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0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タスク完了をAgentの自己申告で判定せず、構造化された完了条件と証跡で客観化する。</a:t>
            </a:r>
            <a:endParaRPr lang="en-US" sz="1600" dirty="0"/>
          </a:p>
        </p:txBody>
      </p:sp>
      <p:sp>
        <p:nvSpPr>
          <p:cNvPr id="5" name="contract-card"/>
          <p:cNvSpPr/>
          <p:nvPr/>
        </p:nvSpPr>
        <p:spPr>
          <a:xfrm>
            <a:off x="762000" y="2082800"/>
            <a:ext cx="6350000" cy="4572000"/>
          </a:xfrm>
          <a:prstGeom prst="roundRect">
            <a:avLst>
              <a:gd name="adj" fmla="val 4444"/>
            </a:avLst>
          </a:prstGeom>
          <a:solidFill>
            <a:srgbClr val="13203A"/>
          </a:solidFill>
          <a:ln/>
        </p:spPr>
      </p:sp>
      <p:pic>
        <p:nvPicPr>
          <p:cNvPr id="6" name="contrac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2489200"/>
            <a:ext cx="431800" cy="431800"/>
          </a:xfrm>
          <a:prstGeom prst="rect">
            <a:avLst/>
          </a:prstGeom>
        </p:spPr>
      </p:pic>
      <p:sp>
        <p:nvSpPr>
          <p:cNvPr id="7" name="contract-title"/>
          <p:cNvSpPr/>
          <p:nvPr/>
        </p:nvSpPr>
        <p:spPr>
          <a:xfrm>
            <a:off x="1854200" y="2514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Acceptance Contract</a:t>
            </a:r>
            <a:endParaRPr lang="en-US" sz="2100" dirty="0"/>
          </a:p>
        </p:txBody>
      </p:sp>
      <p:sp>
        <p:nvSpPr>
          <p:cNvPr id="8" name="contract-line"/>
          <p:cNvSpPr/>
          <p:nvPr/>
        </p:nvSpPr>
        <p:spPr>
          <a:xfrm>
            <a:off x="1168400" y="3175000"/>
            <a:ext cx="54610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contract-body"/>
          <p:cNvSpPr/>
          <p:nvPr/>
        </p:nvSpPr>
        <p:spPr>
          <a:xfrm>
            <a:off x="1168400" y="3530600"/>
            <a:ext cx="50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b="1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Functional</a:t>
            </a: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　requirement coverage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b="1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Build</a:t>
            </a: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　　　 success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b="1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Tests</a:t>
            </a: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　　　 pass rate = 1.0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b="1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Quality</a:t>
            </a: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　　 critical issue = 0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b="1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Security</a:t>
            </a: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　　critical = 0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b="1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Runtime</a:t>
            </a: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　　 health check = pass</a:t>
            </a:r>
            <a:endParaRPr lang="en-US" sz="1600" dirty="0"/>
          </a:p>
        </p:txBody>
      </p:sp>
      <p:sp>
        <p:nvSpPr>
          <p:cNvPr id="10" name="evidence-card"/>
          <p:cNvSpPr/>
          <p:nvPr/>
        </p:nvSpPr>
        <p:spPr>
          <a:xfrm>
            <a:off x="9144000" y="2082800"/>
            <a:ext cx="6350000" cy="4572000"/>
          </a:xfrm>
          <a:prstGeom prst="roundRect">
            <a:avLst>
              <a:gd name="adj" fmla="val 4444"/>
            </a:avLst>
          </a:prstGeom>
          <a:solidFill>
            <a:srgbClr val="1C2541"/>
          </a:solidFill>
          <a:ln/>
        </p:spPr>
      </p:sp>
      <p:pic>
        <p:nvPicPr>
          <p:cNvPr id="11" name="evidence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0" y="2489200"/>
            <a:ext cx="431800" cy="431800"/>
          </a:xfrm>
          <a:prstGeom prst="rect">
            <a:avLst/>
          </a:prstGeom>
        </p:spPr>
      </p:pic>
      <p:sp>
        <p:nvSpPr>
          <p:cNvPr id="12" name="evidence-title"/>
          <p:cNvSpPr/>
          <p:nvPr/>
        </p:nvSpPr>
        <p:spPr>
          <a:xfrm>
            <a:off x="10236200" y="2514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 Bundle</a:t>
            </a:r>
            <a:endParaRPr lang="en-US" sz="2100" dirty="0"/>
          </a:p>
        </p:txBody>
      </p:sp>
      <p:sp>
        <p:nvSpPr>
          <p:cNvPr id="13" name="evidence-line"/>
          <p:cNvSpPr/>
          <p:nvPr/>
        </p:nvSpPr>
        <p:spPr>
          <a:xfrm>
            <a:off x="9550400" y="3175000"/>
            <a:ext cx="54610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evidence-body"/>
          <p:cNvSpPr/>
          <p:nvPr/>
        </p:nvSpPr>
        <p:spPr>
          <a:xfrm>
            <a:off x="9550400" y="3530600"/>
            <a:ext cx="520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source.zip　　patch.diff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build-report.json　test-report.html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security-report.json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requirement-traceability.md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pdca-report.md　execution-log.json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playbooks/　evidence/</a:t>
            </a:r>
            <a:endParaRPr lang="en-US" sz="1600" dirty="0"/>
          </a:p>
        </p:txBody>
      </p:sp>
      <p:sp>
        <p:nvSpPr>
          <p:cNvPr id="15" name="equation"/>
          <p:cNvSpPr/>
          <p:nvPr/>
        </p:nvSpPr>
        <p:spPr>
          <a:xfrm>
            <a:off x="762000" y="7188200"/>
            <a:ext cx="14732000" cy="812800"/>
          </a:xfrm>
          <a:prstGeom prst="roundRect">
            <a:avLst>
              <a:gd name="adj" fmla="val 18750"/>
            </a:avLst>
          </a:prstGeom>
          <a:solidFill>
            <a:srgbClr val="17324B"/>
          </a:solidFill>
          <a:ln/>
        </p:spPr>
      </p:sp>
      <p:pic>
        <p:nvPicPr>
          <p:cNvPr id="16" name="equation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7366000"/>
            <a:ext cx="431800" cy="431800"/>
          </a:xfrm>
          <a:prstGeom prst="rect">
            <a:avLst/>
          </a:prstGeom>
        </p:spPr>
      </p:pic>
      <p:sp>
        <p:nvSpPr>
          <p:cNvPr id="17" name="equation-text"/>
          <p:cNvSpPr/>
          <p:nvPr/>
        </p:nvSpPr>
        <p:spPr>
          <a:xfrm>
            <a:off x="4902200" y="7315200"/>
            <a:ext cx="723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Done ＝ Acceptance Contract ＋ Evidence Bundle</a:t>
            </a:r>
            <a:endParaRPr lang="en-US" sz="2200" dirty="0"/>
          </a:p>
        </p:txBody>
      </p:sp>
      <p:sp>
        <p:nvSpPr>
          <p:cNvPr id="18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11 / 20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Workspaceと追跡可能なデータモデル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Taskの実体を独立Workspaceとして管理し、判断・実行・証跡を一本のチェーンで追跡可能にする。</a:t>
            </a:r>
            <a:endParaRPr lang="en-US" sz="1600" dirty="0"/>
          </a:p>
        </p:txBody>
      </p:sp>
      <p:sp>
        <p:nvSpPr>
          <p:cNvPr id="5" name="chain-label"/>
          <p:cNvSpPr/>
          <p:nvPr/>
        </p:nvSpPr>
        <p:spPr>
          <a:xfrm>
            <a:off x="762000" y="1981200"/>
            <a:ext cx="571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TRACEABILITY CHAIN</a:t>
            </a:r>
            <a:endParaRPr lang="en-US" sz="1500" dirty="0"/>
          </a:p>
        </p:txBody>
      </p:sp>
      <p:sp>
        <p:nvSpPr>
          <p:cNvPr id="6" name="c1"/>
          <p:cNvSpPr/>
          <p:nvPr/>
        </p:nvSpPr>
        <p:spPr>
          <a:xfrm>
            <a:off x="762000" y="2489200"/>
            <a:ext cx="2006600" cy="8890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7" name="c1-text"/>
          <p:cNvSpPr/>
          <p:nvPr/>
        </p:nvSpPr>
        <p:spPr>
          <a:xfrm>
            <a:off x="762000" y="2489200"/>
            <a:ext cx="2006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</a:t>
            </a:r>
            <a:endParaRPr lang="en-US" sz="1900" dirty="0"/>
          </a:p>
        </p:txBody>
      </p:sp>
      <p:sp>
        <p:nvSpPr>
          <p:cNvPr id="8" name="ca1"/>
          <p:cNvSpPr/>
          <p:nvPr/>
        </p:nvSpPr>
        <p:spPr>
          <a:xfrm>
            <a:off x="2768600" y="2933700"/>
            <a:ext cx="5334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c2"/>
          <p:cNvSpPr/>
          <p:nvPr/>
        </p:nvSpPr>
        <p:spPr>
          <a:xfrm>
            <a:off x="3302000" y="2489200"/>
            <a:ext cx="2006600" cy="8890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10" name="c2-text"/>
          <p:cNvSpPr/>
          <p:nvPr/>
        </p:nvSpPr>
        <p:spPr>
          <a:xfrm>
            <a:off x="3302000" y="2489200"/>
            <a:ext cx="2006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Run</a:t>
            </a:r>
            <a:endParaRPr lang="en-US" sz="1900" dirty="0"/>
          </a:p>
        </p:txBody>
      </p:sp>
      <p:sp>
        <p:nvSpPr>
          <p:cNvPr id="11" name="ca2"/>
          <p:cNvSpPr/>
          <p:nvPr/>
        </p:nvSpPr>
        <p:spPr>
          <a:xfrm>
            <a:off x="5308600" y="2933700"/>
            <a:ext cx="5334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c3"/>
          <p:cNvSpPr/>
          <p:nvPr/>
        </p:nvSpPr>
        <p:spPr>
          <a:xfrm>
            <a:off x="5842000" y="2489200"/>
            <a:ext cx="2006600" cy="8890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13" name="c3-text"/>
          <p:cNvSpPr/>
          <p:nvPr/>
        </p:nvSpPr>
        <p:spPr>
          <a:xfrm>
            <a:off x="5842000" y="2489200"/>
            <a:ext cx="2006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Playbook</a:t>
            </a:r>
            <a:endParaRPr lang="en-US" sz="1900" dirty="0"/>
          </a:p>
        </p:txBody>
      </p:sp>
      <p:sp>
        <p:nvSpPr>
          <p:cNvPr id="14" name="ca3"/>
          <p:cNvSpPr/>
          <p:nvPr/>
        </p:nvSpPr>
        <p:spPr>
          <a:xfrm>
            <a:off x="7848600" y="2933700"/>
            <a:ext cx="5334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5" name="c4"/>
          <p:cNvSpPr/>
          <p:nvPr/>
        </p:nvSpPr>
        <p:spPr>
          <a:xfrm>
            <a:off x="8382000" y="2489200"/>
            <a:ext cx="2006600" cy="8890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16" name="c4-text"/>
          <p:cNvSpPr/>
          <p:nvPr/>
        </p:nvSpPr>
        <p:spPr>
          <a:xfrm>
            <a:off x="8382000" y="2489200"/>
            <a:ext cx="2006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Step</a:t>
            </a:r>
            <a:endParaRPr lang="en-US" sz="1900" dirty="0"/>
          </a:p>
        </p:txBody>
      </p:sp>
      <p:sp>
        <p:nvSpPr>
          <p:cNvPr id="17" name="ca4"/>
          <p:cNvSpPr/>
          <p:nvPr/>
        </p:nvSpPr>
        <p:spPr>
          <a:xfrm>
            <a:off x="10388600" y="2933700"/>
            <a:ext cx="5334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8" name="c5"/>
          <p:cNvSpPr/>
          <p:nvPr/>
        </p:nvSpPr>
        <p:spPr>
          <a:xfrm>
            <a:off x="10922000" y="2489200"/>
            <a:ext cx="2006600" cy="889000"/>
          </a:xfrm>
          <a:prstGeom prst="roundRect">
            <a:avLst>
              <a:gd name="adj" fmla="val 14286"/>
            </a:avLst>
          </a:prstGeom>
          <a:solidFill>
            <a:srgbClr val="1C2541"/>
          </a:solidFill>
          <a:ln/>
        </p:spPr>
      </p:sp>
      <p:sp>
        <p:nvSpPr>
          <p:cNvPr id="19" name="c5-text"/>
          <p:cNvSpPr/>
          <p:nvPr/>
        </p:nvSpPr>
        <p:spPr>
          <a:xfrm>
            <a:off x="10922000" y="2489200"/>
            <a:ext cx="2006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ToolCall</a:t>
            </a:r>
            <a:endParaRPr lang="en-US" sz="1900" dirty="0"/>
          </a:p>
        </p:txBody>
      </p:sp>
      <p:sp>
        <p:nvSpPr>
          <p:cNvPr id="20" name="ca5"/>
          <p:cNvSpPr/>
          <p:nvPr/>
        </p:nvSpPr>
        <p:spPr>
          <a:xfrm>
            <a:off x="12928600" y="2933700"/>
            <a:ext cx="5334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1" name="c6"/>
          <p:cNvSpPr/>
          <p:nvPr/>
        </p:nvSpPr>
        <p:spPr>
          <a:xfrm>
            <a:off x="13462000" y="2489200"/>
            <a:ext cx="2032000" cy="889000"/>
          </a:xfrm>
          <a:prstGeom prst="roundRect">
            <a:avLst>
              <a:gd name="adj" fmla="val 14286"/>
            </a:avLst>
          </a:prstGeom>
          <a:solidFill>
            <a:srgbClr val="17324B"/>
          </a:solidFill>
          <a:ln/>
        </p:spPr>
      </p:sp>
      <p:sp>
        <p:nvSpPr>
          <p:cNvPr id="22" name="c6-text"/>
          <p:cNvSpPr/>
          <p:nvPr/>
        </p:nvSpPr>
        <p:spPr>
          <a:xfrm>
            <a:off x="13462000" y="24892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</a:t>
            </a:r>
            <a:endParaRPr lang="en-US" sz="1900" dirty="0"/>
          </a:p>
        </p:txBody>
      </p:sp>
      <p:sp>
        <p:nvSpPr>
          <p:cNvPr id="23" name="trace-callout"/>
          <p:cNvSpPr/>
          <p:nvPr/>
        </p:nvSpPr>
        <p:spPr>
          <a:xfrm>
            <a:off x="762000" y="3810000"/>
            <a:ext cx="14732000" cy="889000"/>
          </a:xfrm>
          <a:prstGeom prst="roundRect">
            <a:avLst>
              <a:gd name="adj" fmla="val 17143"/>
            </a:avLst>
          </a:prstGeom>
          <a:solidFill>
            <a:srgbClr val="13203A"/>
          </a:solidFill>
          <a:ln/>
        </p:spPr>
      </p:sp>
      <p:pic>
        <p:nvPicPr>
          <p:cNvPr id="24" name="trac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0" y="4064000"/>
            <a:ext cx="381000" cy="381000"/>
          </a:xfrm>
          <a:prstGeom prst="rect">
            <a:avLst/>
          </a:prstGeom>
        </p:spPr>
      </p:pic>
      <p:sp>
        <p:nvSpPr>
          <p:cNvPr id="25" name="trace-text"/>
          <p:cNvSpPr/>
          <p:nvPr/>
        </p:nvSpPr>
        <p:spPr>
          <a:xfrm>
            <a:off x="1905000" y="4000500"/>
            <a:ext cx="1282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「なぜ完了と判定されたか」を、Playbook・Step・Test・Artifact・Commitまで遡って説明できる。</a:t>
            </a:r>
            <a:endParaRPr lang="en-US" sz="2000" dirty="0"/>
          </a:p>
        </p:txBody>
      </p:sp>
      <p:sp>
        <p:nvSpPr>
          <p:cNvPr id="26" name="workspace-card"/>
          <p:cNvSpPr/>
          <p:nvPr/>
        </p:nvSpPr>
        <p:spPr>
          <a:xfrm>
            <a:off x="762000" y="5207000"/>
            <a:ext cx="7239000" cy="2641600"/>
          </a:xfrm>
          <a:prstGeom prst="roundRect">
            <a:avLst>
              <a:gd name="adj" fmla="val 6731"/>
            </a:avLst>
          </a:prstGeom>
          <a:solidFill>
            <a:srgbClr val="1C2541"/>
          </a:solidFill>
          <a:ln/>
        </p:spPr>
      </p:sp>
      <p:pic>
        <p:nvPicPr>
          <p:cNvPr id="27" name="workspace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5613400"/>
            <a:ext cx="431800" cy="431800"/>
          </a:xfrm>
          <a:prstGeom prst="rect">
            <a:avLst/>
          </a:prstGeom>
        </p:spPr>
      </p:pic>
      <p:sp>
        <p:nvSpPr>
          <p:cNvPr id="28" name="workspace-title"/>
          <p:cNvSpPr/>
          <p:nvPr/>
        </p:nvSpPr>
        <p:spPr>
          <a:xfrm>
            <a:off x="1854200" y="56388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 Workspace</a:t>
            </a:r>
            <a:endParaRPr lang="en-US" sz="2100" dirty="0"/>
          </a:p>
        </p:txBody>
      </p:sp>
      <p:sp>
        <p:nvSpPr>
          <p:cNvPr id="29" name="workspace-tree"/>
          <p:cNvSpPr/>
          <p:nvPr/>
        </p:nvSpPr>
        <p:spPr>
          <a:xfrm>
            <a:off x="1168400" y="6324600"/>
            <a:ext cx="5842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/repo　/input　/output　/artifacts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/logs　/evidence　/playbooks　/reports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task.yaml　pdca/cycle-001.md</a:t>
            </a:r>
            <a:endParaRPr lang="en-US" sz="1500" dirty="0"/>
          </a:p>
        </p:txBody>
      </p:sp>
      <p:sp>
        <p:nvSpPr>
          <p:cNvPr id="30" name="data-card"/>
          <p:cNvSpPr/>
          <p:nvPr/>
        </p:nvSpPr>
        <p:spPr>
          <a:xfrm>
            <a:off x="8255000" y="5207000"/>
            <a:ext cx="7239000" cy="2641600"/>
          </a:xfrm>
          <a:prstGeom prst="roundRect">
            <a:avLst>
              <a:gd name="adj" fmla="val 6731"/>
            </a:avLst>
          </a:prstGeom>
          <a:solidFill>
            <a:srgbClr val="13203A"/>
          </a:solidFill>
          <a:ln/>
        </p:spPr>
      </p:sp>
      <p:pic>
        <p:nvPicPr>
          <p:cNvPr id="31" name="data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400" y="5613400"/>
            <a:ext cx="431800" cy="431800"/>
          </a:xfrm>
          <a:prstGeom prst="rect">
            <a:avLst/>
          </a:prstGeom>
        </p:spPr>
      </p:pic>
      <p:sp>
        <p:nvSpPr>
          <p:cNvPr id="32" name="data-title"/>
          <p:cNvSpPr/>
          <p:nvPr/>
        </p:nvSpPr>
        <p:spPr>
          <a:xfrm>
            <a:off x="9347200" y="56388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主要テーブル群</a:t>
            </a:r>
            <a:endParaRPr lang="en-US" sz="2100" dirty="0"/>
          </a:p>
        </p:txBody>
      </p:sp>
      <p:sp>
        <p:nvSpPr>
          <p:cNvPr id="33" name="data-body"/>
          <p:cNvSpPr/>
          <p:nvPr/>
        </p:nvSpPr>
        <p:spPr>
          <a:xfrm>
            <a:off x="8661400" y="6324600"/>
            <a:ext cx="6096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organizations / projects / credentials / workspaces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skills / skill_versions / tasks / task_runs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playbooks / step_runs / evaluations / audit_logs</a:t>
            </a:r>
            <a:endParaRPr lang="en-US" sz="1500" dirty="0"/>
          </a:p>
        </p:txBody>
      </p:sp>
      <p:sp>
        <p:nvSpPr>
          <p:cNvPr id="34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12 / 20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422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Governance：Credential・Permission・Tenant分離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汎用Agentの最大リスクは能力不足より過剰権限。安全な実行境界をRuntimeから独立して管理する。</a:t>
            </a:r>
            <a:endParaRPr lang="en-US" sz="1600" dirty="0"/>
          </a:p>
        </p:txBody>
      </p:sp>
      <p:sp>
        <p:nvSpPr>
          <p:cNvPr id="5" name="vault-card"/>
          <p:cNvSpPr/>
          <p:nvPr/>
        </p:nvSpPr>
        <p:spPr>
          <a:xfrm>
            <a:off x="762000" y="2108200"/>
            <a:ext cx="4445000" cy="46482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/>
        </p:spPr>
      </p:sp>
      <p:pic>
        <p:nvPicPr>
          <p:cNvPr id="6" name="vaul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2565400"/>
            <a:ext cx="482600" cy="482600"/>
          </a:xfrm>
          <a:prstGeom prst="rect">
            <a:avLst/>
          </a:prstGeom>
        </p:spPr>
      </p:pic>
      <p:sp>
        <p:nvSpPr>
          <p:cNvPr id="7" name="vault-title"/>
          <p:cNvSpPr/>
          <p:nvPr/>
        </p:nvSpPr>
        <p:spPr>
          <a:xfrm>
            <a:off x="1905000" y="2603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Credential Vault</a:t>
            </a:r>
            <a:endParaRPr lang="en-US" sz="2100" dirty="0"/>
          </a:p>
        </p:txBody>
      </p:sp>
      <p:sp>
        <p:nvSpPr>
          <p:cNvPr id="8" name="vault-body"/>
          <p:cNvSpPr/>
          <p:nvPr/>
        </p:nvSpPr>
        <p:spPr>
          <a:xfrm>
            <a:off x="1168400" y="3429000"/>
            <a:ext cx="34290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API KeyはBrowserから直接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Model APIへ送らない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サーバー側でEncrypt → KMS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Project / Scope / Expiryで制御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画面はマスク済み情報のみ表示</a:t>
            </a:r>
            <a:endParaRPr lang="en-US" sz="1600" dirty="0"/>
          </a:p>
        </p:txBody>
      </p:sp>
      <p:sp>
        <p:nvSpPr>
          <p:cNvPr id="9" name="permission-card"/>
          <p:cNvSpPr/>
          <p:nvPr/>
        </p:nvSpPr>
        <p:spPr>
          <a:xfrm>
            <a:off x="5905500" y="2108200"/>
            <a:ext cx="4445000" cy="4648200"/>
          </a:xfrm>
          <a:prstGeom prst="roundRect">
            <a:avLst>
              <a:gd name="adj" fmla="val 4571"/>
            </a:avLst>
          </a:prstGeom>
          <a:solidFill>
            <a:srgbClr val="13203A"/>
          </a:solidFill>
          <a:ln/>
        </p:spPr>
      </p:sp>
      <p:pic>
        <p:nvPicPr>
          <p:cNvPr id="10" name="permission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2565400"/>
            <a:ext cx="482600" cy="482600"/>
          </a:xfrm>
          <a:prstGeom prst="rect">
            <a:avLst/>
          </a:prstGeom>
        </p:spPr>
      </p:pic>
      <p:sp>
        <p:nvSpPr>
          <p:cNvPr id="11" name="permission-title"/>
          <p:cNvSpPr/>
          <p:nvPr/>
        </p:nvSpPr>
        <p:spPr>
          <a:xfrm>
            <a:off x="7048500" y="2603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Permission Engine</a:t>
            </a:r>
            <a:endParaRPr lang="en-US" sz="2100" dirty="0"/>
          </a:p>
        </p:txBody>
      </p:sp>
      <p:sp>
        <p:nvSpPr>
          <p:cNvPr id="12" name="p-auto"/>
          <p:cNvSpPr/>
          <p:nvPr/>
        </p:nvSpPr>
        <p:spPr>
          <a:xfrm>
            <a:off x="6311900" y="3429000"/>
            <a:ext cx="3632200" cy="609600"/>
          </a:xfrm>
          <a:prstGeom prst="roundRect">
            <a:avLst>
              <a:gd name="adj" fmla="val 16667"/>
            </a:avLst>
          </a:prstGeom>
          <a:solidFill>
            <a:srgbClr val="193825"/>
          </a:solidFill>
          <a:ln/>
        </p:spPr>
      </p:sp>
      <p:sp>
        <p:nvSpPr>
          <p:cNvPr id="13" name="p-auto-text"/>
          <p:cNvSpPr/>
          <p:nvPr/>
        </p:nvSpPr>
        <p:spPr>
          <a:xfrm>
            <a:off x="6527800" y="35941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AUTO　Read / Search / Test / Lint</a:t>
            </a:r>
            <a:endParaRPr lang="en-US" sz="1500" dirty="0"/>
          </a:p>
        </p:txBody>
      </p:sp>
      <p:sp>
        <p:nvSpPr>
          <p:cNvPr id="14" name="p-ask"/>
          <p:cNvSpPr/>
          <p:nvPr/>
        </p:nvSpPr>
        <p:spPr>
          <a:xfrm>
            <a:off x="6311900" y="4241800"/>
            <a:ext cx="3632200" cy="609600"/>
          </a:xfrm>
          <a:prstGeom prst="roundRect">
            <a:avLst>
              <a:gd name="adj" fmla="val 16667"/>
            </a:avLst>
          </a:prstGeom>
          <a:solidFill>
            <a:srgbClr val="2B2D1A"/>
          </a:solidFill>
          <a:ln/>
        </p:spPr>
      </p:sp>
      <p:sp>
        <p:nvSpPr>
          <p:cNvPr id="15" name="p-ask-text"/>
          <p:cNvSpPr/>
          <p:nvPr/>
        </p:nvSpPr>
        <p:spPr>
          <a:xfrm>
            <a:off x="6527800" y="44069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ASK　Git Push / Prod Deploy</a:t>
            </a:r>
            <a:endParaRPr lang="en-US" sz="1500" dirty="0"/>
          </a:p>
        </p:txBody>
      </p:sp>
      <p:sp>
        <p:nvSpPr>
          <p:cNvPr id="16" name="p-never"/>
          <p:cNvSpPr/>
          <p:nvPr/>
        </p:nvSpPr>
        <p:spPr>
          <a:xfrm>
            <a:off x="6311900" y="5054600"/>
            <a:ext cx="3632200" cy="609600"/>
          </a:xfrm>
          <a:prstGeom prst="roundRect">
            <a:avLst>
              <a:gd name="adj" fmla="val 16667"/>
            </a:avLst>
          </a:prstGeom>
          <a:solidFill>
            <a:srgbClr val="2A1A2A"/>
          </a:solidFill>
          <a:ln/>
        </p:spPr>
      </p:sp>
      <p:sp>
        <p:nvSpPr>
          <p:cNvPr id="17" name="p-never-text"/>
          <p:cNvSpPr/>
          <p:nvPr/>
        </p:nvSpPr>
        <p:spPr>
          <a:xfrm>
            <a:off x="6527800" y="52197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NEVER　Secret Exfiltration / Isolation Bypass</a:t>
            </a:r>
            <a:endParaRPr lang="en-US" sz="1500" dirty="0"/>
          </a:p>
        </p:txBody>
      </p:sp>
      <p:sp>
        <p:nvSpPr>
          <p:cNvPr id="18" name="tenant-card"/>
          <p:cNvSpPr/>
          <p:nvPr/>
        </p:nvSpPr>
        <p:spPr>
          <a:xfrm>
            <a:off x="11049000" y="2108200"/>
            <a:ext cx="4445000" cy="46482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/>
        </p:spPr>
      </p:sp>
      <p:pic>
        <p:nvPicPr>
          <p:cNvPr id="19" name="tenant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400" y="2565400"/>
            <a:ext cx="482600" cy="482600"/>
          </a:xfrm>
          <a:prstGeom prst="rect">
            <a:avLst/>
          </a:prstGeom>
        </p:spPr>
      </p:pic>
      <p:sp>
        <p:nvSpPr>
          <p:cNvPr id="20" name="tenant-title"/>
          <p:cNvSpPr/>
          <p:nvPr/>
        </p:nvSpPr>
        <p:spPr>
          <a:xfrm>
            <a:off x="12192000" y="2603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Multi-Tenant</a:t>
            </a:r>
            <a:endParaRPr lang="en-US" sz="2100" dirty="0"/>
          </a:p>
        </p:txBody>
      </p:sp>
      <p:sp>
        <p:nvSpPr>
          <p:cNvPr id="21" name="tenant-body"/>
          <p:cNvSpPr/>
          <p:nvPr/>
        </p:nvSpPr>
        <p:spPr>
          <a:xfrm>
            <a:off x="11455400" y="3429000"/>
            <a:ext cx="34290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TenantごとにNamespaceを分離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/ Secret / Project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Workspace / Artifact / Audit Log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Cost / Runtime / Model Usage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を最初から分離する</a:t>
            </a:r>
            <a:endParaRPr lang="en-US" sz="1600" dirty="0"/>
          </a:p>
        </p:txBody>
      </p:sp>
      <p:sp>
        <p:nvSpPr>
          <p:cNvPr id="22" name="governance-callout"/>
          <p:cNvSpPr/>
          <p:nvPr/>
        </p:nvSpPr>
        <p:spPr>
          <a:xfrm>
            <a:off x="762000" y="7239000"/>
            <a:ext cx="14732000" cy="736600"/>
          </a:xfrm>
          <a:prstGeom prst="roundRect">
            <a:avLst>
              <a:gd name="adj" fmla="val 20690"/>
            </a:avLst>
          </a:prstGeom>
          <a:solidFill>
            <a:srgbClr val="17324B"/>
          </a:solidFill>
          <a:ln/>
        </p:spPr>
      </p:sp>
      <p:sp>
        <p:nvSpPr>
          <p:cNvPr id="23" name="governance-callout-text"/>
          <p:cNvSpPr/>
          <p:nvPr/>
        </p:nvSpPr>
        <p:spPr>
          <a:xfrm>
            <a:off x="762000" y="7239000"/>
            <a:ext cx="1473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Governanceがなければ、汎用Agentは「便利なAI」ではなく高権限のRemote Shellに近づく。</a:t>
            </a:r>
            <a:endParaRPr lang="en-US" sz="2000" dirty="0"/>
          </a:p>
        </p:txBody>
      </p:sp>
      <p:sp>
        <p:nvSpPr>
          <p:cNvPr id="24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13 / 20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422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Intelligent Orchestration：Skill RouterとMulti-Agent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0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数百・数千のSkillを全読み込みせず、タスクを分類・ランキングし、必要な実行能力だけを動的に構成する。</a:t>
            </a:r>
            <a:endParaRPr lang="en-US" sz="1600" dirty="0"/>
          </a:p>
        </p:txBody>
      </p:sp>
      <p:sp>
        <p:nvSpPr>
          <p:cNvPr id="5" name="task"/>
          <p:cNvSpPr/>
          <p:nvPr/>
        </p:nvSpPr>
        <p:spPr>
          <a:xfrm>
            <a:off x="762000" y="2082800"/>
            <a:ext cx="2413000" cy="812800"/>
          </a:xfrm>
          <a:prstGeom prst="roundRect">
            <a:avLst>
              <a:gd name="adj" fmla="val 15625"/>
            </a:avLst>
          </a:prstGeom>
          <a:solidFill>
            <a:srgbClr val="1C2541"/>
          </a:solidFill>
          <a:ln/>
        </p:spPr>
      </p:sp>
      <p:sp>
        <p:nvSpPr>
          <p:cNvPr id="6" name="task-text"/>
          <p:cNvSpPr/>
          <p:nvPr/>
        </p:nvSpPr>
        <p:spPr>
          <a:xfrm>
            <a:off x="762000" y="2082800"/>
            <a:ext cx="241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</a:t>
            </a:r>
            <a:endParaRPr lang="en-US" sz="1900" dirty="0"/>
          </a:p>
        </p:txBody>
      </p:sp>
      <p:sp>
        <p:nvSpPr>
          <p:cNvPr id="7" name="flow-1"/>
          <p:cNvSpPr/>
          <p:nvPr/>
        </p:nvSpPr>
        <p:spPr>
          <a:xfrm>
            <a:off x="3175000" y="2489200"/>
            <a:ext cx="5842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classifier"/>
          <p:cNvSpPr/>
          <p:nvPr/>
        </p:nvSpPr>
        <p:spPr>
          <a:xfrm>
            <a:off x="3759200" y="2082800"/>
            <a:ext cx="2794000" cy="812800"/>
          </a:xfrm>
          <a:prstGeom prst="roundRect">
            <a:avLst>
              <a:gd name="adj" fmla="val 15625"/>
            </a:avLst>
          </a:prstGeom>
          <a:solidFill>
            <a:srgbClr val="1C2541"/>
          </a:solidFill>
          <a:ln/>
        </p:spPr>
      </p:sp>
      <p:sp>
        <p:nvSpPr>
          <p:cNvPr id="9" name="classifier-text"/>
          <p:cNvSpPr/>
          <p:nvPr/>
        </p:nvSpPr>
        <p:spPr>
          <a:xfrm>
            <a:off x="3759200" y="2082800"/>
            <a:ext cx="279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 Classifier</a:t>
            </a:r>
            <a:endParaRPr lang="en-US" sz="1800" dirty="0"/>
          </a:p>
        </p:txBody>
      </p:sp>
      <p:sp>
        <p:nvSpPr>
          <p:cNvPr id="10" name="flow-2"/>
          <p:cNvSpPr/>
          <p:nvPr/>
        </p:nvSpPr>
        <p:spPr>
          <a:xfrm>
            <a:off x="6553200" y="2489200"/>
            <a:ext cx="5842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router"/>
          <p:cNvSpPr/>
          <p:nvPr/>
        </p:nvSpPr>
        <p:spPr>
          <a:xfrm>
            <a:off x="7137400" y="2082800"/>
            <a:ext cx="2794000" cy="812800"/>
          </a:xfrm>
          <a:prstGeom prst="roundRect">
            <a:avLst>
              <a:gd name="adj" fmla="val 15625"/>
            </a:avLst>
          </a:prstGeom>
          <a:solidFill>
            <a:srgbClr val="17324B"/>
          </a:solidFill>
          <a:ln/>
        </p:spPr>
      </p:sp>
      <p:sp>
        <p:nvSpPr>
          <p:cNvPr id="12" name="router-text"/>
          <p:cNvSpPr/>
          <p:nvPr/>
        </p:nvSpPr>
        <p:spPr>
          <a:xfrm>
            <a:off x="7137400" y="2082800"/>
            <a:ext cx="279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Router</a:t>
            </a:r>
            <a:endParaRPr lang="en-US" sz="1800" dirty="0"/>
          </a:p>
        </p:txBody>
      </p:sp>
      <p:sp>
        <p:nvSpPr>
          <p:cNvPr id="13" name="flow-3"/>
          <p:cNvSpPr/>
          <p:nvPr/>
        </p:nvSpPr>
        <p:spPr>
          <a:xfrm>
            <a:off x="9931400" y="2489200"/>
            <a:ext cx="5842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selected"/>
          <p:cNvSpPr/>
          <p:nvPr/>
        </p:nvSpPr>
        <p:spPr>
          <a:xfrm>
            <a:off x="10515600" y="2082800"/>
            <a:ext cx="4978400" cy="812800"/>
          </a:xfrm>
          <a:prstGeom prst="roundRect">
            <a:avLst>
              <a:gd name="adj" fmla="val 15625"/>
            </a:avLst>
          </a:prstGeom>
          <a:solidFill>
            <a:srgbClr val="1C2541"/>
          </a:solidFill>
          <a:ln/>
        </p:spPr>
      </p:sp>
      <p:sp>
        <p:nvSpPr>
          <p:cNvPr id="15" name="selected-text"/>
          <p:cNvSpPr/>
          <p:nvPr/>
        </p:nvSpPr>
        <p:spPr>
          <a:xfrm>
            <a:off x="10515600" y="2082800"/>
            <a:ext cx="497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Candidate Skills → Semantic Ranking → Selected Skills</a:t>
            </a:r>
            <a:endParaRPr lang="en-US" sz="1600" dirty="0"/>
          </a:p>
        </p:txBody>
      </p:sp>
      <p:sp>
        <p:nvSpPr>
          <p:cNvPr id="16" name="down"/>
          <p:cNvSpPr/>
          <p:nvPr/>
        </p:nvSpPr>
        <p:spPr>
          <a:xfrm>
            <a:off x="8128000" y="2895600"/>
            <a:ext cx="9144" cy="711200"/>
          </a:xfrm>
          <a:prstGeom prst="line">
            <a:avLst/>
          </a:prstGeom>
          <a:ln w="25400">
            <a:solidFill>
              <a:srgbClr val="00FFFF"/>
            </a:solidFill>
            <a:prstDash val="solid"/>
            <a:tailEnd type="triangle"/>
          </a:ln>
        </p:spPr>
      </p:sp>
      <p:sp>
        <p:nvSpPr>
          <p:cNvPr id="17" name="coordinator"/>
          <p:cNvSpPr/>
          <p:nvPr/>
        </p:nvSpPr>
        <p:spPr>
          <a:xfrm>
            <a:off x="5651500" y="3810000"/>
            <a:ext cx="4953000" cy="787400"/>
          </a:xfrm>
          <a:prstGeom prst="roundRect">
            <a:avLst>
              <a:gd name="adj" fmla="val 19355"/>
            </a:avLst>
          </a:prstGeom>
          <a:solidFill>
            <a:srgbClr val="13203A"/>
          </a:solidFill>
          <a:ln/>
        </p:spPr>
      </p:sp>
      <p:pic>
        <p:nvPicPr>
          <p:cNvPr id="18" name="coordina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4038600"/>
            <a:ext cx="330200" cy="330200"/>
          </a:xfrm>
          <a:prstGeom prst="rect">
            <a:avLst/>
          </a:prstGeom>
        </p:spPr>
      </p:pic>
      <p:sp>
        <p:nvSpPr>
          <p:cNvPr id="19" name="coordinator-text"/>
          <p:cNvSpPr/>
          <p:nvPr/>
        </p:nvSpPr>
        <p:spPr>
          <a:xfrm>
            <a:off x="6604000" y="40132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Coordinator</a:t>
            </a:r>
            <a:endParaRPr lang="en-US" sz="2000" dirty="0"/>
          </a:p>
        </p:txBody>
      </p:sp>
      <p:sp>
        <p:nvSpPr>
          <p:cNvPr id="20" name="agent-line"/>
          <p:cNvSpPr/>
          <p:nvPr/>
        </p:nvSpPr>
        <p:spPr>
          <a:xfrm>
            <a:off x="8128000" y="4597400"/>
            <a:ext cx="9144" cy="457200"/>
          </a:xfrm>
          <a:prstGeom prst="line">
            <a:avLst/>
          </a:prstGeom>
          <a:ln w="25400">
            <a:solidFill>
              <a:srgbClr val="334155"/>
            </a:solidFill>
            <a:prstDash val="solid"/>
          </a:ln>
        </p:spPr>
      </p:sp>
      <p:sp>
        <p:nvSpPr>
          <p:cNvPr id="21" name="agent-line-h"/>
          <p:cNvSpPr/>
          <p:nvPr/>
        </p:nvSpPr>
        <p:spPr>
          <a:xfrm>
            <a:off x="2921000" y="5054600"/>
            <a:ext cx="104140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</a:ln>
        </p:spPr>
      </p:sp>
      <p:sp>
        <p:nvSpPr>
          <p:cNvPr id="22" name="ag-1-line"/>
          <p:cNvSpPr/>
          <p:nvPr/>
        </p:nvSpPr>
        <p:spPr>
          <a:xfrm>
            <a:off x="2921000" y="5054600"/>
            <a:ext cx="9144" cy="279400"/>
          </a:xfrm>
          <a:prstGeom prst="line">
            <a:avLst/>
          </a:prstGeom>
          <a:ln w="25400">
            <a:solidFill>
              <a:srgbClr val="334155"/>
            </a:solidFill>
            <a:prstDash val="solid"/>
          </a:ln>
        </p:spPr>
      </p:sp>
      <p:sp>
        <p:nvSpPr>
          <p:cNvPr id="23" name="ag-2-line"/>
          <p:cNvSpPr/>
          <p:nvPr/>
        </p:nvSpPr>
        <p:spPr>
          <a:xfrm>
            <a:off x="5524500" y="5054600"/>
            <a:ext cx="9144" cy="279400"/>
          </a:xfrm>
          <a:prstGeom prst="line">
            <a:avLst/>
          </a:prstGeom>
          <a:ln w="25400">
            <a:solidFill>
              <a:srgbClr val="334155"/>
            </a:solidFill>
            <a:prstDash val="solid"/>
          </a:ln>
        </p:spPr>
      </p:sp>
      <p:sp>
        <p:nvSpPr>
          <p:cNvPr id="24" name="ag-3-line"/>
          <p:cNvSpPr/>
          <p:nvPr/>
        </p:nvSpPr>
        <p:spPr>
          <a:xfrm>
            <a:off x="8128000" y="5054600"/>
            <a:ext cx="9144" cy="279400"/>
          </a:xfrm>
          <a:prstGeom prst="line">
            <a:avLst/>
          </a:prstGeom>
          <a:ln w="25400">
            <a:solidFill>
              <a:srgbClr val="334155"/>
            </a:solidFill>
            <a:prstDash val="solid"/>
          </a:ln>
        </p:spPr>
      </p:sp>
      <p:sp>
        <p:nvSpPr>
          <p:cNvPr id="25" name="ag-4-line"/>
          <p:cNvSpPr/>
          <p:nvPr/>
        </p:nvSpPr>
        <p:spPr>
          <a:xfrm>
            <a:off x="10731500" y="5054600"/>
            <a:ext cx="9144" cy="279400"/>
          </a:xfrm>
          <a:prstGeom prst="line">
            <a:avLst/>
          </a:prstGeom>
          <a:ln w="25400">
            <a:solidFill>
              <a:srgbClr val="334155"/>
            </a:solidFill>
            <a:prstDash val="solid"/>
          </a:ln>
        </p:spPr>
      </p:sp>
      <p:sp>
        <p:nvSpPr>
          <p:cNvPr id="26" name="ag-5-line"/>
          <p:cNvSpPr/>
          <p:nvPr/>
        </p:nvSpPr>
        <p:spPr>
          <a:xfrm>
            <a:off x="13335000" y="5054600"/>
            <a:ext cx="9144" cy="279400"/>
          </a:xfrm>
          <a:prstGeom prst="line">
            <a:avLst/>
          </a:prstGeom>
          <a:ln w="25400">
            <a:solidFill>
              <a:srgbClr val="334155"/>
            </a:solidFill>
            <a:prstDash val="solid"/>
          </a:ln>
        </p:spPr>
      </p:sp>
      <p:sp>
        <p:nvSpPr>
          <p:cNvPr id="27" name="ag-1"/>
          <p:cNvSpPr/>
          <p:nvPr/>
        </p:nvSpPr>
        <p:spPr>
          <a:xfrm>
            <a:off x="1714500" y="5334000"/>
            <a:ext cx="2413000" cy="1092200"/>
          </a:xfrm>
          <a:prstGeom prst="roundRect">
            <a:avLst>
              <a:gd name="adj" fmla="val 11628"/>
            </a:avLst>
          </a:prstGeom>
          <a:solidFill>
            <a:srgbClr val="1C2541"/>
          </a:solidFill>
          <a:ln/>
        </p:spPr>
      </p:sp>
      <p:sp>
        <p:nvSpPr>
          <p:cNvPr id="28" name="ag-1-text"/>
          <p:cNvSpPr/>
          <p:nvPr/>
        </p:nvSpPr>
        <p:spPr>
          <a:xfrm>
            <a:off x="1714500" y="5334000"/>
            <a:ext cx="241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Architect Agent</a:t>
            </a:r>
            <a:endParaRPr lang="en-US" sz="1600" dirty="0"/>
          </a:p>
        </p:txBody>
      </p:sp>
      <p:sp>
        <p:nvSpPr>
          <p:cNvPr id="29" name="ag-2"/>
          <p:cNvSpPr/>
          <p:nvPr/>
        </p:nvSpPr>
        <p:spPr>
          <a:xfrm>
            <a:off x="4318000" y="5334000"/>
            <a:ext cx="2413000" cy="1092200"/>
          </a:xfrm>
          <a:prstGeom prst="roundRect">
            <a:avLst>
              <a:gd name="adj" fmla="val 11628"/>
            </a:avLst>
          </a:prstGeom>
          <a:solidFill>
            <a:srgbClr val="1C2541"/>
          </a:solidFill>
          <a:ln/>
        </p:spPr>
      </p:sp>
      <p:sp>
        <p:nvSpPr>
          <p:cNvPr id="30" name="ag-2-text"/>
          <p:cNvSpPr/>
          <p:nvPr/>
        </p:nvSpPr>
        <p:spPr>
          <a:xfrm>
            <a:off x="4318000" y="5334000"/>
            <a:ext cx="241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Backend Agent</a:t>
            </a:r>
            <a:endParaRPr lang="en-US" sz="1600" dirty="0"/>
          </a:p>
        </p:txBody>
      </p:sp>
      <p:sp>
        <p:nvSpPr>
          <p:cNvPr id="31" name="ag-3"/>
          <p:cNvSpPr/>
          <p:nvPr/>
        </p:nvSpPr>
        <p:spPr>
          <a:xfrm>
            <a:off x="6921500" y="5334000"/>
            <a:ext cx="2413000" cy="1092200"/>
          </a:xfrm>
          <a:prstGeom prst="roundRect">
            <a:avLst>
              <a:gd name="adj" fmla="val 11628"/>
            </a:avLst>
          </a:prstGeom>
          <a:solidFill>
            <a:srgbClr val="1C2541"/>
          </a:solidFill>
          <a:ln/>
        </p:spPr>
      </p:sp>
      <p:sp>
        <p:nvSpPr>
          <p:cNvPr id="32" name="ag-3-text"/>
          <p:cNvSpPr/>
          <p:nvPr/>
        </p:nvSpPr>
        <p:spPr>
          <a:xfrm>
            <a:off x="6921500" y="5334000"/>
            <a:ext cx="241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Frontend Agent</a:t>
            </a:r>
            <a:endParaRPr lang="en-US" sz="1600" dirty="0"/>
          </a:p>
        </p:txBody>
      </p:sp>
      <p:sp>
        <p:nvSpPr>
          <p:cNvPr id="33" name="ag-4"/>
          <p:cNvSpPr/>
          <p:nvPr/>
        </p:nvSpPr>
        <p:spPr>
          <a:xfrm>
            <a:off x="9525000" y="5334000"/>
            <a:ext cx="2413000" cy="1092200"/>
          </a:xfrm>
          <a:prstGeom prst="roundRect">
            <a:avLst>
              <a:gd name="adj" fmla="val 11628"/>
            </a:avLst>
          </a:prstGeom>
          <a:solidFill>
            <a:srgbClr val="1C2541"/>
          </a:solidFill>
          <a:ln/>
        </p:spPr>
      </p:sp>
      <p:sp>
        <p:nvSpPr>
          <p:cNvPr id="34" name="ag-4-text"/>
          <p:cNvSpPr/>
          <p:nvPr/>
        </p:nvSpPr>
        <p:spPr>
          <a:xfrm>
            <a:off x="9525000" y="5334000"/>
            <a:ext cx="241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Testing Agent</a:t>
            </a:r>
            <a:endParaRPr lang="en-US" sz="1600" dirty="0"/>
          </a:p>
        </p:txBody>
      </p:sp>
      <p:sp>
        <p:nvSpPr>
          <p:cNvPr id="35" name="ag-5"/>
          <p:cNvSpPr/>
          <p:nvPr/>
        </p:nvSpPr>
        <p:spPr>
          <a:xfrm>
            <a:off x="12128500" y="5334000"/>
            <a:ext cx="2413000" cy="1092200"/>
          </a:xfrm>
          <a:prstGeom prst="roundRect">
            <a:avLst>
              <a:gd name="adj" fmla="val 11628"/>
            </a:avLst>
          </a:prstGeom>
          <a:solidFill>
            <a:srgbClr val="1C2541"/>
          </a:solidFill>
          <a:ln/>
        </p:spPr>
      </p:sp>
      <p:sp>
        <p:nvSpPr>
          <p:cNvPr id="36" name="ag-5-text"/>
          <p:cNvSpPr/>
          <p:nvPr/>
        </p:nvSpPr>
        <p:spPr>
          <a:xfrm>
            <a:off x="12128500" y="5334000"/>
            <a:ext cx="2413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Security Agent</a:t>
            </a:r>
            <a:endParaRPr lang="en-US" sz="1600" dirty="0"/>
          </a:p>
        </p:txBody>
      </p:sp>
      <p:sp>
        <p:nvSpPr>
          <p:cNvPr id="37" name="integration"/>
          <p:cNvSpPr/>
          <p:nvPr/>
        </p:nvSpPr>
        <p:spPr>
          <a:xfrm>
            <a:off x="3810000" y="6959600"/>
            <a:ext cx="8636000" cy="736600"/>
          </a:xfrm>
          <a:prstGeom prst="roundRect">
            <a:avLst>
              <a:gd name="adj" fmla="val 20690"/>
            </a:avLst>
          </a:prstGeom>
          <a:solidFill>
            <a:srgbClr val="17324B"/>
          </a:solidFill>
          <a:ln/>
        </p:spPr>
      </p:sp>
      <p:sp>
        <p:nvSpPr>
          <p:cNvPr id="38" name="integration-text"/>
          <p:cNvSpPr/>
          <p:nvPr/>
        </p:nvSpPr>
        <p:spPr>
          <a:xfrm>
            <a:off x="3810000" y="6959600"/>
            <a:ext cx="8636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Integration → Evaluation → PDCA</a:t>
            </a:r>
            <a:endParaRPr lang="en-US" sz="2000" dirty="0"/>
          </a:p>
        </p:txBody>
      </p:sp>
      <p:sp>
        <p:nvSpPr>
          <p:cNvPr id="39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14 / 20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RuntimeとModelの抽象化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0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V1はManaged Runtimeで開発量を抑え、必要に応じてSelf-hosted Runtimeと複数Model Providerへ拡張する。</a:t>
            </a:r>
            <a:endParaRPr lang="en-US" sz="1600" dirty="0"/>
          </a:p>
        </p:txBody>
      </p:sp>
      <p:sp>
        <p:nvSpPr>
          <p:cNvPr id="5" name="api"/>
          <p:cNvSpPr/>
          <p:nvPr/>
        </p:nvSpPr>
        <p:spPr>
          <a:xfrm>
            <a:off x="3810000" y="1981200"/>
            <a:ext cx="8636000" cy="736600"/>
          </a:xfrm>
          <a:prstGeom prst="roundRect">
            <a:avLst>
              <a:gd name="adj" fmla="val 20690"/>
            </a:avLst>
          </a:prstGeom>
          <a:solidFill>
            <a:srgbClr val="13203A"/>
          </a:solidFill>
          <a:ln/>
        </p:spPr>
      </p:sp>
      <p:pic>
        <p:nvPicPr>
          <p:cNvPr id="6" name="api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0" y="2197100"/>
            <a:ext cx="304800" cy="304800"/>
          </a:xfrm>
          <a:prstGeom prst="rect">
            <a:avLst/>
          </a:prstGeom>
        </p:spPr>
      </p:pic>
      <p:sp>
        <p:nvSpPr>
          <p:cNvPr id="7" name="api-text"/>
          <p:cNvSpPr/>
          <p:nvPr/>
        </p:nvSpPr>
        <p:spPr>
          <a:xfrm>
            <a:off x="4749800" y="2108200"/>
            <a:ext cx="660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Agent Runtime API / Model Provider Abstraction</a:t>
            </a:r>
            <a:endParaRPr lang="en-US" sz="2000" dirty="0"/>
          </a:p>
        </p:txBody>
      </p:sp>
      <p:sp>
        <p:nvSpPr>
          <p:cNvPr id="8" name="api-down-1"/>
          <p:cNvSpPr/>
          <p:nvPr/>
        </p:nvSpPr>
        <p:spPr>
          <a:xfrm>
            <a:off x="6096000" y="2717800"/>
            <a:ext cx="9144" cy="431800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api-down-2"/>
          <p:cNvSpPr/>
          <p:nvPr/>
        </p:nvSpPr>
        <p:spPr>
          <a:xfrm>
            <a:off x="10160000" y="2717800"/>
            <a:ext cx="9144" cy="431800"/>
          </a:xfrm>
          <a:prstGeom prst="line">
            <a:avLst/>
          </a:prstGeom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0" name="managed-card"/>
          <p:cNvSpPr/>
          <p:nvPr/>
        </p:nvSpPr>
        <p:spPr>
          <a:xfrm>
            <a:off x="1270000" y="3327400"/>
            <a:ext cx="6350000" cy="2794000"/>
          </a:xfrm>
          <a:prstGeom prst="roundRect">
            <a:avLst>
              <a:gd name="adj" fmla="val 7273"/>
            </a:avLst>
          </a:prstGeom>
          <a:solidFill>
            <a:srgbClr val="1C2541"/>
          </a:solidFill>
          <a:ln/>
        </p:spPr>
      </p:sp>
      <p:sp>
        <p:nvSpPr>
          <p:cNvPr id="11" name="managed-label"/>
          <p:cNvSpPr/>
          <p:nvPr/>
        </p:nvSpPr>
        <p:spPr>
          <a:xfrm>
            <a:off x="1676400" y="37338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PHASE 1</a:t>
            </a:r>
            <a:endParaRPr lang="en-US" sz="1500" dirty="0"/>
          </a:p>
        </p:txBody>
      </p:sp>
      <p:sp>
        <p:nvSpPr>
          <p:cNvPr id="12" name="managed-title"/>
          <p:cNvSpPr/>
          <p:nvPr/>
        </p:nvSpPr>
        <p:spPr>
          <a:xfrm>
            <a:off x="1676400" y="4216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Managed Runtime</a:t>
            </a:r>
            <a:endParaRPr lang="en-US" sz="2200" dirty="0"/>
          </a:p>
        </p:txBody>
      </p:sp>
      <p:sp>
        <p:nvSpPr>
          <p:cNvPr id="13" name="managed-body"/>
          <p:cNvSpPr/>
          <p:nvPr/>
        </p:nvSpPr>
        <p:spPr>
          <a:xfrm>
            <a:off x="1676400" y="4876800"/>
            <a:ext cx="482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一般的なWeb開発 / Repo分析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Build・Test / 文書生成 / Playbook実行</a:t>
            </a:r>
            <a:endParaRPr lang="en-US" sz="1600" dirty="0"/>
          </a:p>
        </p:txBody>
      </p:sp>
      <p:sp>
        <p:nvSpPr>
          <p:cNvPr id="14" name="self-card"/>
          <p:cNvSpPr/>
          <p:nvPr/>
        </p:nvSpPr>
        <p:spPr>
          <a:xfrm>
            <a:off x="8636000" y="3327400"/>
            <a:ext cx="6350000" cy="2794000"/>
          </a:xfrm>
          <a:prstGeom prst="roundRect">
            <a:avLst>
              <a:gd name="adj" fmla="val 7273"/>
            </a:avLst>
          </a:prstGeom>
          <a:solidFill>
            <a:srgbClr val="13203A"/>
          </a:solidFill>
          <a:ln/>
        </p:spPr>
      </p:sp>
      <p:sp>
        <p:nvSpPr>
          <p:cNvPr id="15" name="self-label"/>
          <p:cNvSpPr/>
          <p:nvPr/>
        </p:nvSpPr>
        <p:spPr>
          <a:xfrm>
            <a:off x="9042400" y="37338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PHASE 2</a:t>
            </a:r>
            <a:endParaRPr lang="en-US" sz="1500" dirty="0"/>
          </a:p>
        </p:txBody>
      </p:sp>
      <p:sp>
        <p:nvSpPr>
          <p:cNvPr id="16" name="self-title"/>
          <p:cNvSpPr/>
          <p:nvPr/>
        </p:nvSpPr>
        <p:spPr>
          <a:xfrm>
            <a:off x="9042400" y="42164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Self-hosted Runtime</a:t>
            </a:r>
            <a:endParaRPr lang="en-US" sz="2200" dirty="0"/>
          </a:p>
        </p:txBody>
      </p:sp>
      <p:sp>
        <p:nvSpPr>
          <p:cNvPr id="17" name="self-body"/>
          <p:cNvSpPr/>
          <p:nvPr/>
        </p:nvSpPr>
        <p:spPr>
          <a:xfrm>
            <a:off x="9042400" y="4876800"/>
            <a:ext cx="482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Private Git / 社内NW / 大型DB / GPU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特殊SDK / 厳格なデータ所在地要件</a:t>
            </a:r>
            <a:endParaRPr lang="en-US" sz="1600" dirty="0"/>
          </a:p>
        </p:txBody>
      </p:sp>
      <p:sp>
        <p:nvSpPr>
          <p:cNvPr id="18" name="profiles"/>
          <p:cNvSpPr/>
          <p:nvPr/>
        </p:nvSpPr>
        <p:spPr>
          <a:xfrm>
            <a:off x="1270000" y="6629400"/>
            <a:ext cx="13716000" cy="736600"/>
          </a:xfrm>
          <a:prstGeom prst="roundRect">
            <a:avLst>
              <a:gd name="adj" fmla="val 20690"/>
            </a:avLst>
          </a:prstGeom>
          <a:solidFill>
            <a:srgbClr val="1C2541"/>
          </a:solidFill>
          <a:ln/>
        </p:spPr>
      </p:sp>
      <p:sp>
        <p:nvSpPr>
          <p:cNvPr id="19" name="profiles-label"/>
          <p:cNvSpPr/>
          <p:nvPr/>
        </p:nvSpPr>
        <p:spPr>
          <a:xfrm>
            <a:off x="1676400" y="68453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RUNTIME PROFILES</a:t>
            </a:r>
            <a:endParaRPr lang="en-US" sz="1500" dirty="0"/>
          </a:p>
        </p:txBody>
      </p:sp>
      <p:sp>
        <p:nvSpPr>
          <p:cNvPr id="20" name="profiles-text"/>
          <p:cNvSpPr/>
          <p:nvPr/>
        </p:nvSpPr>
        <p:spPr>
          <a:xfrm>
            <a:off x="4470400" y="6743700"/>
            <a:ext cx="939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FAST　•　STANDARD　•　ENTERPRISE　•　GPU　•　PRIVATE</a:t>
            </a:r>
            <a:endParaRPr lang="en-US" sz="2000" dirty="0"/>
          </a:p>
        </p:txBody>
      </p:sp>
      <p:sp>
        <p:nvSpPr>
          <p:cNvPr id="21" name="asset-label"/>
          <p:cNvSpPr/>
          <p:nvPr/>
        </p:nvSpPr>
        <p:spPr>
          <a:xfrm>
            <a:off x="762000" y="78994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長期的に価値を持つ資産は、モデルではなく Skill / Playbook / Evaluation / Evidence である。</a:t>
            </a:r>
            <a:endParaRPr lang="en-US" sz="1600" dirty="0"/>
          </a:p>
        </p:txBody>
      </p:sp>
      <p:sp>
        <p:nvSpPr>
          <p:cNvPr id="22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15 / 20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295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製品UX：ChatではなくTask Runを中心にする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0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長時間実行・状態管理・再開・監査に必要な情報を、Task Run画面に集約する。</a:t>
            </a:r>
            <a:endParaRPr lang="en-US" sz="1600" dirty="0"/>
          </a:p>
        </p:txBody>
      </p:sp>
      <p:sp>
        <p:nvSpPr>
          <p:cNvPr id="5" name="ui-shell"/>
          <p:cNvSpPr/>
          <p:nvPr/>
        </p:nvSpPr>
        <p:spPr>
          <a:xfrm>
            <a:off x="762000" y="1955800"/>
            <a:ext cx="14732000" cy="5740400"/>
          </a:xfrm>
          <a:prstGeom prst="roundRect">
            <a:avLst>
              <a:gd name="adj" fmla="val 3540"/>
            </a:avLst>
          </a:prstGeom>
          <a:solidFill>
            <a:srgbClr val="101A32"/>
          </a:solidFill>
          <a:ln/>
        </p:spPr>
      </p:sp>
      <p:sp>
        <p:nvSpPr>
          <p:cNvPr id="6" name="ui-caption"/>
          <p:cNvSpPr/>
          <p:nvPr/>
        </p:nvSpPr>
        <p:spPr>
          <a:xfrm>
            <a:off x="1117600" y="22098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画面イメージ（想定）</a:t>
            </a:r>
            <a:endParaRPr lang="en-US" sz="1400" dirty="0"/>
          </a:p>
        </p:txBody>
      </p:sp>
      <p:sp>
        <p:nvSpPr>
          <p:cNvPr id="7" name="ui-header"/>
          <p:cNvSpPr/>
          <p:nvPr/>
        </p:nvSpPr>
        <p:spPr>
          <a:xfrm>
            <a:off x="1117600" y="2590800"/>
            <a:ext cx="14020800" cy="685800"/>
          </a:xfrm>
          <a:prstGeom prst="roundRect">
            <a:avLst>
              <a:gd name="adj" fmla="val 14815"/>
            </a:avLst>
          </a:prstGeom>
          <a:solidFill>
            <a:srgbClr val="1C2541"/>
          </a:solidFill>
          <a:ln/>
        </p:spPr>
      </p:sp>
      <p:sp>
        <p:nvSpPr>
          <p:cNvPr id="8" name="ui-task"/>
          <p:cNvSpPr/>
          <p:nvPr/>
        </p:nvSpPr>
        <p:spPr>
          <a:xfrm>
            <a:off x="1422400" y="2768600"/>
            <a:ext cx="495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　Platform Upgrade</a:t>
            </a:r>
            <a:endParaRPr lang="en-US" sz="1900" dirty="0"/>
          </a:p>
        </p:txBody>
      </p:sp>
      <p:sp>
        <p:nvSpPr>
          <p:cNvPr id="9" name="ui-status"/>
          <p:cNvSpPr/>
          <p:nvPr/>
        </p:nvSpPr>
        <p:spPr>
          <a:xfrm>
            <a:off x="12115800" y="2794000"/>
            <a:ext cx="2641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RUNNING　Cycle 2 / 5</a:t>
            </a:r>
            <a:endParaRPr lang="en-US" sz="1500" dirty="0"/>
          </a:p>
        </p:txBody>
      </p:sp>
      <p:sp>
        <p:nvSpPr>
          <p:cNvPr id="10" name="left-panel"/>
          <p:cNvSpPr/>
          <p:nvPr/>
        </p:nvSpPr>
        <p:spPr>
          <a:xfrm>
            <a:off x="1117600" y="3530600"/>
            <a:ext cx="3606800" cy="3810000"/>
          </a:xfrm>
          <a:prstGeom prst="roundRect">
            <a:avLst>
              <a:gd name="adj" fmla="val 3521"/>
            </a:avLst>
          </a:prstGeom>
          <a:solidFill>
            <a:srgbClr val="1C2541"/>
          </a:solidFill>
          <a:ln/>
        </p:spPr>
      </p:sp>
      <p:sp>
        <p:nvSpPr>
          <p:cNvPr id="11" name="left-title"/>
          <p:cNvSpPr/>
          <p:nvPr/>
        </p:nvSpPr>
        <p:spPr>
          <a:xfrm>
            <a:off x="1422400" y="38100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EXECUTION STAGES</a:t>
            </a:r>
            <a:endParaRPr lang="en-US" sz="1500" dirty="0"/>
          </a:p>
        </p:txBody>
      </p:sp>
      <p:sp>
        <p:nvSpPr>
          <p:cNvPr id="12" name="left-list"/>
          <p:cNvSpPr/>
          <p:nvPr/>
        </p:nvSpPr>
        <p:spPr>
          <a:xfrm>
            <a:off x="1422400" y="4368800"/>
            <a:ext cx="2667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Understanding　　　 </a:t>
            </a:r>
            <a:r>
              <a:rPr lang="en-US" altLang="en-US" sz="1600" b="1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✓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Selection　　　</a:t>
            </a:r>
            <a:r>
              <a:rPr lang="en-US" altLang="en-US" sz="1600" b="1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✓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Architecture　　　　</a:t>
            </a:r>
            <a:r>
              <a:rPr lang="en-US" altLang="en-US" sz="1600" b="1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✓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Playbook　　　　　　</a:t>
            </a:r>
            <a:r>
              <a:rPr lang="en-US" altLang="en-US" sz="1600" b="1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✓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Implementation　　　</a:t>
            </a:r>
            <a:r>
              <a:rPr lang="en-US" altLang="en-US" sz="1600" b="1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●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Testing / Evaluation / PDCA</a:t>
            </a:r>
            <a:endParaRPr lang="en-US" sz="1600" dirty="0"/>
          </a:p>
        </p:txBody>
      </p:sp>
      <p:sp>
        <p:nvSpPr>
          <p:cNvPr id="13" name="center-panel"/>
          <p:cNvSpPr/>
          <p:nvPr/>
        </p:nvSpPr>
        <p:spPr>
          <a:xfrm>
            <a:off x="4978400" y="3530600"/>
            <a:ext cx="5410200" cy="3810000"/>
          </a:xfrm>
          <a:prstGeom prst="roundRect">
            <a:avLst>
              <a:gd name="adj" fmla="val 3333"/>
            </a:avLst>
          </a:prstGeom>
          <a:solidFill>
            <a:srgbClr val="1C2541"/>
          </a:solidFill>
          <a:ln/>
        </p:spPr>
      </p:sp>
      <p:sp>
        <p:nvSpPr>
          <p:cNvPr id="14" name="center-title"/>
          <p:cNvSpPr/>
          <p:nvPr/>
        </p:nvSpPr>
        <p:spPr>
          <a:xfrm>
            <a:off x="5283200" y="3810000"/>
            <a:ext cx="241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PLAYBOOKS &amp; EVIDENCE</a:t>
            </a:r>
            <a:endParaRPr lang="en-US" sz="1500" dirty="0"/>
          </a:p>
        </p:txBody>
      </p:sp>
      <p:sp>
        <p:nvSpPr>
          <p:cNvPr id="15" name="pb1"/>
          <p:cNvSpPr/>
          <p:nvPr/>
        </p:nvSpPr>
        <p:spPr>
          <a:xfrm>
            <a:off x="5283200" y="4343400"/>
            <a:ext cx="2133600" cy="533400"/>
          </a:xfrm>
          <a:prstGeom prst="roundRect">
            <a:avLst>
              <a:gd name="adj" fmla="val 14286"/>
            </a:avLst>
          </a:prstGeom>
          <a:solidFill>
            <a:srgbClr val="193825"/>
          </a:solidFill>
          <a:ln/>
        </p:spPr>
      </p:sp>
      <p:sp>
        <p:nvSpPr>
          <p:cNvPr id="16" name="pb1-text"/>
          <p:cNvSpPr/>
          <p:nvPr/>
        </p:nvSpPr>
        <p:spPr>
          <a:xfrm>
            <a:off x="5461000" y="44958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PB001　✓</a:t>
            </a:r>
            <a:endParaRPr lang="en-US" sz="1400" dirty="0"/>
          </a:p>
        </p:txBody>
      </p:sp>
      <p:sp>
        <p:nvSpPr>
          <p:cNvPr id="17" name="pb2"/>
          <p:cNvSpPr/>
          <p:nvPr/>
        </p:nvSpPr>
        <p:spPr>
          <a:xfrm>
            <a:off x="7569200" y="4343400"/>
            <a:ext cx="2133600" cy="533400"/>
          </a:xfrm>
          <a:prstGeom prst="roundRect">
            <a:avLst>
              <a:gd name="adj" fmla="val 14286"/>
            </a:avLst>
          </a:prstGeom>
          <a:solidFill>
            <a:srgbClr val="193825"/>
          </a:solidFill>
          <a:ln/>
        </p:spPr>
      </p:sp>
      <p:sp>
        <p:nvSpPr>
          <p:cNvPr id="18" name="pb2-text"/>
          <p:cNvSpPr/>
          <p:nvPr/>
        </p:nvSpPr>
        <p:spPr>
          <a:xfrm>
            <a:off x="7747000" y="44958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PB002　✓</a:t>
            </a:r>
            <a:endParaRPr lang="en-US" sz="1400" dirty="0"/>
          </a:p>
        </p:txBody>
      </p:sp>
      <p:sp>
        <p:nvSpPr>
          <p:cNvPr id="19" name="pb3"/>
          <p:cNvSpPr/>
          <p:nvPr/>
        </p:nvSpPr>
        <p:spPr>
          <a:xfrm>
            <a:off x="5283200" y="5029200"/>
            <a:ext cx="2133600" cy="533400"/>
          </a:xfrm>
          <a:prstGeom prst="roundRect">
            <a:avLst>
              <a:gd name="adj" fmla="val 14286"/>
            </a:avLst>
          </a:prstGeom>
          <a:solidFill>
            <a:srgbClr val="193825"/>
          </a:solidFill>
          <a:ln/>
        </p:spPr>
      </p:sp>
      <p:sp>
        <p:nvSpPr>
          <p:cNvPr id="20" name="pb3-text"/>
          <p:cNvSpPr/>
          <p:nvPr/>
        </p:nvSpPr>
        <p:spPr>
          <a:xfrm>
            <a:off x="5461000" y="51816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PB003　✓</a:t>
            </a:r>
            <a:endParaRPr lang="en-US" sz="1400" dirty="0"/>
          </a:p>
        </p:txBody>
      </p:sp>
      <p:sp>
        <p:nvSpPr>
          <p:cNvPr id="21" name="pb4"/>
          <p:cNvSpPr/>
          <p:nvPr/>
        </p:nvSpPr>
        <p:spPr>
          <a:xfrm>
            <a:off x="7569200" y="5029200"/>
            <a:ext cx="2133600" cy="533400"/>
          </a:xfrm>
          <a:prstGeom prst="roundRect">
            <a:avLst>
              <a:gd name="adj" fmla="val 14286"/>
            </a:avLst>
          </a:prstGeom>
          <a:solidFill>
            <a:srgbClr val="2A1A2A"/>
          </a:solidFill>
          <a:ln/>
        </p:spPr>
      </p:sp>
      <p:sp>
        <p:nvSpPr>
          <p:cNvPr id="22" name="pb4-text"/>
          <p:cNvSpPr/>
          <p:nvPr/>
        </p:nvSpPr>
        <p:spPr>
          <a:xfrm>
            <a:off x="7747000" y="51816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CA5A5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PB004　NG</a:t>
            </a:r>
            <a:endParaRPr lang="en-US" sz="1400" dirty="0"/>
          </a:p>
        </p:txBody>
      </p:sp>
      <p:sp>
        <p:nvSpPr>
          <p:cNvPr id="23" name="center-evidence"/>
          <p:cNvSpPr/>
          <p:nvPr/>
        </p:nvSpPr>
        <p:spPr>
          <a:xfrm>
            <a:off x="5283200" y="6019800"/>
            <a:ext cx="419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Files changed / Tests / Diff / Terminal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 / Artifacts / Cost</a:t>
            </a:r>
            <a:endParaRPr lang="en-US" sz="1500" dirty="0"/>
          </a:p>
        </p:txBody>
      </p:sp>
      <p:sp>
        <p:nvSpPr>
          <p:cNvPr id="24" name="right-panel"/>
          <p:cNvSpPr/>
          <p:nvPr/>
        </p:nvSpPr>
        <p:spPr>
          <a:xfrm>
            <a:off x="10642600" y="3530600"/>
            <a:ext cx="4495800" cy="3810000"/>
          </a:xfrm>
          <a:prstGeom prst="roundRect">
            <a:avLst>
              <a:gd name="adj" fmla="val 3333"/>
            </a:avLst>
          </a:prstGeom>
          <a:solidFill>
            <a:srgbClr val="13203A"/>
          </a:solidFill>
          <a:ln/>
        </p:spPr>
      </p:sp>
      <p:sp>
        <p:nvSpPr>
          <p:cNvPr id="25" name="right-title"/>
          <p:cNvSpPr/>
          <p:nvPr/>
        </p:nvSpPr>
        <p:spPr>
          <a:xfrm>
            <a:off x="10947400" y="3810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CURRENT ISSUE</a:t>
            </a:r>
            <a:endParaRPr lang="en-US" sz="1500" dirty="0"/>
          </a:p>
        </p:txBody>
      </p:sp>
      <p:sp>
        <p:nvSpPr>
          <p:cNvPr id="26" name="issue"/>
          <p:cNvSpPr/>
          <p:nvPr/>
        </p:nvSpPr>
        <p:spPr>
          <a:xfrm>
            <a:off x="10947400" y="4343400"/>
            <a:ext cx="355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PB004 API integration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test failed</a:t>
            </a:r>
            <a:endParaRPr lang="en-US" sz="1600" dirty="0"/>
          </a:p>
        </p:txBody>
      </p:sp>
      <p:sp>
        <p:nvSpPr>
          <p:cNvPr id="27" name="issue-line"/>
          <p:cNvSpPr/>
          <p:nvPr/>
        </p:nvSpPr>
        <p:spPr>
          <a:xfrm>
            <a:off x="10947400" y="5207000"/>
            <a:ext cx="36576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action-label"/>
          <p:cNvSpPr/>
          <p:nvPr/>
        </p:nvSpPr>
        <p:spPr>
          <a:xfrm>
            <a:off x="10947400" y="55118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AGENT ACTION</a:t>
            </a:r>
            <a:endParaRPr lang="en-US" sz="1400" dirty="0"/>
          </a:p>
        </p:txBody>
      </p:sp>
      <p:sp>
        <p:nvSpPr>
          <p:cNvPr id="29" name="action"/>
          <p:cNvSpPr/>
          <p:nvPr/>
        </p:nvSpPr>
        <p:spPr>
          <a:xfrm>
            <a:off x="10947400" y="58674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API contract mismatchを調査中</a:t>
            </a:r>
            <a:endParaRPr lang="en-US" sz="1500" dirty="0"/>
          </a:p>
        </p:txBody>
      </p:sp>
      <p:sp>
        <p:nvSpPr>
          <p:cNvPr id="30" name="ux-conclusion"/>
          <p:cNvSpPr/>
          <p:nvPr/>
        </p:nvSpPr>
        <p:spPr>
          <a:xfrm>
            <a:off x="762000" y="80264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CLIを直接見せず、開発者・PM・経営層・顧客が同じ実行状態を理解できる。</a:t>
            </a:r>
            <a:endParaRPr lang="en-US" sz="1600" dirty="0"/>
          </a:p>
        </p:txBody>
      </p:sp>
      <p:sp>
        <p:nvSpPr>
          <p:cNvPr id="31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16 / 20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244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Capability PackからMarketplaceへ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Domain知識・Skill・Playbook・評価・Toolを一つのPackとして提供し、汎用Agentを業務特化Agentへ変換する。</a:t>
            </a:r>
            <a:endParaRPr lang="en-US" sz="1600" dirty="0"/>
          </a:p>
        </p:txBody>
      </p:sp>
      <p:sp>
        <p:nvSpPr>
          <p:cNvPr id="5" name="general-card"/>
          <p:cNvSpPr/>
          <p:nvPr/>
        </p:nvSpPr>
        <p:spPr>
          <a:xfrm>
            <a:off x="762000" y="2286000"/>
            <a:ext cx="3556000" cy="2159000"/>
          </a:xfrm>
          <a:prstGeom prst="roundRect">
            <a:avLst>
              <a:gd name="adj" fmla="val 9412"/>
            </a:avLst>
          </a:prstGeom>
          <a:solidFill>
            <a:srgbClr val="13203A"/>
          </a:solidFill>
          <a:ln/>
        </p:spPr>
      </p:sp>
      <p:pic>
        <p:nvPicPr>
          <p:cNvPr id="6" name="general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2692400"/>
            <a:ext cx="533400" cy="533400"/>
          </a:xfrm>
          <a:prstGeom prst="rect">
            <a:avLst/>
          </a:prstGeom>
        </p:spPr>
      </p:pic>
      <p:sp>
        <p:nvSpPr>
          <p:cNvPr id="7" name="general-title"/>
          <p:cNvSpPr/>
          <p:nvPr/>
        </p:nvSpPr>
        <p:spPr>
          <a:xfrm>
            <a:off x="1955800" y="27432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General Platform</a:t>
            </a:r>
            <a:endParaRPr lang="en-US" sz="2100" dirty="0"/>
          </a:p>
        </p:txBody>
      </p:sp>
      <p:sp>
        <p:nvSpPr>
          <p:cNvPr id="8" name="general-body"/>
          <p:cNvSpPr/>
          <p:nvPr/>
        </p:nvSpPr>
        <p:spPr>
          <a:xfrm>
            <a:off x="1168400" y="3556000"/>
            <a:ext cx="241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共通Execution Kernel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共通Governance</a:t>
            </a:r>
            <a:endParaRPr lang="en-US" sz="1500" dirty="0"/>
          </a:p>
        </p:txBody>
      </p:sp>
      <p:sp>
        <p:nvSpPr>
          <p:cNvPr id="9" name="plus"/>
          <p:cNvSpPr/>
          <p:nvPr/>
        </p:nvSpPr>
        <p:spPr>
          <a:xfrm>
            <a:off x="4826000" y="2997200"/>
            <a:ext cx="558800" cy="558800"/>
          </a:xfrm>
          <a:prstGeom prst="roundRect">
            <a:avLst>
              <a:gd name="adj" fmla="val 18182"/>
            </a:avLst>
          </a:prstGeom>
          <a:solidFill>
            <a:srgbClr val="1C2541"/>
          </a:solidFill>
          <a:ln/>
        </p:spPr>
      </p:sp>
      <p:sp>
        <p:nvSpPr>
          <p:cNvPr id="10" name="plus-text"/>
          <p:cNvSpPr/>
          <p:nvPr/>
        </p:nvSpPr>
        <p:spPr>
          <a:xfrm>
            <a:off x="4826000" y="29972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0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＋</a:t>
            </a:r>
            <a:endParaRPr lang="en-US" sz="3000" dirty="0"/>
          </a:p>
        </p:txBody>
      </p:sp>
      <p:sp>
        <p:nvSpPr>
          <p:cNvPr id="11" name="pack-card"/>
          <p:cNvSpPr/>
          <p:nvPr/>
        </p:nvSpPr>
        <p:spPr>
          <a:xfrm>
            <a:off x="5892800" y="1981200"/>
            <a:ext cx="9601200" cy="2794000"/>
          </a:xfrm>
          <a:prstGeom prst="roundRect">
            <a:avLst>
              <a:gd name="adj" fmla="val 7273"/>
            </a:avLst>
          </a:prstGeom>
          <a:solidFill>
            <a:srgbClr val="1C2541"/>
          </a:solidFill>
          <a:ln/>
        </p:spPr>
      </p:sp>
      <p:sp>
        <p:nvSpPr>
          <p:cNvPr id="12" name="pack-label"/>
          <p:cNvSpPr/>
          <p:nvPr/>
        </p:nvSpPr>
        <p:spPr>
          <a:xfrm>
            <a:off x="6299200" y="23622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DOMAIN CAPABILITY PACK</a:t>
            </a:r>
            <a:endParaRPr lang="en-US" sz="1500" dirty="0"/>
          </a:p>
        </p:txBody>
      </p:sp>
      <p:sp>
        <p:nvSpPr>
          <p:cNvPr id="13" name="pack-components"/>
          <p:cNvSpPr/>
          <p:nvPr/>
        </p:nvSpPr>
        <p:spPr>
          <a:xfrm>
            <a:off x="6299200" y="2921000"/>
            <a:ext cx="812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Domain Knowledge　•　Skills　•　Playbook Templates　•　Evaluation Rules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Tools / MCP　•　Schemas　•　Examples　•　Benchmark</a:t>
            </a:r>
            <a:endParaRPr lang="en-US" sz="2000" dirty="0"/>
          </a:p>
        </p:txBody>
      </p:sp>
      <p:sp>
        <p:nvSpPr>
          <p:cNvPr id="14" name="pack-arrow"/>
          <p:cNvSpPr/>
          <p:nvPr/>
        </p:nvSpPr>
        <p:spPr>
          <a:xfrm>
            <a:off x="8128000" y="4775200"/>
            <a:ext cx="9144" cy="685800"/>
          </a:xfrm>
          <a:prstGeom prst="line">
            <a:avLst/>
          </a:prstGeom>
          <a:ln w="38100">
            <a:solidFill>
              <a:srgbClr val="00FFFF"/>
            </a:solidFill>
            <a:prstDash val="solid"/>
            <a:tailEnd type="triangle"/>
          </a:ln>
        </p:spPr>
      </p:sp>
      <p:sp>
        <p:nvSpPr>
          <p:cNvPr id="15" name="out-label"/>
          <p:cNvSpPr/>
          <p:nvPr/>
        </p:nvSpPr>
        <p:spPr>
          <a:xfrm>
            <a:off x="762000" y="5715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RESULTING SPECIALISTS</a:t>
            </a:r>
            <a:endParaRPr lang="en-US" sz="1500" dirty="0"/>
          </a:p>
        </p:txBody>
      </p:sp>
      <p:sp>
        <p:nvSpPr>
          <p:cNvPr id="16" name="manufacturing"/>
          <p:cNvSpPr/>
          <p:nvPr/>
        </p:nvSpPr>
        <p:spPr>
          <a:xfrm>
            <a:off x="762000" y="6223000"/>
            <a:ext cx="4445000" cy="1320800"/>
          </a:xfrm>
          <a:prstGeom prst="roundRect">
            <a:avLst>
              <a:gd name="adj" fmla="val 11538"/>
            </a:avLst>
          </a:prstGeom>
          <a:solidFill>
            <a:srgbClr val="1C2541"/>
          </a:solidFill>
          <a:ln/>
        </p:spPr>
      </p:sp>
      <p:pic>
        <p:nvPicPr>
          <p:cNvPr id="17" name="mfg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6654800"/>
            <a:ext cx="431800" cy="431800"/>
          </a:xfrm>
          <a:prstGeom prst="rect">
            <a:avLst/>
          </a:prstGeom>
        </p:spPr>
      </p:pic>
      <p:sp>
        <p:nvSpPr>
          <p:cNvPr id="18" name="mfg-text"/>
          <p:cNvSpPr/>
          <p:nvPr/>
        </p:nvSpPr>
        <p:spPr>
          <a:xfrm>
            <a:off x="1778000" y="6540500"/>
            <a:ext cx="289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Manufacturing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Engineering Agent</a:t>
            </a:r>
            <a:endParaRPr lang="en-US" sz="1900" dirty="0"/>
          </a:p>
        </p:txBody>
      </p:sp>
      <p:sp>
        <p:nvSpPr>
          <p:cNvPr id="19" name="research"/>
          <p:cNvSpPr/>
          <p:nvPr/>
        </p:nvSpPr>
        <p:spPr>
          <a:xfrm>
            <a:off x="5905500" y="6223000"/>
            <a:ext cx="4445000" cy="1320800"/>
          </a:xfrm>
          <a:prstGeom prst="roundRect">
            <a:avLst>
              <a:gd name="adj" fmla="val 11538"/>
            </a:avLst>
          </a:prstGeom>
          <a:solidFill>
            <a:srgbClr val="1C2541"/>
          </a:solidFill>
          <a:ln/>
        </p:spPr>
      </p:sp>
      <p:pic>
        <p:nvPicPr>
          <p:cNvPr id="20" name="research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0" y="6654800"/>
            <a:ext cx="431800" cy="431800"/>
          </a:xfrm>
          <a:prstGeom prst="rect">
            <a:avLst/>
          </a:prstGeom>
        </p:spPr>
      </p:pic>
      <p:sp>
        <p:nvSpPr>
          <p:cNvPr id="21" name="research-text"/>
          <p:cNvSpPr/>
          <p:nvPr/>
        </p:nvSpPr>
        <p:spPr>
          <a:xfrm>
            <a:off x="6921500" y="6540500"/>
            <a:ext cx="289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Scientific Research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Agent</a:t>
            </a:r>
            <a:endParaRPr lang="en-US" sz="1900" dirty="0"/>
          </a:p>
        </p:txBody>
      </p:sp>
      <p:sp>
        <p:nvSpPr>
          <p:cNvPr id="22" name="energy"/>
          <p:cNvSpPr/>
          <p:nvPr/>
        </p:nvSpPr>
        <p:spPr>
          <a:xfrm>
            <a:off x="11049000" y="6223000"/>
            <a:ext cx="4445000" cy="1320800"/>
          </a:xfrm>
          <a:prstGeom prst="roundRect">
            <a:avLst>
              <a:gd name="adj" fmla="val 11538"/>
            </a:avLst>
          </a:prstGeom>
          <a:solidFill>
            <a:srgbClr val="1C2541"/>
          </a:solidFill>
          <a:ln/>
        </p:spPr>
      </p:sp>
      <p:pic>
        <p:nvPicPr>
          <p:cNvPr id="23" name="energy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9200" y="6654800"/>
            <a:ext cx="431800" cy="431800"/>
          </a:xfrm>
          <a:prstGeom prst="rect">
            <a:avLst/>
          </a:prstGeom>
        </p:spPr>
      </p:pic>
      <p:sp>
        <p:nvSpPr>
          <p:cNvPr id="24" name="energy-text"/>
          <p:cNvSpPr/>
          <p:nvPr/>
        </p:nvSpPr>
        <p:spPr>
          <a:xfrm>
            <a:off x="12065000" y="6540500"/>
            <a:ext cx="289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Energy Engineering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Agent</a:t>
            </a:r>
            <a:endParaRPr lang="en-US" sz="1900" dirty="0"/>
          </a:p>
        </p:txBody>
      </p:sp>
      <p:sp>
        <p:nvSpPr>
          <p:cNvPr id="25" name="marketplace"/>
          <p:cNvSpPr/>
          <p:nvPr/>
        </p:nvSpPr>
        <p:spPr>
          <a:xfrm>
            <a:off x="762000" y="80264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Packが増えるほど、Core / Industry / Complianceを扱うCapability Marketplaceへ発展できる。</a:t>
            </a:r>
            <a:endParaRPr lang="en-US" sz="1600" dirty="0"/>
          </a:p>
        </p:txBody>
      </p:sp>
      <p:sp>
        <p:nvSpPr>
          <p:cNvPr id="26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17 / 20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V1のスコープと推奨技術スタック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V1は対象を意図的に絞る。最初の価値は「既存システムをProduction Readyまで改善する」こと。</a:t>
            </a:r>
            <a:endParaRPr lang="en-US" sz="1600" dirty="0"/>
          </a:p>
        </p:txBody>
      </p:sp>
      <p:sp>
        <p:nvSpPr>
          <p:cNvPr id="5" name="scope-card"/>
          <p:cNvSpPr/>
          <p:nvPr/>
        </p:nvSpPr>
        <p:spPr>
          <a:xfrm>
            <a:off x="762000" y="2032000"/>
            <a:ext cx="5842000" cy="5765800"/>
          </a:xfrm>
          <a:prstGeom prst="roundRect">
            <a:avLst>
              <a:gd name="adj" fmla="val 3524"/>
            </a:avLst>
          </a:prstGeom>
          <a:solidFill>
            <a:srgbClr val="13203A"/>
          </a:solidFill>
          <a:ln/>
        </p:spPr>
      </p:sp>
      <p:sp>
        <p:nvSpPr>
          <p:cNvPr id="6" name="scope-label"/>
          <p:cNvSpPr/>
          <p:nvPr/>
        </p:nvSpPr>
        <p:spPr>
          <a:xfrm>
            <a:off x="1168400" y="2413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NARROW, HIGH-VALUE USE CASE</a:t>
            </a:r>
            <a:endParaRPr lang="en-US" sz="1500" dirty="0"/>
          </a:p>
        </p:txBody>
      </p:sp>
      <p:sp>
        <p:nvSpPr>
          <p:cNvPr id="7" name="scope-title"/>
          <p:cNvSpPr/>
          <p:nvPr/>
        </p:nvSpPr>
        <p:spPr>
          <a:xfrm>
            <a:off x="1168400" y="2921000"/>
            <a:ext cx="406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このシステムを分析し、</a:t>
            </a:r>
            <a:endParaRPr lang="en-US" sz="2200" dirty="0"/>
          </a:p>
          <a:p>
            <a:pPr algn="l" indent="0" marL="0">
              <a:lnSpc>
                <a:spcPts val="275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Production Readyまで改善する。</a:t>
            </a:r>
            <a:endParaRPr lang="en-US" sz="2200" dirty="0"/>
          </a:p>
        </p:txBody>
      </p:sp>
      <p:sp>
        <p:nvSpPr>
          <p:cNvPr id="8" name="scope-1"/>
          <p:cNvSpPr/>
          <p:nvPr/>
        </p:nvSpPr>
        <p:spPr>
          <a:xfrm>
            <a:off x="1168400" y="4064000"/>
            <a:ext cx="4191000" cy="609600"/>
          </a:xfrm>
          <a:prstGeom prst="roundRect">
            <a:avLst>
              <a:gd name="adj" fmla="val 16667"/>
            </a:avLst>
          </a:prstGeom>
          <a:solidFill>
            <a:srgbClr val="1C2541"/>
          </a:solidFill>
          <a:ln/>
        </p:spPr>
      </p:sp>
      <p:sp>
        <p:nvSpPr>
          <p:cNvPr id="9" name="scope-1-text"/>
          <p:cNvSpPr/>
          <p:nvPr/>
        </p:nvSpPr>
        <p:spPr>
          <a:xfrm>
            <a:off x="1397000" y="4229100"/>
            <a:ext cx="368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1　ZIP Upload / Git Repository接続</a:t>
            </a:r>
            <a:endParaRPr lang="en-US" sz="1500" dirty="0"/>
          </a:p>
        </p:txBody>
      </p:sp>
      <p:sp>
        <p:nvSpPr>
          <p:cNvPr id="10" name="scope-2"/>
          <p:cNvSpPr/>
          <p:nvPr/>
        </p:nvSpPr>
        <p:spPr>
          <a:xfrm>
            <a:off x="1168400" y="4851400"/>
            <a:ext cx="4191000" cy="609600"/>
          </a:xfrm>
          <a:prstGeom prst="roundRect">
            <a:avLst>
              <a:gd name="adj" fmla="val 16667"/>
            </a:avLst>
          </a:prstGeom>
          <a:solidFill>
            <a:srgbClr val="1C2541"/>
          </a:solidFill>
          <a:ln/>
        </p:spPr>
      </p:sp>
      <p:sp>
        <p:nvSpPr>
          <p:cNvPr id="11" name="scope-2-text"/>
          <p:cNvSpPr/>
          <p:nvPr/>
        </p:nvSpPr>
        <p:spPr>
          <a:xfrm>
            <a:off x="1397000" y="5016500"/>
            <a:ext cx="368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2　Analyze / Skill選択 / Playbook生成</a:t>
            </a:r>
            <a:endParaRPr lang="en-US" sz="1500" dirty="0"/>
          </a:p>
        </p:txBody>
      </p:sp>
      <p:sp>
        <p:nvSpPr>
          <p:cNvPr id="12" name="scope-3"/>
          <p:cNvSpPr/>
          <p:nvPr/>
        </p:nvSpPr>
        <p:spPr>
          <a:xfrm>
            <a:off x="1168400" y="5638800"/>
            <a:ext cx="4191000" cy="609600"/>
          </a:xfrm>
          <a:prstGeom prst="roundRect">
            <a:avLst>
              <a:gd name="adj" fmla="val 16667"/>
            </a:avLst>
          </a:prstGeom>
          <a:solidFill>
            <a:srgbClr val="1C2541"/>
          </a:solidFill>
          <a:ln/>
        </p:spPr>
      </p:sp>
      <p:sp>
        <p:nvSpPr>
          <p:cNvPr id="13" name="scope-3-text"/>
          <p:cNvSpPr/>
          <p:nvPr/>
        </p:nvSpPr>
        <p:spPr>
          <a:xfrm>
            <a:off x="1397000" y="5803900"/>
            <a:ext cx="368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3　Execute / Build / Test / PDCA</a:t>
            </a:r>
            <a:endParaRPr lang="en-US" sz="1500" dirty="0"/>
          </a:p>
        </p:txBody>
      </p:sp>
      <p:sp>
        <p:nvSpPr>
          <p:cNvPr id="14" name="scope-4"/>
          <p:cNvSpPr/>
          <p:nvPr/>
        </p:nvSpPr>
        <p:spPr>
          <a:xfrm>
            <a:off x="1168400" y="6426200"/>
            <a:ext cx="4191000" cy="609600"/>
          </a:xfrm>
          <a:prstGeom prst="roundRect">
            <a:avLst>
              <a:gd name="adj" fmla="val 16667"/>
            </a:avLst>
          </a:prstGeom>
          <a:solidFill>
            <a:srgbClr val="193825"/>
          </a:solidFill>
          <a:ln/>
        </p:spPr>
      </p:sp>
      <p:sp>
        <p:nvSpPr>
          <p:cNvPr id="15" name="scope-4-text"/>
          <p:cNvSpPr/>
          <p:nvPr/>
        </p:nvSpPr>
        <p:spPr>
          <a:xfrm>
            <a:off x="1397000" y="6591300"/>
            <a:ext cx="368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4　Report / ZIP Download / Create PR</a:t>
            </a:r>
            <a:endParaRPr lang="en-US" sz="1500" dirty="0"/>
          </a:p>
        </p:txBody>
      </p:sp>
      <p:sp>
        <p:nvSpPr>
          <p:cNvPr id="16" name="stack-card"/>
          <p:cNvSpPr/>
          <p:nvPr/>
        </p:nvSpPr>
        <p:spPr>
          <a:xfrm>
            <a:off x="7061200" y="2032000"/>
            <a:ext cx="8432800" cy="5765800"/>
          </a:xfrm>
          <a:prstGeom prst="roundRect">
            <a:avLst>
              <a:gd name="adj" fmla="val 3524"/>
            </a:avLst>
          </a:prstGeom>
          <a:solidFill>
            <a:srgbClr val="1C2541"/>
          </a:solidFill>
          <a:ln/>
        </p:spPr>
      </p:sp>
      <p:sp>
        <p:nvSpPr>
          <p:cNvPr id="17" name="stack-label"/>
          <p:cNvSpPr/>
          <p:nvPr/>
        </p:nvSpPr>
        <p:spPr>
          <a:xfrm>
            <a:off x="7467600" y="24130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RECOMMENDED STACK</a:t>
            </a:r>
            <a:endParaRPr lang="en-US" sz="1500" dirty="0"/>
          </a:p>
        </p:txBody>
      </p:sp>
      <p:sp>
        <p:nvSpPr>
          <p:cNvPr id="18" name="s1"/>
          <p:cNvSpPr/>
          <p:nvPr/>
        </p:nvSpPr>
        <p:spPr>
          <a:xfrm>
            <a:off x="7467600" y="2921000"/>
            <a:ext cx="3556000" cy="914400"/>
          </a:xfrm>
          <a:prstGeom prst="roundRect">
            <a:avLst>
              <a:gd name="adj" fmla="val 11111"/>
            </a:avLst>
          </a:prstGeom>
          <a:solidFill>
            <a:srgbClr val="13203A"/>
          </a:solidFill>
          <a:ln/>
        </p:spPr>
      </p:sp>
      <p:sp>
        <p:nvSpPr>
          <p:cNvPr id="19" name="s1-text"/>
          <p:cNvSpPr/>
          <p:nvPr/>
        </p:nvSpPr>
        <p:spPr>
          <a:xfrm>
            <a:off x="7721600" y="3098800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Frontend　Next.js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Backend　FastAPI</a:t>
            </a:r>
            <a:endParaRPr lang="en-US" sz="1500" dirty="0"/>
          </a:p>
        </p:txBody>
      </p:sp>
      <p:sp>
        <p:nvSpPr>
          <p:cNvPr id="20" name="s2"/>
          <p:cNvSpPr/>
          <p:nvPr/>
        </p:nvSpPr>
        <p:spPr>
          <a:xfrm>
            <a:off x="11328400" y="2921000"/>
            <a:ext cx="3556000" cy="914400"/>
          </a:xfrm>
          <a:prstGeom prst="roundRect">
            <a:avLst>
              <a:gd name="adj" fmla="val 11111"/>
            </a:avLst>
          </a:prstGeom>
          <a:solidFill>
            <a:srgbClr val="13203A"/>
          </a:solidFill>
          <a:ln/>
        </p:spPr>
      </p:sp>
      <p:sp>
        <p:nvSpPr>
          <p:cNvPr id="21" name="s2-text"/>
          <p:cNvSpPr/>
          <p:nvPr/>
        </p:nvSpPr>
        <p:spPr>
          <a:xfrm>
            <a:off x="11582400" y="3098800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Database　PostgreSQL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Queue　Redis</a:t>
            </a:r>
            <a:endParaRPr lang="en-US" sz="1500" dirty="0"/>
          </a:p>
        </p:txBody>
      </p:sp>
      <p:sp>
        <p:nvSpPr>
          <p:cNvPr id="22" name="s3"/>
          <p:cNvSpPr/>
          <p:nvPr/>
        </p:nvSpPr>
        <p:spPr>
          <a:xfrm>
            <a:off x="7467600" y="4089400"/>
            <a:ext cx="3556000" cy="914400"/>
          </a:xfrm>
          <a:prstGeom prst="roundRect">
            <a:avLst>
              <a:gd name="adj" fmla="val 11111"/>
            </a:avLst>
          </a:prstGeom>
          <a:solidFill>
            <a:srgbClr val="13203A"/>
          </a:solidFill>
          <a:ln/>
        </p:spPr>
      </p:sp>
      <p:sp>
        <p:nvSpPr>
          <p:cNvPr id="23" name="s3-text"/>
          <p:cNvSpPr/>
          <p:nvPr/>
        </p:nvSpPr>
        <p:spPr>
          <a:xfrm>
            <a:off x="7721600" y="4267200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Artifacts　S3-compatible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Auth　OIDC / Keycloak</a:t>
            </a:r>
            <a:endParaRPr lang="en-US" sz="1500" dirty="0"/>
          </a:p>
        </p:txBody>
      </p:sp>
      <p:sp>
        <p:nvSpPr>
          <p:cNvPr id="24" name="s4"/>
          <p:cNvSpPr/>
          <p:nvPr/>
        </p:nvSpPr>
        <p:spPr>
          <a:xfrm>
            <a:off x="11328400" y="4089400"/>
            <a:ext cx="3556000" cy="914400"/>
          </a:xfrm>
          <a:prstGeom prst="roundRect">
            <a:avLst>
              <a:gd name="adj" fmla="val 11111"/>
            </a:avLst>
          </a:prstGeom>
          <a:solidFill>
            <a:srgbClr val="13203A"/>
          </a:solidFill>
          <a:ln/>
        </p:spPr>
      </p:sp>
      <p:sp>
        <p:nvSpPr>
          <p:cNvPr id="25" name="s4-text"/>
          <p:cNvSpPr/>
          <p:nvPr/>
        </p:nvSpPr>
        <p:spPr>
          <a:xfrm>
            <a:off x="11582400" y="4267200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Secrets　KMS + Secret Manager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Git　GitHub / GitLab</a:t>
            </a:r>
            <a:endParaRPr lang="en-US" sz="1500" dirty="0"/>
          </a:p>
        </p:txBody>
      </p:sp>
      <p:sp>
        <p:nvSpPr>
          <p:cNvPr id="26" name="s5"/>
          <p:cNvSpPr/>
          <p:nvPr/>
        </p:nvSpPr>
        <p:spPr>
          <a:xfrm>
            <a:off x="7467600" y="5257800"/>
            <a:ext cx="3556000" cy="914400"/>
          </a:xfrm>
          <a:prstGeom prst="roundRect">
            <a:avLst>
              <a:gd name="adj" fmla="val 11111"/>
            </a:avLst>
          </a:prstGeom>
          <a:solidFill>
            <a:srgbClr val="13203A"/>
          </a:solidFill>
          <a:ln/>
        </p:spPr>
      </p:sp>
      <p:sp>
        <p:nvSpPr>
          <p:cNvPr id="27" name="s5-text"/>
          <p:cNvSpPr/>
          <p:nvPr/>
        </p:nvSpPr>
        <p:spPr>
          <a:xfrm>
            <a:off x="7721600" y="5435600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Observability　OpenTelemetry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LLM Trace Platform</a:t>
            </a:r>
            <a:endParaRPr lang="en-US" sz="1500" dirty="0"/>
          </a:p>
        </p:txBody>
      </p:sp>
      <p:sp>
        <p:nvSpPr>
          <p:cNvPr id="28" name="s6"/>
          <p:cNvSpPr/>
          <p:nvPr/>
        </p:nvSpPr>
        <p:spPr>
          <a:xfrm>
            <a:off x="11328400" y="5257800"/>
            <a:ext cx="3556000" cy="914400"/>
          </a:xfrm>
          <a:prstGeom prst="roundRect">
            <a:avLst>
              <a:gd name="adj" fmla="val 11111"/>
            </a:avLst>
          </a:prstGeom>
          <a:solidFill>
            <a:srgbClr val="17324B"/>
          </a:solidFill>
          <a:ln/>
        </p:spPr>
      </p:sp>
      <p:sp>
        <p:nvSpPr>
          <p:cNvPr id="29" name="s6-text"/>
          <p:cNvSpPr/>
          <p:nvPr/>
        </p:nvSpPr>
        <p:spPr>
          <a:xfrm>
            <a:off x="11582400" y="5435600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Runtime V1　Managed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V2　Agent SDK + ECS Fargate</a:t>
            </a:r>
            <a:endParaRPr lang="en-US" sz="1500" dirty="0"/>
          </a:p>
        </p:txBody>
      </p:sp>
      <p:sp>
        <p:nvSpPr>
          <p:cNvPr id="30" name="stack-note"/>
          <p:cNvSpPr/>
          <p:nvPr/>
        </p:nvSpPr>
        <p:spPr>
          <a:xfrm>
            <a:off x="7467600" y="6705600"/>
            <a:ext cx="736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Large / Private Runtime：Kubernetes、必要に応じてContainer・MicroVM / Sandboxを採用</a:t>
            </a:r>
            <a:endParaRPr lang="en-US" sz="1500" dirty="0"/>
          </a:p>
        </p:txBody>
      </p:sp>
      <p:sp>
        <p:nvSpPr>
          <p:cNvPr id="31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18 / 20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"/>
          <p:cNvSpPr/>
          <p:nvPr/>
        </p:nvSpPr>
        <p:spPr>
          <a:xfrm>
            <a:off x="762000" y="889000"/>
            <a:ext cx="812800" cy="508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279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実装優先順位：P0からP3へ</a:t>
            </a:r>
            <a:endParaRPr lang="en-US" sz="3200" dirty="0"/>
          </a:p>
        </p:txBody>
      </p:sp>
      <p:sp>
        <p:nvSpPr>
          <p:cNvPr id="4" name="lead"/>
          <p:cNvSpPr/>
          <p:nvPr/>
        </p:nvSpPr>
        <p:spPr>
          <a:xfrm>
            <a:off x="762000" y="12954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Core Runtimeから始め、Production Foundation、Intelligent Orchestration、Platform Ecosystemへ段階的に拡張する。</a:t>
            </a:r>
            <a:endParaRPr lang="en-US" sz="1600" dirty="0"/>
          </a:p>
        </p:txBody>
      </p:sp>
      <p:sp>
        <p:nvSpPr>
          <p:cNvPr id="5" name="road-line"/>
          <p:cNvSpPr/>
          <p:nvPr/>
        </p:nvSpPr>
        <p:spPr>
          <a:xfrm>
            <a:off x="1968500" y="2463800"/>
            <a:ext cx="12319000" cy="9144"/>
          </a:xfrm>
          <a:prstGeom prst="line">
            <a:avLst/>
          </a:prstGeom>
          <a:ln w="38100">
            <a:solidFill>
              <a:srgbClr val="334155"/>
            </a:solidFill>
            <a:prstDash val="solid"/>
          </a:ln>
        </p:spPr>
      </p:sp>
      <p:sp>
        <p:nvSpPr>
          <p:cNvPr id="6" name="p0-dot"/>
          <p:cNvSpPr/>
          <p:nvPr/>
        </p:nvSpPr>
        <p:spPr>
          <a:xfrm>
            <a:off x="1778000" y="2260600"/>
            <a:ext cx="406400" cy="406400"/>
          </a:xfrm>
          <a:prstGeom prst="ellipse">
            <a:avLst/>
          </a:prstGeom>
          <a:solidFill>
            <a:srgbClr val="32CD32"/>
          </a:solidFill>
          <a:ln/>
        </p:spPr>
      </p:sp>
      <p:sp>
        <p:nvSpPr>
          <p:cNvPr id="7" name="p1-dot"/>
          <p:cNvSpPr/>
          <p:nvPr/>
        </p:nvSpPr>
        <p:spPr>
          <a:xfrm>
            <a:off x="5842000" y="2260600"/>
            <a:ext cx="406400" cy="40640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8" name="p2-dot"/>
          <p:cNvSpPr/>
          <p:nvPr/>
        </p:nvSpPr>
        <p:spPr>
          <a:xfrm>
            <a:off x="9906000" y="2260600"/>
            <a:ext cx="406400" cy="40640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9" name="p3-dot"/>
          <p:cNvSpPr/>
          <p:nvPr/>
        </p:nvSpPr>
        <p:spPr>
          <a:xfrm>
            <a:off x="13970000" y="2260600"/>
            <a:ext cx="406400" cy="40640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10" name="p0-card"/>
          <p:cNvSpPr/>
          <p:nvPr/>
        </p:nvSpPr>
        <p:spPr>
          <a:xfrm>
            <a:off x="762000" y="3022600"/>
            <a:ext cx="3429000" cy="3454400"/>
          </a:xfrm>
          <a:prstGeom prst="roundRect">
            <a:avLst>
              <a:gd name="adj" fmla="val 5185"/>
            </a:avLst>
          </a:prstGeom>
          <a:solidFill>
            <a:srgbClr val="193825"/>
          </a:solidFill>
          <a:ln/>
        </p:spPr>
      </p:sp>
      <p:sp>
        <p:nvSpPr>
          <p:cNvPr id="11" name="p0-title"/>
          <p:cNvSpPr/>
          <p:nvPr/>
        </p:nvSpPr>
        <p:spPr>
          <a:xfrm>
            <a:off x="1117600" y="3429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P0　Core Runtime</a:t>
            </a:r>
            <a:endParaRPr lang="en-US" sz="2200" dirty="0"/>
          </a:p>
        </p:txBody>
      </p:sp>
      <p:sp>
        <p:nvSpPr>
          <p:cNvPr id="12" name="p0-body"/>
          <p:cNvSpPr/>
          <p:nvPr/>
        </p:nvSpPr>
        <p:spPr>
          <a:xfrm>
            <a:off x="1117600" y="4140200"/>
            <a:ext cx="2540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Registry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Playbook Runtime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Task Runtime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PDCA Runtime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Web UI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Model / Runtime Adapter</a:t>
            </a:r>
            <a:endParaRPr lang="en-US" sz="1600" dirty="0"/>
          </a:p>
        </p:txBody>
      </p:sp>
      <p:sp>
        <p:nvSpPr>
          <p:cNvPr id="13" name="p1-card"/>
          <p:cNvSpPr/>
          <p:nvPr/>
        </p:nvSpPr>
        <p:spPr>
          <a:xfrm>
            <a:off x="4445000" y="3022600"/>
            <a:ext cx="3429000" cy="3454400"/>
          </a:xfrm>
          <a:prstGeom prst="roundRect">
            <a:avLst>
              <a:gd name="adj" fmla="val 5185"/>
            </a:avLst>
          </a:prstGeom>
          <a:solidFill>
            <a:srgbClr val="1C2541"/>
          </a:solidFill>
          <a:ln/>
        </p:spPr>
      </p:sp>
      <p:sp>
        <p:nvSpPr>
          <p:cNvPr id="14" name="p1-title"/>
          <p:cNvSpPr/>
          <p:nvPr/>
        </p:nvSpPr>
        <p:spPr>
          <a:xfrm>
            <a:off x="4800600" y="3429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P1　Production</a:t>
            </a:r>
            <a:endParaRPr lang="en-US" sz="2200" dirty="0"/>
          </a:p>
        </p:txBody>
      </p:sp>
      <p:sp>
        <p:nvSpPr>
          <p:cNvPr id="15" name="p1-body"/>
          <p:cNvSpPr/>
          <p:nvPr/>
        </p:nvSpPr>
        <p:spPr>
          <a:xfrm>
            <a:off x="4800600" y="4140200"/>
            <a:ext cx="2540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Workspace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Evidence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Permission Engine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Credential Vault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Git Integration</a:t>
            </a:r>
            <a:endParaRPr lang="en-US" sz="1600" dirty="0"/>
          </a:p>
        </p:txBody>
      </p:sp>
      <p:sp>
        <p:nvSpPr>
          <p:cNvPr id="16" name="p2-card"/>
          <p:cNvSpPr/>
          <p:nvPr/>
        </p:nvSpPr>
        <p:spPr>
          <a:xfrm>
            <a:off x="8128000" y="3022600"/>
            <a:ext cx="3429000" cy="3454400"/>
          </a:xfrm>
          <a:prstGeom prst="roundRect">
            <a:avLst>
              <a:gd name="adj" fmla="val 5185"/>
            </a:avLst>
          </a:prstGeom>
          <a:solidFill>
            <a:srgbClr val="1C2541"/>
          </a:solidFill>
          <a:ln/>
        </p:spPr>
      </p:sp>
      <p:sp>
        <p:nvSpPr>
          <p:cNvPr id="17" name="p2-title"/>
          <p:cNvSpPr/>
          <p:nvPr/>
        </p:nvSpPr>
        <p:spPr>
          <a:xfrm>
            <a:off x="8483600" y="3429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P2　Intelligence</a:t>
            </a:r>
            <a:endParaRPr lang="en-US" sz="2200" dirty="0"/>
          </a:p>
        </p:txBody>
      </p:sp>
      <p:sp>
        <p:nvSpPr>
          <p:cNvPr id="18" name="p2-body"/>
          <p:cNvSpPr/>
          <p:nvPr/>
        </p:nvSpPr>
        <p:spPr>
          <a:xfrm>
            <a:off x="8483600" y="4140200"/>
            <a:ext cx="2540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Multi-Agent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Router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Capability Packs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Evaluation Framework</a:t>
            </a:r>
            <a:endParaRPr lang="en-US" sz="1600" dirty="0"/>
          </a:p>
        </p:txBody>
      </p:sp>
      <p:sp>
        <p:nvSpPr>
          <p:cNvPr id="19" name="p3-card"/>
          <p:cNvSpPr/>
          <p:nvPr/>
        </p:nvSpPr>
        <p:spPr>
          <a:xfrm>
            <a:off x="11811000" y="3022600"/>
            <a:ext cx="3683000" cy="3454400"/>
          </a:xfrm>
          <a:prstGeom prst="roundRect">
            <a:avLst>
              <a:gd name="adj" fmla="val 5147"/>
            </a:avLst>
          </a:prstGeom>
          <a:solidFill>
            <a:srgbClr val="1C2541"/>
          </a:solidFill>
          <a:ln/>
        </p:spPr>
      </p:sp>
      <p:sp>
        <p:nvSpPr>
          <p:cNvPr id="20" name="p3-title"/>
          <p:cNvSpPr/>
          <p:nvPr/>
        </p:nvSpPr>
        <p:spPr>
          <a:xfrm>
            <a:off x="12166600" y="3429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P3　Ecosystem</a:t>
            </a:r>
            <a:endParaRPr lang="en-US" sz="2200" dirty="0"/>
          </a:p>
        </p:txBody>
      </p:sp>
      <p:sp>
        <p:nvSpPr>
          <p:cNvPr id="21" name="p3-body"/>
          <p:cNvSpPr/>
          <p:nvPr/>
        </p:nvSpPr>
        <p:spPr>
          <a:xfrm>
            <a:off x="12166600" y="4140200"/>
            <a:ext cx="2794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Marketplace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Benchmark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Auto-Improvement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Multi-model Runtime</a:t>
            </a:r>
            <a:endParaRPr lang="en-US" sz="1600" dirty="0"/>
          </a:p>
        </p:txBody>
      </p:sp>
      <p:sp>
        <p:nvSpPr>
          <p:cNvPr id="22" name="playbook-callout"/>
          <p:cNvSpPr/>
          <p:nvPr/>
        </p:nvSpPr>
        <p:spPr>
          <a:xfrm>
            <a:off x="762000" y="7035800"/>
            <a:ext cx="14732000" cy="736600"/>
          </a:xfrm>
          <a:prstGeom prst="roundRect">
            <a:avLst>
              <a:gd name="adj" fmla="val 20690"/>
            </a:avLst>
          </a:prstGeom>
          <a:solidFill>
            <a:srgbClr val="13203A"/>
          </a:solidFill>
          <a:ln/>
        </p:spPr>
      </p:sp>
      <p:pic>
        <p:nvPicPr>
          <p:cNvPr id="23" name="playbook-callou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0" y="7226300"/>
            <a:ext cx="355600" cy="355600"/>
          </a:xfrm>
          <a:prstGeom prst="rect">
            <a:avLst/>
          </a:prstGeom>
        </p:spPr>
      </p:pic>
      <p:sp>
        <p:nvSpPr>
          <p:cNvPr id="24" name="playbook-callout-text"/>
          <p:cNvSpPr/>
          <p:nvPr/>
        </p:nvSpPr>
        <p:spPr>
          <a:xfrm>
            <a:off x="3429000" y="7162800"/>
            <a:ext cx="990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V1開発Playbook 20本が完了すると、SkillOSの最初の骨格が揃う。</a:t>
            </a:r>
            <a:endParaRPr lang="en-US" sz="2000" dirty="0"/>
          </a:p>
        </p:txBody>
      </p:sp>
      <p:sp>
        <p:nvSpPr>
          <p:cNvPr id="25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19 / 20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ine"/>
          <p:cNvSpPr/>
          <p:nvPr/>
        </p:nvSpPr>
        <p:spPr>
          <a:xfrm>
            <a:off x="762000" y="1320800"/>
            <a:ext cx="965200" cy="635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3" name="close-grid-1"/>
          <p:cNvSpPr/>
          <p:nvPr/>
        </p:nvSpPr>
        <p:spPr>
          <a:xfrm>
            <a:off x="11430000" y="1371600"/>
            <a:ext cx="31750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close-grid-2"/>
          <p:cNvSpPr/>
          <p:nvPr/>
        </p:nvSpPr>
        <p:spPr>
          <a:xfrm>
            <a:off x="12750800" y="2209800"/>
            <a:ext cx="2032000" cy="254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5" name="kicker"/>
          <p:cNvSpPr/>
          <p:nvPr/>
        </p:nvSpPr>
        <p:spPr>
          <a:xfrm>
            <a:off x="762000" y="1955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FINAL RECOMMENDATION</a:t>
            </a:r>
            <a:endParaRPr lang="en-US" sz="1600" dirty="0"/>
          </a:p>
        </p:txBody>
      </p:sp>
      <p:sp>
        <p:nvSpPr>
          <p:cNvPr id="6" name="title"/>
          <p:cNvSpPr/>
          <p:nvPr/>
        </p:nvSpPr>
        <p:spPr>
          <a:xfrm>
            <a:off x="762000" y="2565400"/>
            <a:ext cx="10922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48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Runtimeを固化する</a:t>
            </a:r>
            <a:endParaRPr lang="en-US" sz="4800" dirty="0"/>
          </a:p>
        </p:txBody>
      </p:sp>
      <p:sp>
        <p:nvSpPr>
          <p:cNvPr id="7" name="subtitle"/>
          <p:cNvSpPr/>
          <p:nvPr/>
        </p:nvSpPr>
        <p:spPr>
          <a:xfrm>
            <a:off x="762000" y="3733800"/>
            <a:ext cx="9906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5"/>
              </a:lnSpc>
              <a:buNone/>
            </a:pPr>
            <a:r>
              <a:rPr lang="en-US" altLang="en-US" sz="23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「Claude CodeをWeb化する」のではない。</a:t>
            </a:r>
            <a:endParaRPr lang="en-US" sz="2300" dirty="0"/>
          </a:p>
          <a:p>
            <a:pPr algn="l" indent="0" marL="0">
              <a:lnSpc>
                <a:spcPts val="3335"/>
              </a:lnSpc>
              <a:buNone/>
            </a:pPr>
            <a:r>
              <a:rPr lang="en-US" altLang="en-US" sz="23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蓄積したSkill・Playbook・PDCAを、独立したSkillOSへ抽象化する。</a:t>
            </a:r>
            <a:endParaRPr lang="en-US" sz="2300" dirty="0"/>
          </a:p>
        </p:txBody>
      </p:sp>
      <p:sp>
        <p:nvSpPr>
          <p:cNvPr id="8" name="takeaway-1"/>
          <p:cNvSpPr/>
          <p:nvPr/>
        </p:nvSpPr>
        <p:spPr>
          <a:xfrm>
            <a:off x="762000" y="5232400"/>
            <a:ext cx="4445000" cy="1600200"/>
          </a:xfrm>
          <a:prstGeom prst="roundRect">
            <a:avLst>
              <a:gd name="adj" fmla="val 11111"/>
            </a:avLst>
          </a:prstGeom>
          <a:solidFill>
            <a:srgbClr val="1C2541"/>
          </a:solidFill>
          <a:ln/>
        </p:spPr>
      </p:sp>
      <p:sp>
        <p:nvSpPr>
          <p:cNvPr id="9" name="takeaway-1-no"/>
          <p:cNvSpPr/>
          <p:nvPr/>
        </p:nvSpPr>
        <p:spPr>
          <a:xfrm>
            <a:off x="1117600" y="55626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akeaway-1-text"/>
          <p:cNvSpPr/>
          <p:nvPr/>
        </p:nvSpPr>
        <p:spPr>
          <a:xfrm>
            <a:off x="1117600" y="6045200"/>
            <a:ext cx="330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モデルは交換可能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Know-howは組織資産</a:t>
            </a:r>
            <a:endParaRPr lang="en-US" sz="2000" dirty="0"/>
          </a:p>
        </p:txBody>
      </p:sp>
      <p:sp>
        <p:nvSpPr>
          <p:cNvPr id="11" name="takeaway-2"/>
          <p:cNvSpPr/>
          <p:nvPr/>
        </p:nvSpPr>
        <p:spPr>
          <a:xfrm>
            <a:off x="5524500" y="5232400"/>
            <a:ext cx="4445000" cy="1600200"/>
          </a:xfrm>
          <a:prstGeom prst="roundRect">
            <a:avLst>
              <a:gd name="adj" fmla="val 11111"/>
            </a:avLst>
          </a:prstGeom>
          <a:solidFill>
            <a:srgbClr val="1C2541"/>
          </a:solidFill>
          <a:ln/>
        </p:spPr>
      </p:sp>
      <p:sp>
        <p:nvSpPr>
          <p:cNvPr id="12" name="takeaway-2-no"/>
          <p:cNvSpPr/>
          <p:nvPr/>
        </p:nvSpPr>
        <p:spPr>
          <a:xfrm>
            <a:off x="5880100" y="55626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32CD32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akeaway-2-text"/>
          <p:cNvSpPr/>
          <p:nvPr/>
        </p:nvSpPr>
        <p:spPr>
          <a:xfrm>
            <a:off x="5880100" y="6045200"/>
            <a:ext cx="330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 Registryを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Source of Truthにする</a:t>
            </a:r>
            <a:endParaRPr lang="en-US" sz="2000" dirty="0"/>
          </a:p>
        </p:txBody>
      </p:sp>
      <p:sp>
        <p:nvSpPr>
          <p:cNvPr id="14" name="takeaway-3"/>
          <p:cNvSpPr/>
          <p:nvPr/>
        </p:nvSpPr>
        <p:spPr>
          <a:xfrm>
            <a:off x="10287000" y="5232400"/>
            <a:ext cx="5207000" cy="1600200"/>
          </a:xfrm>
          <a:prstGeom prst="roundRect">
            <a:avLst>
              <a:gd name="adj" fmla="val 11111"/>
            </a:avLst>
          </a:prstGeom>
          <a:solidFill>
            <a:srgbClr val="13203A"/>
          </a:solidFill>
          <a:ln/>
        </p:spPr>
      </p:sp>
      <p:sp>
        <p:nvSpPr>
          <p:cNvPr id="15" name="takeaway-3-no"/>
          <p:cNvSpPr/>
          <p:nvPr/>
        </p:nvSpPr>
        <p:spPr>
          <a:xfrm>
            <a:off x="10642600" y="55626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0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akeaway-3-text"/>
          <p:cNvSpPr/>
          <p:nvPr/>
        </p:nvSpPr>
        <p:spPr>
          <a:xfrm>
            <a:off x="10642600" y="6045200"/>
            <a:ext cx="419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Execution Kernel ＋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Domain Capability Packsへ収束</a:t>
            </a:r>
            <a:endParaRPr lang="en-US" sz="2000" dirty="0"/>
          </a:p>
        </p:txBody>
      </p:sp>
      <p:sp>
        <p:nvSpPr>
          <p:cNvPr id="17" name="next-card"/>
          <p:cNvSpPr/>
          <p:nvPr/>
        </p:nvSpPr>
        <p:spPr>
          <a:xfrm>
            <a:off x="762000" y="7340600"/>
            <a:ext cx="14732000" cy="685800"/>
          </a:xfrm>
          <a:prstGeom prst="roundRect">
            <a:avLst>
              <a:gd name="adj" fmla="val 22222"/>
            </a:avLst>
          </a:prstGeom>
          <a:solidFill>
            <a:srgbClr val="17324B"/>
          </a:solidFill>
          <a:ln/>
        </p:spPr>
      </p:sp>
      <p:pic>
        <p:nvPicPr>
          <p:cNvPr id="18" name="nex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0" y="7505700"/>
            <a:ext cx="355600" cy="355600"/>
          </a:xfrm>
          <a:prstGeom prst="rect">
            <a:avLst/>
          </a:prstGeom>
        </p:spPr>
      </p:pic>
      <p:sp>
        <p:nvSpPr>
          <p:cNvPr id="19" name="next-text"/>
          <p:cNvSpPr/>
          <p:nvPr/>
        </p:nvSpPr>
        <p:spPr>
          <a:xfrm>
            <a:off x="3683000" y="7442200"/>
            <a:ext cx="914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次の一手：V1のAcceptance Contractを定義し、限定ユースケースでPoCを開始する。</a:t>
            </a:r>
            <a:endParaRPr lang="en-US" sz="2000" dirty="0"/>
          </a:p>
        </p:txBody>
      </p:sp>
      <p:sp>
        <p:nvSpPr>
          <p:cNvPr id="20" name="footer"/>
          <p:cNvSpPr/>
          <p:nvPr/>
        </p:nvSpPr>
        <p:spPr>
          <a:xfrm>
            <a:off x="762000" y="86360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Noto Sans JP" pitchFamily="34" charset="0"/>
                <a:ea typeface="Microsoft YaHei" pitchFamily="34" charset="-122"/>
                <a:cs typeface="Noto Sans JP" pitchFamily="34" charset="-120"/>
              </a:rPr>
              <a:t>SkillOS  |  Architecture Analysis　　　　　　　　　　　　　　　　　　　　　　　　　　　　20 / 20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SkillOS：汎用AIエンジニアリング実行基盤</dc:title>
  <dc:subject>SkillOS：汎用AIエンジニアリング実行基盤</dc:subject>
  <dc:creator>Manus</dc:creator>
  <cp:lastModifiedBy>Manus</cp:lastModifiedBy>
  <cp:revision>1</cp:revision>
  <dcterms:created xsi:type="dcterms:W3CDTF">2026-10-02T00:45:25Z</dcterms:created>
  <dcterms:modified xsi:type="dcterms:W3CDTF">2026-10-02T00:45:25Z</dcterms:modified>
</cp:coreProperties>
</file>