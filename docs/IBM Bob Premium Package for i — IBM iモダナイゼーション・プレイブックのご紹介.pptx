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6256000" cy="9144000"/>
  <p:notesSz cx="9144000" cy="16256000"/>
  <p:embeddedFontLst>
    <p:embeddedFont>
      <p:font typeface="Noto Sans JP" charset="-122" pitchFamily="34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5-1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762000" y="1625600"/>
            <a:ext cx="14732000" cy="9144"/>
          </a:xfrm>
          <a:prstGeom prst="line">
            <a:avLst/>
          </a:prstGeom>
          <a:ln w="38100">
            <a:solidFill>
              <a:srgbClr val="0F62FE"/>
            </a:solidFill>
            <a:prstDash val="solid"/>
          </a:ln>
        </p:spPr>
      </p:sp>
      <p:sp>
        <p:nvSpPr>
          <p:cNvPr id="3" name="cover-shape-2"/>
          <p:cNvSpPr/>
          <p:nvPr/>
        </p:nvSpPr>
        <p:spPr>
          <a:xfrm>
            <a:off x="9779000" y="2413000"/>
            <a:ext cx="4572000" cy="9144"/>
          </a:xfrm>
          <a:prstGeom prst="line">
            <a:avLst/>
          </a:prstGeom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cover-shape-3"/>
          <p:cNvSpPr/>
          <p:nvPr/>
        </p:nvSpPr>
        <p:spPr>
          <a:xfrm>
            <a:off x="11176000" y="3175000"/>
            <a:ext cx="3556000" cy="9144"/>
          </a:xfrm>
          <a:prstGeom prst="line">
            <a:avLst/>
          </a:prstGeom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5" name="cover-shape-4"/>
          <p:cNvSpPr/>
          <p:nvPr/>
        </p:nvSpPr>
        <p:spPr>
          <a:xfrm>
            <a:off x="9144000" y="3937000"/>
            <a:ext cx="5334000" cy="9144"/>
          </a:xfrm>
          <a:prstGeom prst="line">
            <a:avLst/>
          </a:prstGeom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6" name="cover-shape-5"/>
          <p:cNvSpPr/>
          <p:nvPr/>
        </p:nvSpPr>
        <p:spPr>
          <a:xfrm>
            <a:off x="13081000" y="2349500"/>
            <a:ext cx="228600" cy="22860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7" name="cover-shape-6"/>
          <p:cNvSpPr/>
          <p:nvPr/>
        </p:nvSpPr>
        <p:spPr>
          <a:xfrm>
            <a:off x="14224000" y="3111500"/>
            <a:ext cx="228600" cy="2286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cover-shape-7"/>
          <p:cNvSpPr/>
          <p:nvPr/>
        </p:nvSpPr>
        <p:spPr>
          <a:xfrm>
            <a:off x="12065000" y="3873500"/>
            <a:ext cx="228600" cy="2286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cover-text-8"/>
          <p:cNvSpPr/>
          <p:nvPr/>
        </p:nvSpPr>
        <p:spPr>
          <a:xfrm>
            <a:off x="762000" y="7874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IBM i モダナイゼーション・プレイブックライブラリ V2.1</a:t>
            </a:r>
            <a:endParaRPr lang="en-US" sz="1400" dirty="0"/>
          </a:p>
        </p:txBody>
      </p:sp>
      <p:sp>
        <p:nvSpPr>
          <p:cNvPr id="10" name="cover-text-9"/>
          <p:cNvSpPr/>
          <p:nvPr/>
        </p:nvSpPr>
        <p:spPr>
          <a:xfrm>
            <a:off x="762000" y="2667000"/>
            <a:ext cx="965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altLang="en-US" sz="4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IBM Bob Premium Package for i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altLang="en-US" sz="4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ご紹介</a:t>
            </a:r>
            <a:endParaRPr lang="en-US" sz="4800" dirty="0"/>
          </a:p>
        </p:txBody>
      </p:sp>
      <p:sp>
        <p:nvSpPr>
          <p:cNvPr id="11" name="cover-text-10"/>
          <p:cNvSpPr/>
          <p:nvPr/>
        </p:nvSpPr>
        <p:spPr>
          <a:xfrm>
            <a:off x="762000" y="4978400"/>
            <a:ext cx="825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altLang="en-US" sz="24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証跡と人の承認を軸に、IBM i近代化を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altLang="en-US" sz="24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段階的な実行へつなぐ。</a:t>
            </a:r>
            <a:endParaRPr lang="en-US" sz="2400" dirty="0"/>
          </a:p>
        </p:txBody>
      </p:sp>
      <p:sp>
        <p:nvSpPr>
          <p:cNvPr id="12" name="cover-text-11"/>
          <p:cNvSpPr/>
          <p:nvPr/>
        </p:nvSpPr>
        <p:spPr>
          <a:xfrm>
            <a:off x="762000" y="7721600"/>
            <a:ext cx="889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>
                    <a:alpha val="60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添付ライブラリ V2.1 / Execution Alignment Edition / 2026-09-29</a:t>
            </a:r>
            <a:endParaRPr lang="en-US" sz="1400" dirty="0"/>
          </a:p>
        </p:txBody>
      </p:sp>
      <p:sp>
        <p:nvSpPr>
          <p:cNvPr id="13" name="cover-text-12"/>
          <p:cNvSpPr/>
          <p:nvPr/>
        </p:nvSpPr>
        <p:spPr>
          <a:xfrm>
            <a:off x="14732000" y="838200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FFFFF">
                    <a:alpha val="60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mmary-text-1"/>
          <p:cNvSpPr/>
          <p:nvPr/>
        </p:nvSpPr>
        <p:spPr>
          <a:xfrm>
            <a:off x="762000" y="7112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エグゼクティブサマリー</a:t>
            </a:r>
            <a:endParaRPr lang="en-US" sz="3200" dirty="0"/>
          </a:p>
        </p:txBody>
      </p:sp>
      <p:sp>
        <p:nvSpPr>
          <p:cNvPr id="3" name="summary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summary-text-3"/>
          <p:cNvSpPr/>
          <p:nvPr/>
        </p:nvSpPr>
        <p:spPr>
          <a:xfrm>
            <a:off x="762000" y="2082800"/>
            <a:ext cx="1320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変更を急がず、根拠・検証・承認を揃えて近代化の判断と実行を支える。</a:t>
            </a:r>
            <a:endParaRPr lang="en-US" sz="2400" dirty="0"/>
          </a:p>
        </p:txBody>
      </p:sp>
      <p:sp>
        <p:nvSpPr>
          <p:cNvPr id="5" name="summary-shape-4"/>
          <p:cNvSpPr/>
          <p:nvPr/>
        </p:nvSpPr>
        <p:spPr>
          <a:xfrm>
            <a:off x="762000" y="3581400"/>
            <a:ext cx="2667000" cy="2667000"/>
          </a:xfrm>
          <a:prstGeom prst="roundRect">
            <a:avLst>
              <a:gd name="adj" fmla="val 4762"/>
            </a:avLst>
          </a:prstGeom>
          <a:solidFill>
            <a:srgbClr val="F1F4F8"/>
          </a:solidFill>
          <a:ln/>
        </p:spPr>
      </p:sp>
      <p:pic>
        <p:nvPicPr>
          <p:cNvPr id="6" name="summary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0" y="3886200"/>
            <a:ext cx="406400" cy="406400"/>
          </a:xfrm>
          <a:prstGeom prst="rect">
            <a:avLst/>
          </a:prstGeom>
        </p:spPr>
      </p:pic>
      <p:sp>
        <p:nvSpPr>
          <p:cNvPr id="7" name="summary-text-6"/>
          <p:cNvSpPr/>
          <p:nvPr/>
        </p:nvSpPr>
        <p:spPr>
          <a:xfrm>
            <a:off x="1041400" y="4546600"/>
            <a:ext cx="210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可視化</a:t>
            </a:r>
            <a:endParaRPr lang="en-US" sz="2100" dirty="0"/>
          </a:p>
        </p:txBody>
      </p:sp>
      <p:sp>
        <p:nvSpPr>
          <p:cNvPr id="8" name="summary-text-7"/>
          <p:cNvSpPr/>
          <p:nvPr/>
        </p:nvSpPr>
        <p:spPr>
          <a:xfrm>
            <a:off x="1041400" y="5181600"/>
            <a:ext cx="210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M01〜M02</a:t>
            </a: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資産と業務知識を整理</a:t>
            </a:r>
            <a:endParaRPr lang="en-US" sz="1600" dirty="0"/>
          </a:p>
        </p:txBody>
      </p:sp>
      <p:sp>
        <p:nvSpPr>
          <p:cNvPr id="9" name="summary-shape-8"/>
          <p:cNvSpPr/>
          <p:nvPr/>
        </p:nvSpPr>
        <p:spPr>
          <a:xfrm>
            <a:off x="3683000" y="3581400"/>
            <a:ext cx="2667000" cy="2667000"/>
          </a:xfrm>
          <a:prstGeom prst="roundRect">
            <a:avLst>
              <a:gd name="adj" fmla="val 4762"/>
            </a:avLst>
          </a:prstGeom>
          <a:solidFill>
            <a:srgbClr val="F1F4F8"/>
          </a:solidFill>
          <a:ln/>
        </p:spPr>
      </p:sp>
      <p:pic>
        <p:nvPicPr>
          <p:cNvPr id="10" name="summary-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3886200"/>
            <a:ext cx="406400" cy="406400"/>
          </a:xfrm>
          <a:prstGeom prst="rect">
            <a:avLst/>
          </a:prstGeom>
        </p:spPr>
      </p:pic>
      <p:sp>
        <p:nvSpPr>
          <p:cNvPr id="11" name="summary-text-10"/>
          <p:cNvSpPr/>
          <p:nvPr/>
        </p:nvSpPr>
        <p:spPr>
          <a:xfrm>
            <a:off x="3962400" y="4546600"/>
            <a:ext cx="210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計画</a:t>
            </a:r>
            <a:endParaRPr lang="en-US" sz="2100" dirty="0"/>
          </a:p>
        </p:txBody>
      </p:sp>
      <p:sp>
        <p:nvSpPr>
          <p:cNvPr id="12" name="summary-text-11"/>
          <p:cNvSpPr/>
          <p:nvPr/>
        </p:nvSpPr>
        <p:spPr>
          <a:xfrm>
            <a:off x="3962400" y="5181600"/>
            <a:ext cx="210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M03</a:t>
            </a: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方式・Pilot・Waveを決める</a:t>
            </a:r>
            <a:endParaRPr lang="en-US" sz="1600" dirty="0"/>
          </a:p>
        </p:txBody>
      </p:sp>
      <p:sp>
        <p:nvSpPr>
          <p:cNvPr id="13" name="summary-shape-12"/>
          <p:cNvSpPr/>
          <p:nvPr/>
        </p:nvSpPr>
        <p:spPr>
          <a:xfrm>
            <a:off x="6604000" y="3581400"/>
            <a:ext cx="2667000" cy="2667000"/>
          </a:xfrm>
          <a:prstGeom prst="roundRect">
            <a:avLst>
              <a:gd name="adj" fmla="val 4762"/>
            </a:avLst>
          </a:prstGeom>
          <a:solidFill>
            <a:srgbClr val="F1F4F8"/>
          </a:solidFill>
          <a:ln/>
        </p:spPr>
      </p:sp>
      <p:pic>
        <p:nvPicPr>
          <p:cNvPr id="14" name="summary-icon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3886200"/>
            <a:ext cx="406400" cy="406400"/>
          </a:xfrm>
          <a:prstGeom prst="rect">
            <a:avLst/>
          </a:prstGeom>
        </p:spPr>
      </p:pic>
      <p:sp>
        <p:nvSpPr>
          <p:cNvPr id="15" name="summary-text-14"/>
          <p:cNvSpPr/>
          <p:nvPr/>
        </p:nvSpPr>
        <p:spPr>
          <a:xfrm>
            <a:off x="6883400" y="4546600"/>
            <a:ext cx="210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実装・保証</a:t>
            </a:r>
            <a:endParaRPr lang="en-US" sz="2100" dirty="0"/>
          </a:p>
        </p:txBody>
      </p:sp>
      <p:sp>
        <p:nvSpPr>
          <p:cNvPr id="16" name="summary-text-15"/>
          <p:cNvSpPr/>
          <p:nvPr/>
        </p:nvSpPr>
        <p:spPr>
          <a:xfrm>
            <a:off x="6883400" y="5181600"/>
            <a:ext cx="210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M04〜M10</a:t>
            </a: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DEV/TESTで近代化・検証</a:t>
            </a:r>
            <a:endParaRPr lang="en-US" sz="1600" dirty="0"/>
          </a:p>
        </p:txBody>
      </p:sp>
      <p:sp>
        <p:nvSpPr>
          <p:cNvPr id="17" name="summary-shape-16"/>
          <p:cNvSpPr/>
          <p:nvPr/>
        </p:nvSpPr>
        <p:spPr>
          <a:xfrm>
            <a:off x="9525000" y="3581400"/>
            <a:ext cx="2667000" cy="2667000"/>
          </a:xfrm>
          <a:prstGeom prst="roundRect">
            <a:avLst>
              <a:gd name="adj" fmla="val 4762"/>
            </a:avLst>
          </a:prstGeom>
          <a:solidFill>
            <a:srgbClr val="F1F4F8"/>
          </a:solidFill>
          <a:ln/>
        </p:spPr>
      </p:sp>
      <p:pic>
        <p:nvPicPr>
          <p:cNvPr id="18" name="summary-icon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4400" y="3886200"/>
            <a:ext cx="406400" cy="406400"/>
          </a:xfrm>
          <a:prstGeom prst="rect">
            <a:avLst/>
          </a:prstGeom>
        </p:spPr>
      </p:pic>
      <p:sp>
        <p:nvSpPr>
          <p:cNvPr id="19" name="summary-text-18"/>
          <p:cNvSpPr/>
          <p:nvPr/>
        </p:nvSpPr>
        <p:spPr>
          <a:xfrm>
            <a:off x="9804400" y="4546600"/>
            <a:ext cx="210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リリース準備</a:t>
            </a:r>
            <a:endParaRPr lang="en-US" sz="2100" dirty="0"/>
          </a:p>
        </p:txBody>
      </p:sp>
      <p:sp>
        <p:nvSpPr>
          <p:cNvPr id="20" name="summary-text-19"/>
          <p:cNvSpPr/>
          <p:nvPr/>
        </p:nvSpPr>
        <p:spPr>
          <a:xfrm>
            <a:off x="9804400" y="5181600"/>
            <a:ext cx="210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M11</a:t>
            </a: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依存順ビルドと証跡</a:t>
            </a:r>
            <a:endParaRPr lang="en-US" sz="1600" dirty="0"/>
          </a:p>
        </p:txBody>
      </p:sp>
      <p:sp>
        <p:nvSpPr>
          <p:cNvPr id="21" name="summary-shape-20"/>
          <p:cNvSpPr/>
          <p:nvPr/>
        </p:nvSpPr>
        <p:spPr>
          <a:xfrm>
            <a:off x="12446000" y="3581400"/>
            <a:ext cx="3048000" cy="2667000"/>
          </a:xfrm>
          <a:prstGeom prst="roundRect">
            <a:avLst>
              <a:gd name="adj" fmla="val 4762"/>
            </a:avLst>
          </a:prstGeom>
          <a:solidFill>
            <a:srgbClr val="051429"/>
          </a:solidFill>
          <a:ln/>
        </p:spPr>
      </p:sp>
      <p:pic>
        <p:nvPicPr>
          <p:cNvPr id="22" name="summary-icon-2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5400" y="3886200"/>
            <a:ext cx="406400" cy="406400"/>
          </a:xfrm>
          <a:prstGeom prst="rect">
            <a:avLst/>
          </a:prstGeom>
        </p:spPr>
      </p:pic>
      <p:sp>
        <p:nvSpPr>
          <p:cNvPr id="23" name="summary-text-22"/>
          <p:cNvSpPr/>
          <p:nvPr/>
        </p:nvSpPr>
        <p:spPr>
          <a:xfrm>
            <a:off x="12725400" y="4546600"/>
            <a:ext cx="241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横断統制</a:t>
            </a:r>
            <a:endParaRPr lang="en-US" sz="2100" dirty="0"/>
          </a:p>
        </p:txBody>
      </p:sp>
      <p:sp>
        <p:nvSpPr>
          <p:cNvPr id="24" name="summary-text-23"/>
          <p:cNvSpPr/>
          <p:nvPr/>
        </p:nvSpPr>
        <p:spPr>
          <a:xfrm>
            <a:off x="12725400" y="5181600"/>
            <a:ext cx="241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M12</a:t>
            </a: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Wave単位で品質・課題を管理</a:t>
            </a:r>
            <a:endParaRPr lang="en-US" sz="1600" dirty="0"/>
          </a:p>
        </p:txBody>
      </p:sp>
      <p:sp>
        <p:nvSpPr>
          <p:cNvPr id="25" name="summary-text-24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出典：添付 IBM i Bob Playbook Library V2.1（2026-09-29）</a:t>
            </a:r>
            <a:endParaRPr lang="en-US" sz="1400" dirty="0"/>
          </a:p>
        </p:txBody>
      </p:sp>
      <p:sp>
        <p:nvSpPr>
          <p:cNvPr id="26" name="summary-text-2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sitioning-text-1"/>
          <p:cNvSpPr/>
          <p:nvPr/>
        </p:nvSpPr>
        <p:spPr>
          <a:xfrm>
            <a:off x="762000" y="7112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対象・位置づけ</a:t>
            </a:r>
            <a:endParaRPr lang="en-US" sz="3200" dirty="0"/>
          </a:p>
        </p:txBody>
      </p:sp>
      <p:sp>
        <p:nvSpPr>
          <p:cNvPr id="3" name="positioning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positioning-text-3"/>
          <p:cNvSpPr/>
          <p:nvPr/>
        </p:nvSpPr>
        <p:spPr>
          <a:xfrm>
            <a:off x="762000" y="2082800"/>
            <a:ext cx="134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IBM i資産を、根拠付きの近代化判断と実行へ接続するためのプレイブック群。</a:t>
            </a:r>
            <a:endParaRPr lang="en-US" sz="2400" dirty="0"/>
          </a:p>
        </p:txBody>
      </p:sp>
      <p:sp>
        <p:nvSpPr>
          <p:cNvPr id="5" name="positioning-shape-4"/>
          <p:cNvSpPr/>
          <p:nvPr/>
        </p:nvSpPr>
        <p:spPr>
          <a:xfrm>
            <a:off x="762000" y="3429000"/>
            <a:ext cx="5334000" cy="3556000"/>
          </a:xfrm>
          <a:prstGeom prst="roundRect">
            <a:avLst>
              <a:gd name="adj" fmla="val 3571"/>
            </a:avLst>
          </a:prstGeom>
          <a:solidFill>
            <a:srgbClr val="F1F4F8"/>
          </a:solidFill>
          <a:ln/>
        </p:spPr>
      </p:sp>
      <p:pic>
        <p:nvPicPr>
          <p:cNvPr id="6" name="positioning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810000"/>
            <a:ext cx="508000" cy="508000"/>
          </a:xfrm>
          <a:prstGeom prst="rect">
            <a:avLst/>
          </a:prstGeom>
        </p:spPr>
      </p:pic>
      <p:sp>
        <p:nvSpPr>
          <p:cNvPr id="7" name="positioning-text-6"/>
          <p:cNvSpPr/>
          <p:nvPr/>
        </p:nvSpPr>
        <p:spPr>
          <a:xfrm>
            <a:off x="1143000" y="4572000"/>
            <a:ext cx="419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現場で起きがちな不確実性</a:t>
            </a:r>
            <a:endParaRPr lang="en-US" sz="2400" dirty="0"/>
          </a:p>
        </p:txBody>
      </p:sp>
      <p:sp>
        <p:nvSpPr>
          <p:cNvPr id="8" name="positioning-text-7"/>
          <p:cNvSpPr/>
          <p:nvPr/>
        </p:nvSpPr>
        <p:spPr>
          <a:xfrm>
            <a:off x="1143000" y="54102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9875" indent="-269875">
              <a:lnSpc>
                <a:spcPts val="246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全体資産と依存関係が見えない</a:t>
            </a:r>
            <a:endParaRPr lang="en-US" sz="1700" dirty="0"/>
          </a:p>
          <a:p>
            <a:pPr algn="l" marL="269875" indent="-269875">
              <a:lnSpc>
                <a:spcPts val="246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仕様書が実装と乖離している</a:t>
            </a:r>
            <a:endParaRPr lang="en-US" sz="1700" dirty="0"/>
          </a:p>
          <a:p>
            <a:pPr algn="l" marL="269875" indent="-269875">
              <a:lnSpc>
                <a:spcPts val="246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優先順位と移行方式が決められない</a:t>
            </a:r>
            <a:endParaRPr lang="en-US" sz="1700" dirty="0"/>
          </a:p>
        </p:txBody>
      </p:sp>
      <p:sp>
        <p:nvSpPr>
          <p:cNvPr id="9" name="positioning-shape-8"/>
          <p:cNvSpPr/>
          <p:nvPr/>
        </p:nvSpPr>
        <p:spPr>
          <a:xfrm>
            <a:off x="6604000" y="4699000"/>
            <a:ext cx="2794000" cy="889000"/>
          </a:xfrm>
          <a:prstGeom prst="rightArrow">
            <a:avLst/>
          </a:prstGeom>
          <a:solidFill>
            <a:srgbClr val="0F62FE"/>
          </a:solidFill>
          <a:ln/>
        </p:spPr>
      </p:sp>
      <p:sp>
        <p:nvSpPr>
          <p:cNvPr id="10" name="positioning-text-9"/>
          <p:cNvSpPr/>
          <p:nvPr/>
        </p:nvSpPr>
        <p:spPr>
          <a:xfrm>
            <a:off x="6934200" y="49276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Evidenceを接続</a:t>
            </a:r>
            <a:endParaRPr lang="en-US" sz="1400" dirty="0"/>
          </a:p>
        </p:txBody>
      </p:sp>
      <p:sp>
        <p:nvSpPr>
          <p:cNvPr id="11" name="positioning-shape-10"/>
          <p:cNvSpPr/>
          <p:nvPr/>
        </p:nvSpPr>
        <p:spPr>
          <a:xfrm>
            <a:off x="10160000" y="3429000"/>
            <a:ext cx="5334000" cy="3556000"/>
          </a:xfrm>
          <a:prstGeom prst="roundRect">
            <a:avLst>
              <a:gd name="adj" fmla="val 3571"/>
            </a:avLst>
          </a:prstGeom>
          <a:solidFill>
            <a:srgbClr val="051429"/>
          </a:solidFill>
          <a:ln/>
        </p:spPr>
      </p:sp>
      <p:pic>
        <p:nvPicPr>
          <p:cNvPr id="12" name="positioning-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0" y="3810000"/>
            <a:ext cx="508000" cy="508000"/>
          </a:xfrm>
          <a:prstGeom prst="rect">
            <a:avLst/>
          </a:prstGeom>
        </p:spPr>
      </p:pic>
      <p:sp>
        <p:nvSpPr>
          <p:cNvPr id="13" name="positioning-text-12"/>
          <p:cNvSpPr/>
          <p:nvPr/>
        </p:nvSpPr>
        <p:spPr>
          <a:xfrm>
            <a:off x="10541000" y="4572000"/>
            <a:ext cx="406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意思決定できる状態へ</a:t>
            </a:r>
            <a:endParaRPr lang="en-US" sz="2400" dirty="0"/>
          </a:p>
        </p:txBody>
      </p:sp>
      <p:sp>
        <p:nvSpPr>
          <p:cNvPr id="14" name="positioning-text-13"/>
          <p:cNvSpPr/>
          <p:nvPr/>
        </p:nvSpPr>
        <p:spPr>
          <a:xfrm>
            <a:off x="10541000" y="54102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9875" indent="-269875">
              <a:lnSpc>
                <a:spcPts val="246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証跡付きの資産・業務知識</a:t>
            </a:r>
            <a:endParaRPr lang="en-US" sz="1700" dirty="0"/>
          </a:p>
          <a:p>
            <a:pPr algn="l" marL="269875" indent="-269875">
              <a:lnSpc>
                <a:spcPts val="246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依存関係を踏まえたWave計画</a:t>
            </a:r>
            <a:endParaRPr lang="en-US" sz="1700" dirty="0"/>
          </a:p>
          <a:p>
            <a:pPr algn="l" marL="269875" indent="-269875">
              <a:lnSpc>
                <a:spcPts val="246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DEV/TEST検証と人の承認</a:t>
            </a:r>
            <a:endParaRPr lang="en-US" sz="1700" dirty="0"/>
          </a:p>
        </p:txBody>
      </p:sp>
      <p:sp>
        <p:nvSpPr>
          <p:cNvPr id="15" name="positioning-text-14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対象：IBM iアプリケーション近代化および保守引継ぎの意思決定</a:t>
            </a:r>
            <a:endParaRPr lang="en-US" sz="1400" dirty="0"/>
          </a:p>
        </p:txBody>
      </p:sp>
      <p:sp>
        <p:nvSpPr>
          <p:cNvPr id="16" name="positioning-text-1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requisites-text-1"/>
          <p:cNvSpPr/>
          <p:nvPr/>
        </p:nvSpPr>
        <p:spPr>
          <a:xfrm>
            <a:off x="762000" y="7112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前提条件</a:t>
            </a:r>
            <a:endParaRPr lang="en-US" sz="3200" dirty="0"/>
          </a:p>
        </p:txBody>
      </p:sp>
      <p:sp>
        <p:nvSpPr>
          <p:cNvPr id="3" name="prerequisites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prerequisites-text-3"/>
          <p:cNvSpPr/>
          <p:nvPr/>
        </p:nvSpPr>
        <p:spPr>
          <a:xfrm>
            <a:off x="762000" y="2082800"/>
            <a:ext cx="1333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実行前に基盤・接続・公式コンポーネントの利用可否を確認し、不足時は変更を開始しない。</a:t>
            </a:r>
            <a:endParaRPr lang="en-US" sz="2400" dirty="0"/>
          </a:p>
        </p:txBody>
      </p:sp>
      <p:sp>
        <p:nvSpPr>
          <p:cNvPr id="5" name="prerequisites-shape-4"/>
          <p:cNvSpPr/>
          <p:nvPr/>
        </p:nvSpPr>
        <p:spPr>
          <a:xfrm>
            <a:off x="762000" y="3175000"/>
            <a:ext cx="6858000" cy="1841500"/>
          </a:xfrm>
          <a:prstGeom prst="roundRect">
            <a:avLst>
              <a:gd name="adj" fmla="val 6897"/>
            </a:avLst>
          </a:prstGeom>
          <a:solidFill>
            <a:srgbClr val="F1F4F8"/>
          </a:solidFill>
          <a:ln/>
        </p:spPr>
      </p:sp>
      <p:pic>
        <p:nvPicPr>
          <p:cNvPr id="6" name="prerequisites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3568700"/>
            <a:ext cx="482600" cy="482600"/>
          </a:xfrm>
          <a:prstGeom prst="rect">
            <a:avLst/>
          </a:prstGeom>
        </p:spPr>
      </p:pic>
      <p:sp>
        <p:nvSpPr>
          <p:cNvPr id="7" name="prerequisites-text-6"/>
          <p:cNvSpPr/>
          <p:nvPr/>
        </p:nvSpPr>
        <p:spPr>
          <a:xfrm>
            <a:off x="1905000" y="34544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Subscription / IDE</a:t>
            </a:r>
            <a:endParaRPr lang="en-US" sz="2200" dirty="0"/>
          </a:p>
        </p:txBody>
      </p:sp>
      <p:sp>
        <p:nvSpPr>
          <p:cNvPr id="8" name="prerequisites-text-7"/>
          <p:cNvSpPr/>
          <p:nvPr/>
        </p:nvSpPr>
        <p:spPr>
          <a:xfrm>
            <a:off x="1905000" y="4064000"/>
            <a:ext cx="495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IBM Bob・Premium Package</a:t>
            </a: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IBM Bob IDE 2.0.0 以上</a:t>
            </a:r>
            <a:endParaRPr lang="en-US" sz="1600" dirty="0"/>
          </a:p>
        </p:txBody>
      </p:sp>
      <p:sp>
        <p:nvSpPr>
          <p:cNvPr id="9" name="prerequisites-shape-8"/>
          <p:cNvSpPr/>
          <p:nvPr/>
        </p:nvSpPr>
        <p:spPr>
          <a:xfrm>
            <a:off x="8636000" y="3175000"/>
            <a:ext cx="6858000" cy="1841500"/>
          </a:xfrm>
          <a:prstGeom prst="roundRect">
            <a:avLst>
              <a:gd name="adj" fmla="val 6897"/>
            </a:avLst>
          </a:prstGeom>
          <a:solidFill>
            <a:srgbClr val="F1F4F8"/>
          </a:solidFill>
          <a:ln/>
        </p:spPr>
      </p:sp>
      <p:pic>
        <p:nvPicPr>
          <p:cNvPr id="10" name="prerequisites-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0" y="3568700"/>
            <a:ext cx="482600" cy="482600"/>
          </a:xfrm>
          <a:prstGeom prst="rect">
            <a:avLst/>
          </a:prstGeom>
        </p:spPr>
      </p:pic>
      <p:sp>
        <p:nvSpPr>
          <p:cNvPr id="11" name="prerequisites-text-10"/>
          <p:cNvSpPr/>
          <p:nvPr/>
        </p:nvSpPr>
        <p:spPr>
          <a:xfrm>
            <a:off x="9779000" y="34544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IBM i 拡張</a:t>
            </a:r>
            <a:endParaRPr lang="en-US" sz="2200" dirty="0"/>
          </a:p>
        </p:txBody>
      </p:sp>
      <p:sp>
        <p:nvSpPr>
          <p:cNvPr id="12" name="prerequisites-text-11"/>
          <p:cNvSpPr/>
          <p:nvPr/>
        </p:nvSpPr>
        <p:spPr>
          <a:xfrm>
            <a:off x="9779000" y="4064000"/>
            <a:ext cx="495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Code for IBM i・Db2 for IBM i</a:t>
            </a: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RPGLE・CLLE・IBM i Testing ほか</a:t>
            </a:r>
            <a:endParaRPr lang="en-US" sz="1600" dirty="0"/>
          </a:p>
        </p:txBody>
      </p:sp>
      <p:sp>
        <p:nvSpPr>
          <p:cNvPr id="13" name="prerequisites-shape-12"/>
          <p:cNvSpPr/>
          <p:nvPr/>
        </p:nvSpPr>
        <p:spPr>
          <a:xfrm>
            <a:off x="762000" y="5397500"/>
            <a:ext cx="6858000" cy="1841500"/>
          </a:xfrm>
          <a:prstGeom prst="roundRect">
            <a:avLst>
              <a:gd name="adj" fmla="val 6897"/>
            </a:avLst>
          </a:prstGeom>
          <a:solidFill>
            <a:srgbClr val="F1F4F8"/>
          </a:solidFill>
          <a:ln/>
        </p:spPr>
      </p:sp>
      <p:pic>
        <p:nvPicPr>
          <p:cNvPr id="14" name="prerequisites-icon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5791200"/>
            <a:ext cx="482600" cy="482600"/>
          </a:xfrm>
          <a:prstGeom prst="rect">
            <a:avLst/>
          </a:prstGeom>
        </p:spPr>
      </p:pic>
      <p:sp>
        <p:nvSpPr>
          <p:cNvPr id="15" name="prerequisites-text-14"/>
          <p:cNvSpPr/>
          <p:nvPr/>
        </p:nvSpPr>
        <p:spPr>
          <a:xfrm>
            <a:off x="1905000" y="56769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Platform</a:t>
            </a:r>
            <a:endParaRPr lang="en-US" sz="2200" dirty="0"/>
          </a:p>
        </p:txBody>
      </p:sp>
      <p:sp>
        <p:nvSpPr>
          <p:cNvPr id="16" name="prerequisites-text-15"/>
          <p:cNvSpPr/>
          <p:nvPr/>
        </p:nvSpPr>
        <p:spPr>
          <a:xfrm>
            <a:off x="1905000" y="6286500"/>
            <a:ext cx="495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Windows x64 または macOS ARM64</a:t>
            </a: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IBM i 7.4 以上</a:t>
            </a:r>
            <a:endParaRPr lang="en-US" sz="1600" dirty="0"/>
          </a:p>
        </p:txBody>
      </p:sp>
      <p:sp>
        <p:nvSpPr>
          <p:cNvPr id="17" name="prerequisites-shape-16"/>
          <p:cNvSpPr/>
          <p:nvPr/>
        </p:nvSpPr>
        <p:spPr>
          <a:xfrm>
            <a:off x="8636000" y="5397500"/>
            <a:ext cx="6858000" cy="1841500"/>
          </a:xfrm>
          <a:prstGeom prst="roundRect">
            <a:avLst>
              <a:gd name="adj" fmla="val 6897"/>
            </a:avLst>
          </a:prstGeom>
          <a:solidFill>
            <a:srgbClr val="F1F4F8"/>
          </a:solidFill>
          <a:ln/>
        </p:spPr>
      </p:sp>
      <p:pic>
        <p:nvPicPr>
          <p:cNvPr id="18" name="prerequisites-icon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5791200"/>
            <a:ext cx="482600" cy="482600"/>
          </a:xfrm>
          <a:prstGeom prst="rect">
            <a:avLst/>
          </a:prstGeom>
        </p:spPr>
      </p:pic>
      <p:sp>
        <p:nvSpPr>
          <p:cNvPr id="19" name="prerequisites-text-18"/>
          <p:cNvSpPr/>
          <p:nvPr/>
        </p:nvSpPr>
        <p:spPr>
          <a:xfrm>
            <a:off x="9779000" y="56769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Db2 / SSH / 接続</a:t>
            </a:r>
            <a:endParaRPr lang="en-US" sz="2200" dirty="0"/>
          </a:p>
        </p:txBody>
      </p:sp>
      <p:sp>
        <p:nvSpPr>
          <p:cNvPr id="20" name="prerequisites-text-19"/>
          <p:cNvSpPr/>
          <p:nvPr/>
        </p:nvSpPr>
        <p:spPr>
          <a:xfrm>
            <a:off x="9779000" y="6286500"/>
            <a:ext cx="495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推奨Db2 PTF Group・SSHD稼働</a:t>
            </a: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接続プロファイルの許可を確認</a:t>
            </a:r>
            <a:endParaRPr lang="en-US" sz="1600" dirty="0"/>
          </a:p>
        </p:txBody>
      </p:sp>
      <p:sp>
        <p:nvSpPr>
          <p:cNvPr id="21" name="prerequisites-shape-20"/>
          <p:cNvSpPr/>
          <p:nvPr/>
        </p:nvSpPr>
        <p:spPr>
          <a:xfrm>
            <a:off x="762000" y="7696200"/>
            <a:ext cx="14732000" cy="508000"/>
          </a:xfrm>
          <a:prstGeom prst="roundRect">
            <a:avLst>
              <a:gd name="adj" fmla="val 15000"/>
            </a:avLst>
          </a:prstGeom>
          <a:solidFill>
            <a:srgbClr val="051429"/>
          </a:solidFill>
          <a:ln/>
        </p:spPr>
      </p:sp>
      <p:sp>
        <p:nvSpPr>
          <p:cNvPr id="22" name="prerequisites-text-21"/>
          <p:cNvSpPr/>
          <p:nvPr/>
        </p:nvSpPr>
        <p:spPr>
          <a:xfrm>
            <a:off x="1041400" y="7823200"/>
            <a:ext cx="137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未充足の場合：PREREQUISITE_GAP として記録し、IBM i変更を開始しない</a:t>
            </a:r>
            <a:endParaRPr lang="en-US" sz="1400" dirty="0"/>
          </a:p>
        </p:txBody>
      </p:sp>
      <p:sp>
        <p:nvSpPr>
          <p:cNvPr id="23" name="prerequisites-text-2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ance-text-1"/>
          <p:cNvSpPr/>
          <p:nvPr/>
        </p:nvSpPr>
        <p:spPr>
          <a:xfrm>
            <a:off x="762000" y="7112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実行原則・ガバナンス</a:t>
            </a:r>
            <a:endParaRPr lang="en-US" sz="3200" dirty="0"/>
          </a:p>
        </p:txBody>
      </p:sp>
      <p:sp>
        <p:nvSpPr>
          <p:cNvPr id="3" name="governance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governance-text-3"/>
          <p:cNvSpPr/>
          <p:nvPr/>
        </p:nvSpPr>
        <p:spPr>
          <a:xfrm>
            <a:off x="762000" y="2082800"/>
            <a:ext cx="1397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Evidenceを残し、DEV/TESTを先行し、PRODの自動承認・自動適用を行わない。</a:t>
            </a:r>
            <a:endParaRPr lang="en-US" sz="2400" dirty="0"/>
          </a:p>
        </p:txBody>
      </p:sp>
      <p:sp>
        <p:nvSpPr>
          <p:cNvPr id="5" name="governance-shape-4"/>
          <p:cNvSpPr/>
          <p:nvPr/>
        </p:nvSpPr>
        <p:spPr>
          <a:xfrm>
            <a:off x="2159000" y="4572000"/>
            <a:ext cx="11430000" cy="9144"/>
          </a:xfrm>
          <a:prstGeom prst="line">
            <a:avLst/>
          </a:prstGeom>
          <a:ln w="38100">
            <a:solidFill>
              <a:srgbClr val="E0E0E0"/>
            </a:solidFill>
            <a:prstDash val="solid"/>
          </a:ln>
        </p:spPr>
      </p:sp>
      <p:sp>
        <p:nvSpPr>
          <p:cNvPr id="6" name="governance-shape-5"/>
          <p:cNvSpPr/>
          <p:nvPr/>
        </p:nvSpPr>
        <p:spPr>
          <a:xfrm>
            <a:off x="1905000" y="4191000"/>
            <a:ext cx="762000" cy="762000"/>
          </a:xfrm>
          <a:prstGeom prst="ellipse">
            <a:avLst/>
          </a:prstGeom>
          <a:solidFill>
            <a:srgbClr val="051429"/>
          </a:solidFill>
          <a:ln/>
        </p:spPr>
      </p:sp>
      <p:pic>
        <p:nvPicPr>
          <p:cNvPr id="7" name="governance-icon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00" y="4381500"/>
            <a:ext cx="381000" cy="381000"/>
          </a:xfrm>
          <a:prstGeom prst="rect">
            <a:avLst/>
          </a:prstGeom>
        </p:spPr>
      </p:pic>
      <p:sp>
        <p:nvSpPr>
          <p:cNvPr id="8" name="governance-text-7"/>
          <p:cNvSpPr/>
          <p:nvPr/>
        </p:nvSpPr>
        <p:spPr>
          <a:xfrm>
            <a:off x="889000" y="5334000"/>
            <a:ext cx="279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Evidence</a:t>
            </a:r>
            <a:endParaRPr lang="en-US" sz="2000" dirty="0"/>
          </a:p>
        </p:txBody>
      </p:sp>
      <p:sp>
        <p:nvSpPr>
          <p:cNvPr id="9" name="governance-text-8"/>
          <p:cNvSpPr/>
          <p:nvPr/>
        </p:nvSpPr>
        <p:spPr>
          <a:xfrm>
            <a:off x="889000" y="58928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VERIFIED</a:t>
            </a:r>
            <a:endParaRPr lang="en-US" sz="16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INFERRED / UNKNOWN</a:t>
            </a:r>
            <a:endParaRPr lang="en-US" sz="1600" dirty="0"/>
          </a:p>
        </p:txBody>
      </p:sp>
      <p:sp>
        <p:nvSpPr>
          <p:cNvPr id="10" name="governance-shape-9"/>
          <p:cNvSpPr/>
          <p:nvPr/>
        </p:nvSpPr>
        <p:spPr>
          <a:xfrm>
            <a:off x="5334000" y="4191000"/>
            <a:ext cx="762000" cy="762000"/>
          </a:xfrm>
          <a:prstGeom prst="ellipse">
            <a:avLst/>
          </a:prstGeom>
          <a:solidFill>
            <a:srgbClr val="051429"/>
          </a:solidFill>
          <a:ln/>
        </p:spPr>
      </p:sp>
      <p:pic>
        <p:nvPicPr>
          <p:cNvPr id="11" name="governance-icon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4381500"/>
            <a:ext cx="381000" cy="381000"/>
          </a:xfrm>
          <a:prstGeom prst="rect">
            <a:avLst/>
          </a:prstGeom>
        </p:spPr>
      </p:pic>
      <p:sp>
        <p:nvSpPr>
          <p:cNvPr id="12" name="governance-text-11"/>
          <p:cNvSpPr/>
          <p:nvPr/>
        </p:nvSpPr>
        <p:spPr>
          <a:xfrm>
            <a:off x="4318000" y="5334000"/>
            <a:ext cx="279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Scope</a:t>
            </a:r>
            <a:endParaRPr lang="en-US" sz="2000" dirty="0"/>
          </a:p>
        </p:txBody>
      </p:sp>
      <p:sp>
        <p:nvSpPr>
          <p:cNvPr id="13" name="governance-text-12"/>
          <p:cNvSpPr/>
          <p:nvPr/>
        </p:nvSpPr>
        <p:spPr>
          <a:xfrm>
            <a:off x="4318000" y="58928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DEV / TEST 先行</a:t>
            </a:r>
            <a:endParaRPr lang="en-US" sz="16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最小権限から開始</a:t>
            </a:r>
            <a:endParaRPr lang="en-US" sz="1600" dirty="0"/>
          </a:p>
        </p:txBody>
      </p:sp>
      <p:sp>
        <p:nvSpPr>
          <p:cNvPr id="14" name="governance-shape-13"/>
          <p:cNvSpPr/>
          <p:nvPr/>
        </p:nvSpPr>
        <p:spPr>
          <a:xfrm>
            <a:off x="8763000" y="4191000"/>
            <a:ext cx="762000" cy="762000"/>
          </a:xfrm>
          <a:prstGeom prst="ellipse">
            <a:avLst/>
          </a:prstGeom>
          <a:solidFill>
            <a:srgbClr val="0F62FE"/>
          </a:solidFill>
          <a:ln/>
        </p:spPr>
      </p:sp>
      <p:pic>
        <p:nvPicPr>
          <p:cNvPr id="15" name="governance-icon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0" y="4381500"/>
            <a:ext cx="381000" cy="381000"/>
          </a:xfrm>
          <a:prstGeom prst="rect">
            <a:avLst/>
          </a:prstGeom>
        </p:spPr>
      </p:pic>
      <p:sp>
        <p:nvSpPr>
          <p:cNvPr id="16" name="governance-text-15"/>
          <p:cNvSpPr/>
          <p:nvPr/>
        </p:nvSpPr>
        <p:spPr>
          <a:xfrm>
            <a:off x="7747000" y="5334000"/>
            <a:ext cx="279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Human Gate</a:t>
            </a:r>
            <a:endParaRPr lang="en-US" sz="2000" dirty="0"/>
          </a:p>
        </p:txBody>
      </p:sp>
      <p:sp>
        <p:nvSpPr>
          <p:cNvPr id="17" name="governance-text-16"/>
          <p:cNvSpPr/>
          <p:nvPr/>
        </p:nvSpPr>
        <p:spPr>
          <a:xfrm>
            <a:off x="7747000" y="58928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業務判断・高リスク変更</a:t>
            </a:r>
            <a:endParaRPr lang="en-US" sz="16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人が承認して実施</a:t>
            </a:r>
            <a:endParaRPr lang="en-US" sz="1600" dirty="0"/>
          </a:p>
        </p:txBody>
      </p:sp>
      <p:sp>
        <p:nvSpPr>
          <p:cNvPr id="18" name="governance-shape-17"/>
          <p:cNvSpPr/>
          <p:nvPr/>
        </p:nvSpPr>
        <p:spPr>
          <a:xfrm>
            <a:off x="12192000" y="4191000"/>
            <a:ext cx="762000" cy="762000"/>
          </a:xfrm>
          <a:prstGeom prst="ellipse">
            <a:avLst/>
          </a:prstGeom>
          <a:solidFill>
            <a:srgbClr val="051429"/>
          </a:solidFill>
          <a:ln/>
        </p:spPr>
      </p:sp>
      <p:pic>
        <p:nvPicPr>
          <p:cNvPr id="19" name="governance-icon-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0" y="4381500"/>
            <a:ext cx="381000" cy="381000"/>
          </a:xfrm>
          <a:prstGeom prst="rect">
            <a:avLst/>
          </a:prstGeom>
        </p:spPr>
      </p:pic>
      <p:sp>
        <p:nvSpPr>
          <p:cNvPr id="20" name="governance-text-19"/>
          <p:cNvSpPr/>
          <p:nvPr/>
        </p:nvSpPr>
        <p:spPr>
          <a:xfrm>
            <a:off x="11176000" y="5334000"/>
            <a:ext cx="279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PROD</a:t>
            </a:r>
            <a:endParaRPr lang="en-US" sz="2000" dirty="0"/>
          </a:p>
        </p:txBody>
      </p:sp>
      <p:sp>
        <p:nvSpPr>
          <p:cNvPr id="21" name="governance-text-20"/>
          <p:cNvSpPr/>
          <p:nvPr/>
        </p:nvSpPr>
        <p:spPr>
          <a:xfrm>
            <a:off x="11176000" y="58928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Auto-approve 禁止</a:t>
            </a:r>
            <a:endParaRPr lang="en-US" sz="16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顧客承認・実施</a:t>
            </a:r>
            <a:endParaRPr lang="en-US" sz="1600" dirty="0"/>
          </a:p>
        </p:txBody>
      </p:sp>
      <p:sp>
        <p:nvSpPr>
          <p:cNvPr id="22" name="governance-text-21"/>
          <p:cNvSpPr/>
          <p:nvPr/>
        </p:nvSpPr>
        <p:spPr>
          <a:xfrm>
            <a:off x="762000" y="7747000"/>
            <a:ext cx="139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公式Workflow / Slash Commandは、Playbook内部の自動呼出しではなく、ユーザーが起動する任意のショートカットです。</a:t>
            </a:r>
            <a:endParaRPr lang="en-US" sz="1400" dirty="0"/>
          </a:p>
        </p:txBody>
      </p:sp>
      <p:sp>
        <p:nvSpPr>
          <p:cNvPr id="23" name="governance-text-22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出典：添付 IBM i Bob Playbook Library V2.1（2026-09-29）</a:t>
            </a:r>
            <a:endParaRPr lang="en-US" sz="1400" dirty="0"/>
          </a:p>
        </p:txBody>
      </p:sp>
      <p:sp>
        <p:nvSpPr>
          <p:cNvPr id="24" name="governance-text-2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_to_end-text-1"/>
          <p:cNvSpPr/>
          <p:nvPr/>
        </p:nvSpPr>
        <p:spPr>
          <a:xfrm>
            <a:off x="762000" y="7112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エンドツーエンド全体像</a:t>
            </a:r>
            <a:endParaRPr lang="en-US" sz="3200" dirty="0"/>
          </a:p>
        </p:txBody>
      </p:sp>
      <p:sp>
        <p:nvSpPr>
          <p:cNvPr id="3" name="end_to_end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end_to_end-text-3"/>
          <p:cNvSpPr/>
          <p:nvPr/>
        </p:nvSpPr>
        <p:spPr>
          <a:xfrm>
            <a:off x="762000" y="2082800"/>
            <a:ext cx="134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可視化から横断統制までを、依存関係と承認ゲートに沿って連結する。</a:t>
            </a:r>
            <a:endParaRPr lang="en-US" sz="2400" dirty="0"/>
          </a:p>
        </p:txBody>
      </p:sp>
      <p:sp>
        <p:nvSpPr>
          <p:cNvPr id="5" name="end_to_end-shape-4"/>
          <p:cNvSpPr/>
          <p:nvPr/>
        </p:nvSpPr>
        <p:spPr>
          <a:xfrm>
            <a:off x="1524000" y="4673600"/>
            <a:ext cx="13208000" cy="9144"/>
          </a:xfrm>
          <a:prstGeom prst="line">
            <a:avLst/>
          </a:prstGeom>
          <a:ln w="63500">
            <a:solidFill>
              <a:srgbClr val="E0E0E0"/>
            </a:solidFill>
            <a:prstDash val="solid"/>
          </a:ln>
        </p:spPr>
      </p:sp>
      <p:sp>
        <p:nvSpPr>
          <p:cNvPr id="6" name="end_to_end-shape-5"/>
          <p:cNvSpPr/>
          <p:nvPr/>
        </p:nvSpPr>
        <p:spPr>
          <a:xfrm>
            <a:off x="1981200" y="4241800"/>
            <a:ext cx="863600" cy="863600"/>
          </a:xfrm>
          <a:prstGeom prst="ellipse">
            <a:avLst/>
          </a:prstGeom>
          <a:solidFill>
            <a:srgbClr val="051429"/>
          </a:solidFill>
          <a:ln/>
        </p:spPr>
      </p:sp>
      <p:sp>
        <p:nvSpPr>
          <p:cNvPr id="7" name="end_to_end-text-6"/>
          <p:cNvSpPr/>
          <p:nvPr/>
        </p:nvSpPr>
        <p:spPr>
          <a:xfrm>
            <a:off x="1778000" y="5461000"/>
            <a:ext cx="12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把握</a:t>
            </a:r>
            <a:endParaRPr lang="en-US" sz="2000" dirty="0"/>
          </a:p>
        </p:txBody>
      </p:sp>
      <p:sp>
        <p:nvSpPr>
          <p:cNvPr id="8" name="end_to_end-text-7"/>
          <p:cNvSpPr/>
          <p:nvPr/>
        </p:nvSpPr>
        <p:spPr>
          <a:xfrm>
            <a:off x="1524000" y="5969000"/>
            <a:ext cx="177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M01〜M02</a:t>
            </a:r>
            <a:endParaRPr lang="en-US" sz="16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資産・業務知識</a:t>
            </a:r>
            <a:endParaRPr lang="en-US" sz="1600" dirty="0"/>
          </a:p>
        </p:txBody>
      </p:sp>
      <p:sp>
        <p:nvSpPr>
          <p:cNvPr id="9" name="end_to_end-shape-8"/>
          <p:cNvSpPr/>
          <p:nvPr/>
        </p:nvSpPr>
        <p:spPr>
          <a:xfrm>
            <a:off x="5283200" y="4241800"/>
            <a:ext cx="863600" cy="863600"/>
          </a:xfrm>
          <a:prstGeom prst="ellipse">
            <a:avLst/>
          </a:prstGeom>
          <a:solidFill>
            <a:srgbClr val="051429"/>
          </a:solidFill>
          <a:ln/>
        </p:spPr>
      </p:sp>
      <p:sp>
        <p:nvSpPr>
          <p:cNvPr id="10" name="end_to_end-text-9"/>
          <p:cNvSpPr/>
          <p:nvPr/>
        </p:nvSpPr>
        <p:spPr>
          <a:xfrm>
            <a:off x="5080000" y="5461000"/>
            <a:ext cx="12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判断</a:t>
            </a:r>
            <a:endParaRPr lang="en-US" sz="2000" dirty="0"/>
          </a:p>
        </p:txBody>
      </p:sp>
      <p:sp>
        <p:nvSpPr>
          <p:cNvPr id="11" name="end_to_end-text-10"/>
          <p:cNvSpPr/>
          <p:nvPr/>
        </p:nvSpPr>
        <p:spPr>
          <a:xfrm>
            <a:off x="4826000" y="5969000"/>
            <a:ext cx="177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M03</a:t>
            </a:r>
            <a:endParaRPr lang="en-US" sz="16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方式・Wave</a:t>
            </a:r>
            <a:endParaRPr lang="en-US" sz="1600" dirty="0"/>
          </a:p>
        </p:txBody>
      </p:sp>
      <p:sp>
        <p:nvSpPr>
          <p:cNvPr id="12" name="end_to_end-shape-11"/>
          <p:cNvSpPr/>
          <p:nvPr/>
        </p:nvSpPr>
        <p:spPr>
          <a:xfrm>
            <a:off x="8585200" y="4241800"/>
            <a:ext cx="863600" cy="86360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3" name="end_to_end-text-12"/>
          <p:cNvSpPr/>
          <p:nvPr/>
        </p:nvSpPr>
        <p:spPr>
          <a:xfrm>
            <a:off x="8255000" y="5461000"/>
            <a:ext cx="152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実装・保証</a:t>
            </a:r>
            <a:endParaRPr lang="en-US" sz="2000" dirty="0"/>
          </a:p>
        </p:txBody>
      </p:sp>
      <p:sp>
        <p:nvSpPr>
          <p:cNvPr id="14" name="end_to_end-text-13"/>
          <p:cNvSpPr/>
          <p:nvPr/>
        </p:nvSpPr>
        <p:spPr>
          <a:xfrm>
            <a:off x="8128000" y="5969000"/>
            <a:ext cx="177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M04〜M10</a:t>
            </a:r>
            <a:endParaRPr lang="en-US" sz="16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DEV / TEST</a:t>
            </a:r>
            <a:endParaRPr lang="en-US" sz="1600" dirty="0"/>
          </a:p>
        </p:txBody>
      </p:sp>
      <p:sp>
        <p:nvSpPr>
          <p:cNvPr id="15" name="end_to_end-shape-14"/>
          <p:cNvSpPr/>
          <p:nvPr/>
        </p:nvSpPr>
        <p:spPr>
          <a:xfrm>
            <a:off x="11887200" y="4241800"/>
            <a:ext cx="863600" cy="863600"/>
          </a:xfrm>
          <a:prstGeom prst="ellipse">
            <a:avLst/>
          </a:prstGeom>
          <a:solidFill>
            <a:srgbClr val="051429"/>
          </a:solidFill>
          <a:ln/>
        </p:spPr>
      </p:sp>
      <p:sp>
        <p:nvSpPr>
          <p:cNvPr id="16" name="end_to_end-text-15"/>
          <p:cNvSpPr/>
          <p:nvPr/>
        </p:nvSpPr>
        <p:spPr>
          <a:xfrm>
            <a:off x="11684000" y="5461000"/>
            <a:ext cx="12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展開</a:t>
            </a:r>
            <a:endParaRPr lang="en-US" sz="2000" dirty="0"/>
          </a:p>
        </p:txBody>
      </p:sp>
      <p:sp>
        <p:nvSpPr>
          <p:cNvPr id="17" name="end_to_end-text-16"/>
          <p:cNvSpPr/>
          <p:nvPr/>
        </p:nvSpPr>
        <p:spPr>
          <a:xfrm>
            <a:off x="11430000" y="5969000"/>
            <a:ext cx="177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M11〜M12</a:t>
            </a:r>
            <a:endParaRPr lang="en-US" sz="16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準備・横断統制</a:t>
            </a:r>
            <a:endParaRPr lang="en-US" sz="1600" dirty="0"/>
          </a:p>
        </p:txBody>
      </p:sp>
      <p:sp>
        <p:nvSpPr>
          <p:cNvPr id="18" name="end_to_end-shape-17"/>
          <p:cNvSpPr/>
          <p:nvPr/>
        </p:nvSpPr>
        <p:spPr>
          <a:xfrm>
            <a:off x="762000" y="7289800"/>
            <a:ext cx="14732000" cy="609600"/>
          </a:xfrm>
          <a:prstGeom prst="roundRect">
            <a:avLst>
              <a:gd name="adj" fmla="val 12500"/>
            </a:avLst>
          </a:prstGeom>
          <a:solidFill>
            <a:srgbClr val="F1F4F8"/>
          </a:solidFill>
          <a:ln/>
        </p:spPr>
      </p:sp>
      <p:sp>
        <p:nvSpPr>
          <p:cNvPr id="19" name="end_to_end-text-18"/>
          <p:cNvSpPr/>
          <p:nvPr/>
        </p:nvSpPr>
        <p:spPr>
          <a:xfrm>
            <a:off x="1066800" y="7467600"/>
            <a:ext cx="14122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全工程共通：Evidence / VERIFIED・INFERRED・UNKNOWN / DEV・TEST先行 / Human Gate</a:t>
            </a:r>
            <a:endParaRPr lang="en-US" sz="1400" dirty="0"/>
          </a:p>
        </p:txBody>
      </p:sp>
      <p:sp>
        <p:nvSpPr>
          <p:cNvPr id="20" name="end_to_end-text-19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出典：添付 IBM i Bob Playbook Library V2.1（2026-09-29）</a:t>
            </a:r>
            <a:endParaRPr lang="en-US" sz="1400" dirty="0"/>
          </a:p>
        </p:txBody>
      </p:sp>
      <p:sp>
        <p:nvSpPr>
          <p:cNvPr id="21" name="end_to_end-text-20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01-text-1"/>
          <p:cNvSpPr/>
          <p:nvPr/>
        </p:nvSpPr>
        <p:spPr>
          <a:xfrm>
            <a:off x="762000" y="7112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M01 資産の一括可視化</a:t>
            </a:r>
            <a:endParaRPr lang="en-US" sz="3200" dirty="0"/>
          </a:p>
        </p:txBody>
      </p:sp>
      <p:sp>
        <p:nvSpPr>
          <p:cNvPr id="3" name="m01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m01-text-3"/>
          <p:cNvSpPr/>
          <p:nvPr/>
        </p:nvSpPr>
        <p:spPr>
          <a:xfrm>
            <a:off x="762000" y="2082800"/>
            <a:ext cx="134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変更なしで、アプリ資産・依存・構成・未解決事項を根拠付きで一括可視化する。</a:t>
            </a:r>
            <a:endParaRPr lang="en-US" sz="2400" dirty="0"/>
          </a:p>
        </p:txBody>
      </p:sp>
      <p:sp>
        <p:nvSpPr>
          <p:cNvPr id="5" name="m01-text-4"/>
          <p:cNvSpPr/>
          <p:nvPr/>
        </p:nvSpPr>
        <p:spPr>
          <a:xfrm>
            <a:off x="762000" y="3429000"/>
            <a:ext cx="558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対象を読み取り、Evidenceを統合</a:t>
            </a:r>
            <a:endParaRPr lang="en-US" sz="2300" dirty="0"/>
          </a:p>
        </p:txBody>
      </p:sp>
      <p:sp>
        <p:nvSpPr>
          <p:cNvPr id="6" name="m01-text-5"/>
          <p:cNvSpPr/>
          <p:nvPr/>
        </p:nvSpPr>
        <p:spPr>
          <a:xfrm>
            <a:off x="762000" y="4292600"/>
            <a:ext cx="558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7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オブジェクトとソースの対応を台帳化</a:t>
            </a:r>
            <a:endParaRPr lang="en-US" sz="1800" dirty="0"/>
          </a:p>
          <a:p>
            <a:pPr algn="l" marL="285750" indent="-285750">
              <a:lnSpc>
                <a:spcPts val="27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CALL / DB / IFS連携を追跡</a:t>
            </a:r>
            <a:endParaRPr lang="en-US" sz="1800" dirty="0"/>
          </a:p>
          <a:p>
            <a:pPr algn="l" marL="285750" indent="-285750">
              <a:lnSpc>
                <a:spcPts val="27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ERDと構成図を作成</a:t>
            </a:r>
            <a:endParaRPr lang="en-US" sz="1800" dirty="0"/>
          </a:p>
          <a:p>
            <a:pPr algn="l" marL="285750" indent="-285750">
              <a:lnSpc>
                <a:spcPts val="27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UNKNOWNの件数・内訳を報告</a:t>
            </a:r>
            <a:endParaRPr lang="en-US" sz="1800" dirty="0"/>
          </a:p>
        </p:txBody>
      </p:sp>
      <p:sp>
        <p:nvSpPr>
          <p:cNvPr id="7" name="m01-shape-6"/>
          <p:cNvSpPr/>
          <p:nvPr/>
        </p:nvSpPr>
        <p:spPr>
          <a:xfrm>
            <a:off x="8255000" y="3708400"/>
            <a:ext cx="3429000" cy="1168400"/>
          </a:xfrm>
          <a:prstGeom prst="roundRect">
            <a:avLst>
              <a:gd name="adj" fmla="val 10870"/>
            </a:avLst>
          </a:prstGeom>
          <a:solidFill>
            <a:srgbClr val="051429"/>
          </a:solidFill>
          <a:ln/>
        </p:spPr>
      </p:sp>
      <p:pic>
        <p:nvPicPr>
          <p:cNvPr id="8" name="m01-icon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4038600"/>
            <a:ext cx="431800" cy="431800"/>
          </a:xfrm>
          <a:prstGeom prst="rect">
            <a:avLst/>
          </a:prstGeom>
        </p:spPr>
      </p:pic>
      <p:sp>
        <p:nvSpPr>
          <p:cNvPr id="9" name="m01-text-8"/>
          <p:cNvSpPr/>
          <p:nvPr/>
        </p:nvSpPr>
        <p:spPr>
          <a:xfrm>
            <a:off x="9194800" y="3987800"/>
            <a:ext cx="210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asset_register</a:t>
            </a:r>
            <a:endParaRPr lang="en-US" sz="1900" dirty="0"/>
          </a:p>
        </p:txBody>
      </p:sp>
      <p:sp>
        <p:nvSpPr>
          <p:cNvPr id="10" name="m01-shape-9"/>
          <p:cNvSpPr/>
          <p:nvPr/>
        </p:nvSpPr>
        <p:spPr>
          <a:xfrm>
            <a:off x="9969500" y="4876800"/>
            <a:ext cx="9144" cy="508000"/>
          </a:xfrm>
          <a:prstGeom prst="line">
            <a:avLst/>
          </a:prstGeom>
          <a:ln w="25400">
            <a:solidFill>
              <a:srgbClr val="E0E0E0"/>
            </a:solidFill>
            <a:prstDash val="solid"/>
          </a:ln>
        </p:spPr>
      </p:sp>
      <p:sp>
        <p:nvSpPr>
          <p:cNvPr id="11" name="m01-shape-10"/>
          <p:cNvSpPr/>
          <p:nvPr/>
        </p:nvSpPr>
        <p:spPr>
          <a:xfrm>
            <a:off x="7429500" y="5384800"/>
            <a:ext cx="5207000" cy="9144"/>
          </a:xfrm>
          <a:prstGeom prst="line">
            <a:avLst/>
          </a:prstGeom>
          <a:ln w="25400">
            <a:solidFill>
              <a:srgbClr val="E0E0E0"/>
            </a:solidFill>
            <a:prstDash val="solid"/>
          </a:ln>
        </p:spPr>
      </p:sp>
      <p:sp>
        <p:nvSpPr>
          <p:cNvPr id="12" name="m01-shape-11"/>
          <p:cNvSpPr/>
          <p:nvPr/>
        </p:nvSpPr>
        <p:spPr>
          <a:xfrm>
            <a:off x="6604000" y="5689600"/>
            <a:ext cx="2413000" cy="6350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/>
        </p:spPr>
      </p:sp>
      <p:sp>
        <p:nvSpPr>
          <p:cNvPr id="13" name="m01-text-12"/>
          <p:cNvSpPr/>
          <p:nvPr/>
        </p:nvSpPr>
        <p:spPr>
          <a:xfrm>
            <a:off x="6731000" y="5880100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call_graph.mmd</a:t>
            </a:r>
            <a:endParaRPr lang="en-US" sz="1400" dirty="0"/>
          </a:p>
        </p:txBody>
      </p:sp>
      <p:sp>
        <p:nvSpPr>
          <p:cNvPr id="14" name="m01-shape-13"/>
          <p:cNvSpPr/>
          <p:nvPr/>
        </p:nvSpPr>
        <p:spPr>
          <a:xfrm>
            <a:off x="9652000" y="5689600"/>
            <a:ext cx="2413000" cy="6350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/>
        </p:spPr>
      </p:sp>
      <p:sp>
        <p:nvSpPr>
          <p:cNvPr id="15" name="m01-text-14"/>
          <p:cNvSpPr/>
          <p:nvPr/>
        </p:nvSpPr>
        <p:spPr>
          <a:xfrm>
            <a:off x="9779000" y="5880100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db_dependency.csv</a:t>
            </a:r>
            <a:endParaRPr lang="en-US" sz="1400" dirty="0"/>
          </a:p>
        </p:txBody>
      </p:sp>
      <p:sp>
        <p:nvSpPr>
          <p:cNvPr id="16" name="m01-shape-15"/>
          <p:cNvSpPr/>
          <p:nvPr/>
        </p:nvSpPr>
        <p:spPr>
          <a:xfrm>
            <a:off x="12700000" y="5689600"/>
            <a:ext cx="2413000" cy="6350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/>
        </p:spPr>
      </p:sp>
      <p:sp>
        <p:nvSpPr>
          <p:cNvPr id="17" name="m01-text-16"/>
          <p:cNvSpPr/>
          <p:nvPr/>
        </p:nvSpPr>
        <p:spPr>
          <a:xfrm>
            <a:off x="12827000" y="5880100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erd.mmd</a:t>
            </a:r>
            <a:endParaRPr lang="en-US" sz="1400" dirty="0"/>
          </a:p>
        </p:txBody>
      </p:sp>
      <p:sp>
        <p:nvSpPr>
          <p:cNvPr id="18" name="m01-shape-17"/>
          <p:cNvSpPr/>
          <p:nvPr/>
        </p:nvSpPr>
        <p:spPr>
          <a:xfrm>
            <a:off x="8128000" y="6705600"/>
            <a:ext cx="2794000" cy="6350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/>
        </p:spPr>
      </p:sp>
      <p:sp>
        <p:nvSpPr>
          <p:cNvPr id="19" name="m01-text-18"/>
          <p:cNvSpPr/>
          <p:nvPr/>
        </p:nvSpPr>
        <p:spPr>
          <a:xfrm>
            <a:off x="8255000" y="68961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architecture.md</a:t>
            </a:r>
            <a:endParaRPr lang="en-US" sz="1400" dirty="0"/>
          </a:p>
        </p:txBody>
      </p:sp>
      <p:sp>
        <p:nvSpPr>
          <p:cNvPr id="20" name="m01-shape-19"/>
          <p:cNvSpPr/>
          <p:nvPr/>
        </p:nvSpPr>
        <p:spPr>
          <a:xfrm>
            <a:off x="11430000" y="6705600"/>
            <a:ext cx="2794000" cy="635000"/>
          </a:xfrm>
          <a:prstGeom prst="roundRect">
            <a:avLst>
              <a:gd name="adj" fmla="val 12000"/>
            </a:avLst>
          </a:prstGeom>
          <a:solidFill>
            <a:srgbClr val="0F62FE"/>
          </a:solidFill>
          <a:ln/>
        </p:spPr>
      </p:sp>
      <p:sp>
        <p:nvSpPr>
          <p:cNvPr id="21" name="m01-text-20"/>
          <p:cNvSpPr/>
          <p:nvPr/>
        </p:nvSpPr>
        <p:spPr>
          <a:xfrm>
            <a:off x="11557000" y="68961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unknowns.md</a:t>
            </a:r>
            <a:endParaRPr lang="en-US" sz="1400" dirty="0"/>
          </a:p>
        </p:txBody>
      </p:sp>
      <p:sp>
        <p:nvSpPr>
          <p:cNvPr id="22" name="m01-text-21"/>
          <p:cNvSpPr/>
          <p:nvPr/>
        </p:nvSpPr>
        <p:spPr>
          <a:xfrm>
            <a:off x="762000" y="7747000"/>
            <a:ext cx="139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一覧取得が上限に達した場合はページング／範囲分割を行い、Scope ExhaustedのEvidenceを記録。</a:t>
            </a:r>
            <a:endParaRPr lang="en-US" sz="1400" dirty="0"/>
          </a:p>
        </p:txBody>
      </p:sp>
      <p:sp>
        <p:nvSpPr>
          <p:cNvPr id="23" name="m01-text-22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変更範囲：IBM i Mutation = NONE　/　Mode：IBM i Developer ⇄ IBM i Database</a:t>
            </a:r>
            <a:endParaRPr lang="en-US" sz="1400" dirty="0"/>
          </a:p>
        </p:txBody>
      </p:sp>
      <p:sp>
        <p:nvSpPr>
          <p:cNvPr id="24" name="m01-text-2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02-text-1"/>
          <p:cNvSpPr/>
          <p:nvPr/>
        </p:nvSpPr>
        <p:spPr>
          <a:xfrm>
            <a:off x="762000" y="7112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M02 業務ロジックの知識化</a:t>
            </a:r>
            <a:endParaRPr lang="en-US" sz="3200" dirty="0"/>
          </a:p>
        </p:txBody>
      </p:sp>
      <p:sp>
        <p:nvSpPr>
          <p:cNvPr id="3" name="m02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m02-text-3"/>
          <p:cNvSpPr/>
          <p:nvPr/>
        </p:nvSpPr>
        <p:spPr>
          <a:xfrm>
            <a:off x="762000" y="2082800"/>
            <a:ext cx="1397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実装に埋もれた業務ルール、バッチ順序、用語を、承認可能な知識ドキュメントへ変換する。</a:t>
            </a:r>
            <a:endParaRPr lang="en-US" sz="2400" dirty="0"/>
          </a:p>
        </p:txBody>
      </p:sp>
      <p:sp>
        <p:nvSpPr>
          <p:cNvPr id="5" name="m02-shape-4"/>
          <p:cNvSpPr/>
          <p:nvPr/>
        </p:nvSpPr>
        <p:spPr>
          <a:xfrm>
            <a:off x="762000" y="3429000"/>
            <a:ext cx="3048000" cy="2921000"/>
          </a:xfrm>
          <a:prstGeom prst="roundRect">
            <a:avLst>
              <a:gd name="adj" fmla="val 4348"/>
            </a:avLst>
          </a:prstGeom>
          <a:solidFill>
            <a:srgbClr val="F1F4F8"/>
          </a:solidFill>
          <a:ln/>
        </p:spPr>
      </p:sp>
      <p:pic>
        <p:nvPicPr>
          <p:cNvPr id="6" name="m02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3810000"/>
            <a:ext cx="457200" cy="457200"/>
          </a:xfrm>
          <a:prstGeom prst="rect">
            <a:avLst/>
          </a:prstGeom>
        </p:spPr>
      </p:pic>
      <p:sp>
        <p:nvSpPr>
          <p:cNvPr id="7" name="m02-text-6"/>
          <p:cNvSpPr/>
          <p:nvPr/>
        </p:nvSpPr>
        <p:spPr>
          <a:xfrm>
            <a:off x="1117600" y="4597400"/>
            <a:ext cx="228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入力</a:t>
            </a:r>
            <a:endParaRPr lang="en-US" sz="2100" dirty="0"/>
          </a:p>
        </p:txBody>
      </p:sp>
      <p:sp>
        <p:nvSpPr>
          <p:cNvPr id="8" name="m02-text-7"/>
          <p:cNvSpPr/>
          <p:nvPr/>
        </p:nvSpPr>
        <p:spPr>
          <a:xfrm>
            <a:off x="1117600" y="5257800"/>
            <a:ext cx="2222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RPGソース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依存ファイル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CL / ジョブ情報</a:t>
            </a:r>
            <a:endParaRPr lang="en-US" sz="1600" dirty="0"/>
          </a:p>
        </p:txBody>
      </p:sp>
      <p:sp>
        <p:nvSpPr>
          <p:cNvPr id="9" name="m02-shape-8"/>
          <p:cNvSpPr/>
          <p:nvPr/>
        </p:nvSpPr>
        <p:spPr>
          <a:xfrm>
            <a:off x="4191000" y="4343400"/>
            <a:ext cx="1524000" cy="736600"/>
          </a:xfrm>
          <a:prstGeom prst="rightArrow">
            <a:avLst/>
          </a:prstGeom>
          <a:solidFill>
            <a:srgbClr val="0F62FE"/>
          </a:solidFill>
          <a:ln/>
        </p:spPr>
      </p:sp>
      <p:sp>
        <p:nvSpPr>
          <p:cNvPr id="10" name="m02-text-9"/>
          <p:cNvSpPr/>
          <p:nvPr/>
        </p:nvSpPr>
        <p:spPr>
          <a:xfrm>
            <a:off x="4318000" y="45720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分析</a:t>
            </a:r>
            <a:endParaRPr lang="en-US" sz="1400" dirty="0"/>
          </a:p>
        </p:txBody>
      </p:sp>
      <p:sp>
        <p:nvSpPr>
          <p:cNvPr id="11" name="m02-shape-10"/>
          <p:cNvSpPr/>
          <p:nvPr/>
        </p:nvSpPr>
        <p:spPr>
          <a:xfrm>
            <a:off x="6096000" y="3429000"/>
            <a:ext cx="2159000" cy="2921000"/>
          </a:xfrm>
          <a:prstGeom prst="roundRect">
            <a:avLst>
              <a:gd name="adj" fmla="val 5882"/>
            </a:avLst>
          </a:prstGeom>
          <a:solidFill>
            <a:srgbClr val="051429"/>
          </a:solidFill>
          <a:ln/>
        </p:spPr>
      </p:sp>
      <p:pic>
        <p:nvPicPr>
          <p:cNvPr id="12" name="m02-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0" y="3810000"/>
            <a:ext cx="508000" cy="508000"/>
          </a:xfrm>
          <a:prstGeom prst="rect">
            <a:avLst/>
          </a:prstGeom>
        </p:spPr>
      </p:pic>
      <p:sp>
        <p:nvSpPr>
          <p:cNvPr id="13" name="m02-text-12"/>
          <p:cNvSpPr/>
          <p:nvPr/>
        </p:nvSpPr>
        <p:spPr>
          <a:xfrm>
            <a:off x="6350000" y="4597400"/>
            <a:ext cx="165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知識化</a:t>
            </a:r>
            <a:endParaRPr lang="en-US" sz="2000" dirty="0"/>
          </a:p>
        </p:txBody>
      </p:sp>
      <p:sp>
        <p:nvSpPr>
          <p:cNvPr id="14" name="m02-text-13"/>
          <p:cNvSpPr/>
          <p:nvPr/>
        </p:nvSpPr>
        <p:spPr>
          <a:xfrm>
            <a:off x="6350000" y="5257800"/>
            <a:ext cx="165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根拠を残し</a:t>
            </a:r>
            <a:endParaRPr lang="en-US" sz="1600" dirty="0"/>
          </a:p>
          <a:p>
            <a:pPr algn="ctr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推定を分離</a:t>
            </a:r>
            <a:endParaRPr lang="en-US" sz="1600" dirty="0"/>
          </a:p>
        </p:txBody>
      </p:sp>
      <p:sp>
        <p:nvSpPr>
          <p:cNvPr id="15" name="m02-shape-14"/>
          <p:cNvSpPr/>
          <p:nvPr/>
        </p:nvSpPr>
        <p:spPr>
          <a:xfrm>
            <a:off x="8763000" y="3429000"/>
            <a:ext cx="3048000" cy="2921000"/>
          </a:xfrm>
          <a:prstGeom prst="roundRect">
            <a:avLst>
              <a:gd name="adj" fmla="val 4348"/>
            </a:avLst>
          </a:prstGeom>
          <a:solidFill>
            <a:srgbClr val="F1F4F8"/>
          </a:solidFill>
          <a:ln/>
        </p:spPr>
      </p:sp>
      <p:pic>
        <p:nvPicPr>
          <p:cNvPr id="16" name="m02-icon-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600" y="3810000"/>
            <a:ext cx="457200" cy="457200"/>
          </a:xfrm>
          <a:prstGeom prst="rect">
            <a:avLst/>
          </a:prstGeom>
        </p:spPr>
      </p:pic>
      <p:sp>
        <p:nvSpPr>
          <p:cNvPr id="17" name="m02-text-16"/>
          <p:cNvSpPr/>
          <p:nvPr/>
        </p:nvSpPr>
        <p:spPr>
          <a:xfrm>
            <a:off x="9118600" y="4597400"/>
            <a:ext cx="228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成果物</a:t>
            </a:r>
            <a:endParaRPr lang="en-US" sz="2100" dirty="0"/>
          </a:p>
        </p:txBody>
      </p:sp>
      <p:sp>
        <p:nvSpPr>
          <p:cNvPr id="18" name="m02-text-17"/>
          <p:cNvSpPr/>
          <p:nvPr/>
        </p:nvSpPr>
        <p:spPr>
          <a:xfrm>
            <a:off x="9118600" y="5257800"/>
            <a:ext cx="2222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業務ルール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バッチフロー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用語集</a:t>
            </a:r>
            <a:endParaRPr lang="en-US" sz="1600" dirty="0"/>
          </a:p>
        </p:txBody>
      </p:sp>
      <p:sp>
        <p:nvSpPr>
          <p:cNvPr id="19" name="m02-shape-18"/>
          <p:cNvSpPr/>
          <p:nvPr/>
        </p:nvSpPr>
        <p:spPr>
          <a:xfrm>
            <a:off x="12319000" y="3429000"/>
            <a:ext cx="3175000" cy="2921000"/>
          </a:xfrm>
          <a:prstGeom prst="roundRect">
            <a:avLst>
              <a:gd name="adj" fmla="val 4348"/>
            </a:avLst>
          </a:prstGeom>
          <a:solidFill>
            <a:srgbClr val="F1F4F8"/>
          </a:solidFill>
          <a:ln/>
        </p:spPr>
      </p:sp>
      <p:pic>
        <p:nvPicPr>
          <p:cNvPr id="20" name="m02-icon-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4600" y="3810000"/>
            <a:ext cx="457200" cy="457200"/>
          </a:xfrm>
          <a:prstGeom prst="rect">
            <a:avLst/>
          </a:prstGeom>
        </p:spPr>
      </p:pic>
      <p:sp>
        <p:nvSpPr>
          <p:cNvPr id="21" name="m02-text-20"/>
          <p:cNvSpPr/>
          <p:nvPr/>
        </p:nvSpPr>
        <p:spPr>
          <a:xfrm>
            <a:off x="12674600" y="4597400"/>
            <a:ext cx="2349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確定前レビュー</a:t>
            </a:r>
            <a:endParaRPr lang="en-US" sz="2100" dirty="0"/>
          </a:p>
        </p:txBody>
      </p:sp>
      <p:sp>
        <p:nvSpPr>
          <p:cNvPr id="22" name="m02-text-21"/>
          <p:cNvSpPr/>
          <p:nvPr/>
        </p:nvSpPr>
        <p:spPr>
          <a:xfrm>
            <a:off x="12674600" y="5257800"/>
            <a:ext cx="2349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AI推定は確認待ち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業務担当者が確定</a:t>
            </a:r>
            <a:endParaRPr lang="en-US" sz="1600" dirty="0"/>
          </a:p>
        </p:txBody>
      </p:sp>
      <p:sp>
        <p:nvSpPr>
          <p:cNvPr id="23" name="m02-text-22"/>
          <p:cNvSpPr/>
          <p:nvPr/>
        </p:nvSpPr>
        <p:spPr>
          <a:xfrm>
            <a:off x="762000" y="7391400"/>
            <a:ext cx="139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Official Business Rules Extraction Workflowは、ユーザーがStart Workflowから開始する任意のショートカットです。</a:t>
            </a:r>
            <a:endParaRPr lang="en-US" sz="1400" dirty="0"/>
          </a:p>
        </p:txBody>
      </p:sp>
      <p:sp>
        <p:nvSpPr>
          <p:cNvPr id="24" name="m02-text-23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変更範囲：IBM i Mutation = NONE　/　Mode：IBM i Developer</a:t>
            </a:r>
            <a:endParaRPr lang="en-US" sz="1400" dirty="0"/>
          </a:p>
        </p:txBody>
      </p:sp>
      <p:sp>
        <p:nvSpPr>
          <p:cNvPr id="25" name="m02-text-2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03-text-1"/>
          <p:cNvSpPr/>
          <p:nvPr/>
        </p:nvSpPr>
        <p:spPr>
          <a:xfrm>
            <a:off x="762000" y="7112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M03 近代化診断・Wave計画</a:t>
            </a:r>
            <a:endParaRPr lang="en-US" sz="3200" dirty="0"/>
          </a:p>
        </p:txBody>
      </p:sp>
      <p:sp>
        <p:nvSpPr>
          <p:cNvPr id="3" name="m03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m03-text-3"/>
          <p:cNvSpPr/>
          <p:nvPr/>
        </p:nvSpPr>
        <p:spPr>
          <a:xfrm>
            <a:off x="762000" y="2082800"/>
            <a:ext cx="1397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複雑度・リスク・依存関係を基に、顧客承認のPilot、方式、Wave、見積根拠を一体化する。</a:t>
            </a:r>
            <a:endParaRPr lang="en-US" sz="2400" dirty="0"/>
          </a:p>
        </p:txBody>
      </p:sp>
      <p:sp>
        <p:nvSpPr>
          <p:cNvPr id="5" name="m03-shape-4"/>
          <p:cNvSpPr/>
          <p:nvPr/>
        </p:nvSpPr>
        <p:spPr>
          <a:xfrm>
            <a:off x="762000" y="3429000"/>
            <a:ext cx="5334000" cy="3657600"/>
          </a:xfrm>
          <a:prstGeom prst="roundRect">
            <a:avLst>
              <a:gd name="adj" fmla="val 3472"/>
            </a:avLst>
          </a:prstGeom>
          <a:solidFill>
            <a:srgbClr val="F1F4F8"/>
          </a:solidFill>
          <a:ln/>
        </p:spPr>
      </p:sp>
      <p:sp>
        <p:nvSpPr>
          <p:cNvPr id="6" name="m03-text-5"/>
          <p:cNvSpPr/>
          <p:nvPr/>
        </p:nvSpPr>
        <p:spPr>
          <a:xfrm>
            <a:off x="1143000" y="38354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評価インプット</a:t>
            </a:r>
            <a:endParaRPr lang="en-US" sz="2200" dirty="0"/>
          </a:p>
        </p:txBody>
      </p:sp>
      <p:sp>
        <p:nvSpPr>
          <p:cNvPr id="7" name="m03-text-6"/>
          <p:cNvSpPr/>
          <p:nvPr/>
        </p:nvSpPr>
        <p:spPr>
          <a:xfrm>
            <a:off x="1143000" y="4546600"/>
            <a:ext cx="406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9875" indent="-269875">
              <a:lnSpc>
                <a:spcPts val="246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行数・OPM / ILE・Fixed / Free</a:t>
            </a:r>
            <a:endParaRPr lang="en-US" sz="1700" dirty="0"/>
          </a:p>
          <a:p>
            <a:pPr algn="l" marL="269875" indent="-269875">
              <a:lnSpc>
                <a:spcPts val="246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GOTO・Indicator・ファイル・呼出元</a:t>
            </a:r>
            <a:endParaRPr lang="en-US" sz="1700" dirty="0"/>
          </a:p>
          <a:p>
            <a:pPr algn="l" marL="269875" indent="-269875">
              <a:lnSpc>
                <a:spcPts val="246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依存関係・業務上の重要度</a:t>
            </a:r>
            <a:endParaRPr lang="en-US" sz="1700" dirty="0"/>
          </a:p>
        </p:txBody>
      </p:sp>
      <p:sp>
        <p:nvSpPr>
          <p:cNvPr id="8" name="m03-shape-7"/>
          <p:cNvSpPr/>
          <p:nvPr/>
        </p:nvSpPr>
        <p:spPr>
          <a:xfrm>
            <a:off x="6477000" y="5511800"/>
            <a:ext cx="889000" cy="9144"/>
          </a:xfrm>
          <a:prstGeom prst="line">
            <a:avLst/>
          </a:prstGeom>
          <a:ln w="38100">
            <a:solidFill>
              <a:srgbClr val="0F62FE"/>
            </a:solidFill>
            <a:prstDash val="solid"/>
            <a:tailEnd type="triangle"/>
          </a:ln>
        </p:spPr>
      </p:sp>
      <p:sp>
        <p:nvSpPr>
          <p:cNvPr id="9" name="m03-shape-8"/>
          <p:cNvSpPr/>
          <p:nvPr/>
        </p:nvSpPr>
        <p:spPr>
          <a:xfrm>
            <a:off x="7874000" y="3429000"/>
            <a:ext cx="6858000" cy="3657600"/>
          </a:xfrm>
          <a:prstGeom prst="rect">
            <a:avLst/>
          </a:prstGeom>
          <a:ln w="25400">
            <a:solidFill>
              <a:srgbClr val="E0E0E0"/>
            </a:solidFill>
            <a:prstDash val="solid"/>
          </a:ln>
        </p:spPr>
      </p:sp>
      <p:sp>
        <p:nvSpPr>
          <p:cNvPr id="10" name="m03-shape-9"/>
          <p:cNvSpPr/>
          <p:nvPr/>
        </p:nvSpPr>
        <p:spPr>
          <a:xfrm>
            <a:off x="11303000" y="3683000"/>
            <a:ext cx="9144" cy="3149600"/>
          </a:xfrm>
          <a:prstGeom prst="line">
            <a:avLst/>
          </a:prstGeom>
          <a:ln w="12700">
            <a:solidFill>
              <a:srgbClr val="E0E0E0"/>
            </a:solidFill>
            <a:prstDash val="solid"/>
          </a:ln>
        </p:spPr>
      </p:sp>
      <p:sp>
        <p:nvSpPr>
          <p:cNvPr id="11" name="m03-shape-10"/>
          <p:cNvSpPr/>
          <p:nvPr/>
        </p:nvSpPr>
        <p:spPr>
          <a:xfrm>
            <a:off x="8128000" y="5257800"/>
            <a:ext cx="6350000" cy="9144"/>
          </a:xfrm>
          <a:prstGeom prst="line">
            <a:avLst/>
          </a:prstGeom>
          <a:ln w="12700">
            <a:solidFill>
              <a:srgbClr val="E0E0E0"/>
            </a:solidFill>
            <a:prstDash val="solid"/>
          </a:ln>
        </p:spPr>
      </p:sp>
      <p:sp>
        <p:nvSpPr>
          <p:cNvPr id="12" name="m03-text-11"/>
          <p:cNvSpPr/>
          <p:nvPr/>
        </p:nvSpPr>
        <p:spPr>
          <a:xfrm>
            <a:off x="8255000" y="38354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低〜中 複雑度</a:t>
            </a:r>
            <a:endParaRPr lang="en-US" sz="1400" dirty="0"/>
          </a:p>
        </p:txBody>
      </p:sp>
      <p:sp>
        <p:nvSpPr>
          <p:cNvPr id="13" name="m03-text-12"/>
          <p:cNvSpPr/>
          <p:nvPr/>
        </p:nvSpPr>
        <p:spPr>
          <a:xfrm>
            <a:off x="11684000" y="38354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高〜特高 複雑度</a:t>
            </a:r>
            <a:endParaRPr lang="en-US" sz="1400" dirty="0"/>
          </a:p>
        </p:txBody>
      </p:sp>
      <p:sp>
        <p:nvSpPr>
          <p:cNvPr id="14" name="m03-text-13"/>
          <p:cNvSpPr/>
          <p:nvPr/>
        </p:nvSpPr>
        <p:spPr>
          <a:xfrm>
            <a:off x="8255000" y="444500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維持 / リファクタ</a:t>
            </a:r>
            <a:endParaRPr lang="en-US" sz="2000" dirty="0"/>
          </a:p>
        </p:txBody>
      </p:sp>
      <p:sp>
        <p:nvSpPr>
          <p:cNvPr id="15" name="m03-text-14"/>
          <p:cNvSpPr/>
          <p:nvPr/>
        </p:nvSpPr>
        <p:spPr>
          <a:xfrm>
            <a:off x="11684000" y="444500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API化 / 再構築</a:t>
            </a:r>
            <a:endParaRPr lang="en-US" sz="2000" dirty="0"/>
          </a:p>
        </p:txBody>
      </p:sp>
      <p:sp>
        <p:nvSpPr>
          <p:cNvPr id="16" name="m03-text-15"/>
          <p:cNvSpPr/>
          <p:nvPr/>
        </p:nvSpPr>
        <p:spPr>
          <a:xfrm>
            <a:off x="8255000" y="56642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依存・リスクに応じて</a:t>
            </a:r>
            <a:endParaRPr lang="en-US" sz="1400" dirty="0"/>
          </a:p>
        </p:txBody>
      </p:sp>
      <p:sp>
        <p:nvSpPr>
          <p:cNvPr id="17" name="m03-text-16"/>
          <p:cNvSpPr/>
          <p:nvPr/>
        </p:nvSpPr>
        <p:spPr>
          <a:xfrm>
            <a:off x="8255000" y="617220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廃止候補</a:t>
            </a:r>
            <a:endParaRPr lang="en-US" sz="2000" dirty="0"/>
          </a:p>
        </p:txBody>
      </p:sp>
      <p:sp>
        <p:nvSpPr>
          <p:cNvPr id="18" name="m03-text-17"/>
          <p:cNvSpPr/>
          <p:nvPr/>
        </p:nvSpPr>
        <p:spPr>
          <a:xfrm>
            <a:off x="11684000" y="56642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依存順でWave化</a:t>
            </a:r>
            <a:endParaRPr lang="en-US" sz="1400" dirty="0"/>
          </a:p>
        </p:txBody>
      </p:sp>
      <p:sp>
        <p:nvSpPr>
          <p:cNvPr id="19" name="m03-text-18"/>
          <p:cNvSpPr/>
          <p:nvPr/>
        </p:nvSpPr>
        <p:spPr>
          <a:xfrm>
            <a:off x="11684000" y="617220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F62FE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Pilot / Wave</a:t>
            </a:r>
            <a:endParaRPr lang="en-US" sz="2000" dirty="0"/>
          </a:p>
        </p:txBody>
      </p:sp>
      <p:sp>
        <p:nvSpPr>
          <p:cNvPr id="20" name="m03-text-19"/>
          <p:cNvSpPr/>
          <p:nvPr/>
        </p:nvSpPr>
        <p:spPr>
          <a:xfrm>
            <a:off x="762000" y="7696200"/>
            <a:ext cx="139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成果物：assessment.csv / complexity_model.md / pilot_candidates.md / wave_plan.md / estimate_basis.md</a:t>
            </a:r>
            <a:endParaRPr lang="en-US" sz="1400" dirty="0"/>
          </a:p>
        </p:txBody>
      </p:sp>
      <p:sp>
        <p:nvSpPr>
          <p:cNvPr id="21" name="m03-text-20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変更範囲：IBM i Mutation = NONE　/　方式・Waveは顧客承認で確定</a:t>
            </a:r>
            <a:endParaRPr lang="en-US" sz="1400" dirty="0"/>
          </a:p>
        </p:txBody>
      </p:sp>
      <p:sp>
        <p:nvSpPr>
          <p:cNvPr id="22" name="m03-text-2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04-text-1"/>
          <p:cNvSpPr/>
          <p:nvPr/>
        </p:nvSpPr>
        <p:spPr>
          <a:xfrm>
            <a:off x="762000" y="7112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M04 RPG近代化</a:t>
            </a:r>
            <a:endParaRPr lang="en-US" sz="3200" dirty="0"/>
          </a:p>
        </p:txBody>
      </p:sp>
      <p:sp>
        <p:nvSpPr>
          <p:cNvPr id="3" name="m04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m04-text-3"/>
          <p:cNvSpPr/>
          <p:nvPr/>
        </p:nvSpPr>
        <p:spPr>
          <a:xfrm>
            <a:off x="762000" y="2082800"/>
            <a:ext cx="1397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RPGをFree-format ILE RPGへ段階的に整備し、コンパイル・テスト・レビューの証跡をDEVで揃える。</a:t>
            </a:r>
            <a:endParaRPr lang="en-US" sz="2400" dirty="0"/>
          </a:p>
        </p:txBody>
      </p:sp>
      <p:sp>
        <p:nvSpPr>
          <p:cNvPr id="5" name="m04-shape-4"/>
          <p:cNvSpPr/>
          <p:nvPr/>
        </p:nvSpPr>
        <p:spPr>
          <a:xfrm>
            <a:off x="762000" y="3429000"/>
            <a:ext cx="7620000" cy="368300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/>
        </p:spPr>
      </p:sp>
      <p:sp>
        <p:nvSpPr>
          <p:cNvPr id="6" name="m04-shape-5"/>
          <p:cNvSpPr/>
          <p:nvPr/>
        </p:nvSpPr>
        <p:spPr>
          <a:xfrm>
            <a:off x="1422400" y="4826000"/>
            <a:ext cx="5969000" cy="9144"/>
          </a:xfrm>
          <a:prstGeom prst="line">
            <a:avLst/>
          </a:prstGeom>
          <a:ln w="38100">
            <a:solidFill>
              <a:srgbClr val="E0E0E0"/>
            </a:solidFill>
            <a:prstDash val="solid"/>
          </a:ln>
        </p:spPr>
      </p:sp>
      <p:sp>
        <p:nvSpPr>
          <p:cNvPr id="7" name="m04-shape-6"/>
          <p:cNvSpPr/>
          <p:nvPr/>
        </p:nvSpPr>
        <p:spPr>
          <a:xfrm>
            <a:off x="1397000" y="4470400"/>
            <a:ext cx="711200" cy="711200"/>
          </a:xfrm>
          <a:prstGeom prst="ellipse">
            <a:avLst/>
          </a:prstGeom>
          <a:solidFill>
            <a:srgbClr val="051429"/>
          </a:solidFill>
          <a:ln/>
        </p:spPr>
      </p:sp>
      <p:sp>
        <p:nvSpPr>
          <p:cNvPr id="8" name="m04-text-7"/>
          <p:cNvSpPr/>
          <p:nvPr/>
        </p:nvSpPr>
        <p:spPr>
          <a:xfrm>
            <a:off x="1092200" y="54610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Baseline</a:t>
            </a:r>
            <a:endParaRPr lang="en-US" sz="1400" dirty="0"/>
          </a:p>
        </p:txBody>
      </p:sp>
      <p:sp>
        <p:nvSpPr>
          <p:cNvPr id="9" name="m04-shape-8"/>
          <p:cNvSpPr/>
          <p:nvPr/>
        </p:nvSpPr>
        <p:spPr>
          <a:xfrm>
            <a:off x="3175000" y="4470400"/>
            <a:ext cx="711200" cy="711200"/>
          </a:xfrm>
          <a:prstGeom prst="ellipse">
            <a:avLst/>
          </a:prstGeom>
          <a:solidFill>
            <a:srgbClr val="051429"/>
          </a:solidFill>
          <a:ln/>
        </p:spPr>
      </p:sp>
      <p:sp>
        <p:nvSpPr>
          <p:cNvPr id="10" name="m04-text-9"/>
          <p:cNvSpPr/>
          <p:nvPr/>
        </p:nvSpPr>
        <p:spPr>
          <a:xfrm>
            <a:off x="2819400" y="54610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変換</a:t>
            </a:r>
            <a:endParaRPr lang="en-US" sz="1400" dirty="0"/>
          </a:p>
        </p:txBody>
      </p:sp>
      <p:sp>
        <p:nvSpPr>
          <p:cNvPr id="11" name="m04-shape-10"/>
          <p:cNvSpPr/>
          <p:nvPr/>
        </p:nvSpPr>
        <p:spPr>
          <a:xfrm>
            <a:off x="4953000" y="4470400"/>
            <a:ext cx="711200" cy="71120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2" name="m04-text-11"/>
          <p:cNvSpPr/>
          <p:nvPr/>
        </p:nvSpPr>
        <p:spPr>
          <a:xfrm>
            <a:off x="4521200" y="5461000"/>
            <a:ext cx="157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Compile / Test</a:t>
            </a:r>
            <a:endParaRPr lang="en-US" sz="1400" dirty="0"/>
          </a:p>
        </p:txBody>
      </p:sp>
      <p:sp>
        <p:nvSpPr>
          <p:cNvPr id="13" name="m04-shape-12"/>
          <p:cNvSpPr/>
          <p:nvPr/>
        </p:nvSpPr>
        <p:spPr>
          <a:xfrm>
            <a:off x="6731000" y="4470400"/>
            <a:ext cx="711200" cy="711200"/>
          </a:xfrm>
          <a:prstGeom prst="ellipse">
            <a:avLst/>
          </a:prstGeom>
          <a:solidFill>
            <a:srgbClr val="051429"/>
          </a:solidFill>
          <a:ln/>
        </p:spPr>
      </p:sp>
      <p:sp>
        <p:nvSpPr>
          <p:cNvPr id="14" name="m04-text-13"/>
          <p:cNvSpPr/>
          <p:nvPr/>
        </p:nvSpPr>
        <p:spPr>
          <a:xfrm>
            <a:off x="6350000" y="5461000"/>
            <a:ext cx="147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Review</a:t>
            </a:r>
            <a:endParaRPr lang="en-US" sz="1400" dirty="0"/>
          </a:p>
        </p:txBody>
      </p:sp>
      <p:sp>
        <p:nvSpPr>
          <p:cNvPr id="15" name="m04-text-14"/>
          <p:cNvSpPr/>
          <p:nvPr/>
        </p:nvSpPr>
        <p:spPr>
          <a:xfrm>
            <a:off x="1219200" y="6223000"/>
            <a:ext cx="635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Source Hash・既存警告・既存テストを基準として差分を説明可能にする</a:t>
            </a:r>
            <a:endParaRPr lang="en-US" sz="1600" dirty="0"/>
          </a:p>
        </p:txBody>
      </p:sp>
      <p:sp>
        <p:nvSpPr>
          <p:cNvPr id="16" name="m04-shape-15"/>
          <p:cNvSpPr/>
          <p:nvPr/>
        </p:nvSpPr>
        <p:spPr>
          <a:xfrm>
            <a:off x="9525000" y="3429000"/>
            <a:ext cx="5969000" cy="3683000"/>
          </a:xfrm>
          <a:prstGeom prst="roundRect">
            <a:avLst>
              <a:gd name="adj" fmla="val 3448"/>
            </a:avLst>
          </a:prstGeom>
          <a:solidFill>
            <a:srgbClr val="051429"/>
          </a:solidFill>
          <a:ln/>
        </p:spPr>
      </p:sp>
      <p:pic>
        <p:nvPicPr>
          <p:cNvPr id="17" name="m04-icon-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9500" y="3886200"/>
            <a:ext cx="508000" cy="508000"/>
          </a:xfrm>
          <a:prstGeom prst="rect">
            <a:avLst/>
          </a:prstGeom>
        </p:spPr>
      </p:pic>
      <p:sp>
        <p:nvSpPr>
          <p:cNvPr id="18" name="m04-text-17"/>
          <p:cNvSpPr/>
          <p:nvPr/>
        </p:nvSpPr>
        <p:spPr>
          <a:xfrm>
            <a:off x="10795000" y="38862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Human Gate</a:t>
            </a:r>
            <a:endParaRPr lang="en-US" sz="2200" dirty="0"/>
          </a:p>
        </p:txBody>
      </p:sp>
      <p:sp>
        <p:nvSpPr>
          <p:cNvPr id="19" name="m04-text-18"/>
          <p:cNvSpPr/>
          <p:nvPr/>
        </p:nvSpPr>
        <p:spPr>
          <a:xfrm>
            <a:off x="9969500" y="4724400"/>
            <a:ext cx="469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9875" indent="-269875">
              <a:lnSpc>
                <a:spcPts val="246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SRVPGM Signature / 共有Copy</a:t>
            </a:r>
            <a:endParaRPr lang="en-US" sz="1700" dirty="0"/>
          </a:p>
          <a:p>
            <a:pPr algn="l" marL="269875" indent="-269875">
              <a:lnSpc>
                <a:spcPts val="246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公開Interfaceの変更</a:t>
            </a:r>
            <a:endParaRPr lang="en-US" sz="1700" dirty="0"/>
          </a:p>
          <a:p>
            <a:pPr algn="l" marL="269875" indent="-269875">
              <a:lnSpc>
                <a:spcPts val="246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7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RPGサイクル除去</a:t>
            </a:r>
            <a:endParaRPr lang="en-US" sz="1700" dirty="0"/>
          </a:p>
        </p:txBody>
      </p:sp>
      <p:sp>
        <p:nvSpPr>
          <p:cNvPr id="20" name="m04-text-19"/>
          <p:cNvSpPr/>
          <p:nvPr/>
        </p:nvSpPr>
        <p:spPr>
          <a:xfrm>
            <a:off x="9969500" y="6477000"/>
            <a:ext cx="469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>
                    <a:alpha val="60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高リスク変更は自動実行しない</a:t>
            </a:r>
            <a:endParaRPr lang="en-US" sz="1400" dirty="0"/>
          </a:p>
        </p:txBody>
      </p:sp>
      <p:sp>
        <p:nvSpPr>
          <p:cNvPr id="21" name="m04-text-20"/>
          <p:cNvSpPr/>
          <p:nvPr/>
        </p:nvSpPr>
        <p:spPr>
          <a:xfrm>
            <a:off x="762000" y="7696200"/>
            <a:ext cx="139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成果物：Baseline / conversion summary / test comparison / code review / remaining issues / rollback</a:t>
            </a:r>
            <a:endParaRPr lang="en-US" sz="1400" dirty="0"/>
          </a:p>
        </p:txBody>
      </p:sp>
      <p:sp>
        <p:nvSpPr>
          <p:cNvPr id="22" name="m04-text-21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変更範囲：IBM i Mutation = DEV_TEST　/　Mode：IBM i Developer</a:t>
            </a:r>
            <a:endParaRPr lang="en-US" sz="1400" dirty="0"/>
          </a:p>
        </p:txBody>
      </p:sp>
      <p:sp>
        <p:nvSpPr>
          <p:cNvPr id="23" name="m04-text-2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05-text-1"/>
          <p:cNvSpPr/>
          <p:nvPr/>
        </p:nvSpPr>
        <p:spPr>
          <a:xfrm>
            <a:off x="762000" y="711200"/>
            <a:ext cx="1219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M05 COBOL・CL・画面/帳票</a:t>
            </a:r>
            <a:endParaRPr lang="en-US" sz="3200" dirty="0"/>
          </a:p>
        </p:txBody>
      </p:sp>
      <p:sp>
        <p:nvSpPr>
          <p:cNvPr id="3" name="m05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m05-text-3"/>
          <p:cNvSpPr/>
          <p:nvPr/>
        </p:nvSpPr>
        <p:spPr>
          <a:xfrm>
            <a:off x="762000" y="2082800"/>
            <a:ext cx="1384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COBOL・CLはDEVで移行・標準化し、画面・帳票は変更せず評価して段階的近代化へつなぐ。</a:t>
            </a:r>
            <a:endParaRPr lang="en-US" sz="2400" dirty="0"/>
          </a:p>
        </p:txBody>
      </p:sp>
      <p:sp>
        <p:nvSpPr>
          <p:cNvPr id="5" name="m05-shape-4"/>
          <p:cNvSpPr/>
          <p:nvPr/>
        </p:nvSpPr>
        <p:spPr>
          <a:xfrm>
            <a:off x="762000" y="3429000"/>
            <a:ext cx="6858000" cy="2794000"/>
          </a:xfrm>
          <a:prstGeom prst="roundRect">
            <a:avLst>
              <a:gd name="adj" fmla="val 4545"/>
            </a:avLst>
          </a:prstGeom>
          <a:solidFill>
            <a:srgbClr val="F1F4F8"/>
          </a:solidFill>
          <a:ln/>
        </p:spPr>
      </p:sp>
      <p:pic>
        <p:nvPicPr>
          <p:cNvPr id="6" name="m05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3810000"/>
            <a:ext cx="482600" cy="482600"/>
          </a:xfrm>
          <a:prstGeom prst="rect">
            <a:avLst/>
          </a:prstGeom>
        </p:spPr>
      </p:pic>
      <p:sp>
        <p:nvSpPr>
          <p:cNvPr id="7" name="m05-text-6"/>
          <p:cNvSpPr/>
          <p:nvPr/>
        </p:nvSpPr>
        <p:spPr>
          <a:xfrm>
            <a:off x="1930400" y="3810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COBOL / CL</a:t>
            </a:r>
            <a:endParaRPr lang="en-US" sz="2300" dirty="0"/>
          </a:p>
        </p:txBody>
      </p:sp>
      <p:sp>
        <p:nvSpPr>
          <p:cNvPr id="8" name="m05-text-7"/>
          <p:cNvSpPr/>
          <p:nvPr/>
        </p:nvSpPr>
        <p:spPr>
          <a:xfrm>
            <a:off x="1168400" y="4597400"/>
            <a:ext cx="53340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OPM → ILE、CL → CLLE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DEV_LIBで変換・コンパイル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エラー処理を標準化</a:t>
            </a:r>
            <a:endParaRPr lang="en-US" sz="1800" dirty="0"/>
          </a:p>
        </p:txBody>
      </p:sp>
      <p:sp>
        <p:nvSpPr>
          <p:cNvPr id="9" name="m05-shape-8"/>
          <p:cNvSpPr/>
          <p:nvPr/>
        </p:nvSpPr>
        <p:spPr>
          <a:xfrm>
            <a:off x="8636000" y="3429000"/>
            <a:ext cx="6858000" cy="2794000"/>
          </a:xfrm>
          <a:prstGeom prst="roundRect">
            <a:avLst>
              <a:gd name="adj" fmla="val 4545"/>
            </a:avLst>
          </a:prstGeom>
          <a:solidFill>
            <a:srgbClr val="F1F4F8"/>
          </a:solidFill>
          <a:ln/>
        </p:spPr>
      </p:sp>
      <p:pic>
        <p:nvPicPr>
          <p:cNvPr id="10" name="m05-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0" y="3810000"/>
            <a:ext cx="482600" cy="482600"/>
          </a:xfrm>
          <a:prstGeom prst="rect">
            <a:avLst/>
          </a:prstGeom>
        </p:spPr>
      </p:pic>
      <p:sp>
        <p:nvSpPr>
          <p:cNvPr id="11" name="m05-text-10"/>
          <p:cNvSpPr/>
          <p:nvPr/>
        </p:nvSpPr>
        <p:spPr>
          <a:xfrm>
            <a:off x="9804400" y="3810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DSPF / PRTF</a:t>
            </a:r>
            <a:endParaRPr lang="en-US" sz="2300" dirty="0"/>
          </a:p>
        </p:txBody>
      </p:sp>
      <p:sp>
        <p:nvSpPr>
          <p:cNvPr id="12" name="m05-text-11"/>
          <p:cNvSpPr/>
          <p:nvPr/>
        </p:nvSpPr>
        <p:spPr>
          <a:xfrm>
            <a:off x="9042400" y="4597400"/>
            <a:ext cx="53340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影響を評価し、一覧化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この段階では変更しない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残存課題を補完Playbookへ</a:t>
            </a:r>
            <a:endParaRPr lang="en-US" sz="1800" dirty="0"/>
          </a:p>
        </p:txBody>
      </p:sp>
      <p:sp>
        <p:nvSpPr>
          <p:cNvPr id="13" name="m05-shape-12"/>
          <p:cNvSpPr/>
          <p:nvPr/>
        </p:nvSpPr>
        <p:spPr>
          <a:xfrm>
            <a:off x="762000" y="6908800"/>
            <a:ext cx="14732000" cy="685800"/>
          </a:xfrm>
          <a:prstGeom prst="roundRect">
            <a:avLst>
              <a:gd name="adj" fmla="val 11111"/>
            </a:avLst>
          </a:prstGeom>
          <a:solidFill>
            <a:srgbClr val="051429"/>
          </a:solidFill>
          <a:ln/>
        </p:spPr>
      </p:sp>
      <p:sp>
        <p:nvSpPr>
          <p:cNvPr id="14" name="m05-text-13"/>
          <p:cNvSpPr/>
          <p:nvPr/>
        </p:nvSpPr>
        <p:spPr>
          <a:xfrm>
            <a:off x="1041400" y="7112000"/>
            <a:ext cx="14173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受入基準：COBOL・CLの全対象が DEV_LIB でコンパイル成功 / DSPF・PRTFの評価一覧が存在</a:t>
            </a:r>
            <a:endParaRPr lang="en-US" sz="1400" dirty="0"/>
          </a:p>
        </p:txBody>
      </p:sp>
      <p:sp>
        <p:nvSpPr>
          <p:cNvPr id="15" name="m05-text-14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変更範囲：IBM i Mutation = DEV_TEST　/　Mode：IBM i Developer</a:t>
            </a:r>
            <a:endParaRPr lang="en-US" sz="1400" dirty="0"/>
          </a:p>
        </p:txBody>
      </p:sp>
      <p:sp>
        <p:nvSpPr>
          <p:cNvPr id="16" name="m05-text-1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06-text-1"/>
          <p:cNvSpPr/>
          <p:nvPr/>
        </p:nvSpPr>
        <p:spPr>
          <a:xfrm>
            <a:off x="762000" y="711200"/>
            <a:ext cx="1219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M06 データベース近代化</a:t>
            </a:r>
            <a:endParaRPr lang="en-US" sz="3200" dirty="0"/>
          </a:p>
        </p:txBody>
      </p:sp>
      <p:sp>
        <p:nvSpPr>
          <p:cNvPr id="3" name="m06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m06-text-3"/>
          <p:cNvSpPr/>
          <p:nvPr/>
        </p:nvSpPr>
        <p:spPr>
          <a:xfrm>
            <a:off x="762000" y="2082800"/>
            <a:ext cx="1384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DDSをDEVでSQL定義へ移行・検証し、本番反映とデータ移行は人の承認に委ねる。</a:t>
            </a:r>
            <a:endParaRPr lang="en-US" sz="2400" dirty="0"/>
          </a:p>
        </p:txBody>
      </p:sp>
      <p:sp>
        <p:nvSpPr>
          <p:cNvPr id="5" name="m06-shape-4"/>
          <p:cNvSpPr/>
          <p:nvPr/>
        </p:nvSpPr>
        <p:spPr>
          <a:xfrm>
            <a:off x="762000" y="3556000"/>
            <a:ext cx="4445000" cy="2768600"/>
          </a:xfrm>
          <a:prstGeom prst="roundRect">
            <a:avLst>
              <a:gd name="adj" fmla="val 4587"/>
            </a:avLst>
          </a:prstGeom>
          <a:solidFill>
            <a:srgbClr val="F1F4F8"/>
          </a:solidFill>
          <a:ln/>
        </p:spPr>
      </p:sp>
      <p:pic>
        <p:nvPicPr>
          <p:cNvPr id="6" name="m06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937000"/>
            <a:ext cx="508000" cy="508000"/>
          </a:xfrm>
          <a:prstGeom prst="rect">
            <a:avLst/>
          </a:prstGeom>
        </p:spPr>
      </p:pic>
      <p:sp>
        <p:nvSpPr>
          <p:cNvPr id="7" name="m06-text-6"/>
          <p:cNvSpPr/>
          <p:nvPr/>
        </p:nvSpPr>
        <p:spPr>
          <a:xfrm>
            <a:off x="1143000" y="4724400"/>
            <a:ext cx="330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DDS資産</a:t>
            </a:r>
            <a:endParaRPr lang="en-US" sz="2300" dirty="0"/>
          </a:p>
        </p:txBody>
      </p:sp>
      <p:sp>
        <p:nvSpPr>
          <p:cNvPr id="8" name="m06-text-7"/>
          <p:cNvSpPr/>
          <p:nvPr/>
        </p:nvSpPr>
        <p:spPr>
          <a:xfrm>
            <a:off x="1143000" y="5461000"/>
            <a:ext cx="330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PF / LF を読み取り</a:t>
            </a:r>
            <a:endParaRPr lang="en-US" sz="1800" dirty="0"/>
          </a:p>
        </p:txBody>
      </p:sp>
      <p:sp>
        <p:nvSpPr>
          <p:cNvPr id="9" name="m06-shape-8"/>
          <p:cNvSpPr/>
          <p:nvPr/>
        </p:nvSpPr>
        <p:spPr>
          <a:xfrm>
            <a:off x="5842000" y="4470400"/>
            <a:ext cx="2286000" cy="812800"/>
          </a:xfrm>
          <a:prstGeom prst="rightArrow">
            <a:avLst/>
          </a:prstGeom>
          <a:solidFill>
            <a:srgbClr val="0F62FE"/>
          </a:solidFill>
          <a:ln/>
        </p:spPr>
      </p:sp>
      <p:sp>
        <p:nvSpPr>
          <p:cNvPr id="10" name="m06-text-9"/>
          <p:cNvSpPr/>
          <p:nvPr/>
        </p:nvSpPr>
        <p:spPr>
          <a:xfrm>
            <a:off x="6070600" y="47244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DEVでDDL化</a:t>
            </a:r>
            <a:endParaRPr lang="en-US" sz="1400" dirty="0"/>
          </a:p>
        </p:txBody>
      </p:sp>
      <p:sp>
        <p:nvSpPr>
          <p:cNvPr id="11" name="m06-shape-10"/>
          <p:cNvSpPr/>
          <p:nvPr/>
        </p:nvSpPr>
        <p:spPr>
          <a:xfrm>
            <a:off x="8763000" y="3556000"/>
            <a:ext cx="5842000" cy="2768600"/>
          </a:xfrm>
          <a:prstGeom prst="roundRect">
            <a:avLst>
              <a:gd name="adj" fmla="val 4587"/>
            </a:avLst>
          </a:prstGeom>
          <a:solidFill>
            <a:srgbClr val="051429"/>
          </a:solidFill>
          <a:ln/>
        </p:spPr>
      </p:sp>
      <p:pic>
        <p:nvPicPr>
          <p:cNvPr id="12" name="m06-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3937000"/>
            <a:ext cx="508000" cy="508000"/>
          </a:xfrm>
          <a:prstGeom prst="rect">
            <a:avLst/>
          </a:prstGeom>
        </p:spPr>
      </p:pic>
      <p:sp>
        <p:nvSpPr>
          <p:cNvPr id="13" name="m06-text-12"/>
          <p:cNvSpPr/>
          <p:nvPr/>
        </p:nvSpPr>
        <p:spPr>
          <a:xfrm>
            <a:off x="10033000" y="3937000"/>
            <a:ext cx="330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SQL定義</a:t>
            </a:r>
            <a:endParaRPr lang="en-US" sz="2300" dirty="0"/>
          </a:p>
        </p:txBody>
      </p:sp>
      <p:sp>
        <p:nvSpPr>
          <p:cNvPr id="14" name="m06-text-13"/>
          <p:cNvSpPr/>
          <p:nvPr/>
        </p:nvSpPr>
        <p:spPr>
          <a:xfrm>
            <a:off x="9144000" y="4724400"/>
            <a:ext cx="4445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PF → CREATE TABLE</a:t>
            </a: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LF → INDEX または VIEW + INDEX</a:t>
            </a:r>
            <a:endParaRPr lang="en-US" sz="1800" dirty="0"/>
          </a:p>
        </p:txBody>
      </p:sp>
      <p:sp>
        <p:nvSpPr>
          <p:cNvPr id="15" name="m06-shape-14"/>
          <p:cNvSpPr/>
          <p:nvPr/>
        </p:nvSpPr>
        <p:spPr>
          <a:xfrm>
            <a:off x="762000" y="6959600"/>
            <a:ext cx="14732000" cy="685800"/>
          </a:xfrm>
          <a:prstGeom prst="roundRect">
            <a:avLst>
              <a:gd name="adj" fmla="val 11111"/>
            </a:avLst>
          </a:prstGeom>
          <a:solidFill>
            <a:srgbClr val="F1F4F8"/>
          </a:solidFill>
          <a:ln/>
        </p:spPr>
      </p:sp>
      <p:sp>
        <p:nvSpPr>
          <p:cNvPr id="16" name="m06-text-15"/>
          <p:cNvSpPr/>
          <p:nvPr/>
        </p:nvSpPr>
        <p:spPr>
          <a:xfrm>
            <a:off x="1041400" y="7162800"/>
            <a:ext cx="14173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DDL実行はDEV_SCHEMA / データ移行・本番スキーマ適用は Human / Official Component Gate</a:t>
            </a:r>
            <a:endParaRPr lang="en-US" sz="1400" dirty="0"/>
          </a:p>
        </p:txBody>
      </p:sp>
      <p:sp>
        <p:nvSpPr>
          <p:cNvPr id="17" name="m06-text-16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成果物：DDL / conversion exceptions / format level impact / migration plan</a:t>
            </a:r>
            <a:endParaRPr lang="en-US" sz="1400" dirty="0"/>
          </a:p>
        </p:txBody>
      </p:sp>
      <p:sp>
        <p:nvSpPr>
          <p:cNvPr id="18" name="m06-text-1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07-text-1"/>
          <p:cNvSpPr/>
          <p:nvPr/>
        </p:nvSpPr>
        <p:spPr>
          <a:xfrm>
            <a:off x="762000" y="711200"/>
            <a:ext cx="1219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M07 API化・外部連携</a:t>
            </a:r>
            <a:endParaRPr lang="en-US" sz="3200" dirty="0"/>
          </a:p>
        </p:txBody>
      </p:sp>
      <p:sp>
        <p:nvSpPr>
          <p:cNvPr id="3" name="m07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m07-text-3"/>
          <p:cNvSpPr/>
          <p:nvPr/>
        </p:nvSpPr>
        <p:spPr>
          <a:xfrm>
            <a:off x="762000" y="2082800"/>
            <a:ext cx="1384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RPGプロシージャのAPI化をDEVで検証し、本番IWS・外部公開は人の承認に残す。</a:t>
            </a:r>
            <a:endParaRPr lang="en-US" sz="2400" dirty="0"/>
          </a:p>
        </p:txBody>
      </p:sp>
      <p:sp>
        <p:nvSpPr>
          <p:cNvPr id="5" name="m07-shape-4"/>
          <p:cNvSpPr/>
          <p:nvPr/>
        </p:nvSpPr>
        <p:spPr>
          <a:xfrm>
            <a:off x="1676400" y="4889500"/>
            <a:ext cx="12903200" cy="9144"/>
          </a:xfrm>
          <a:prstGeom prst="line">
            <a:avLst/>
          </a:prstGeom>
          <a:ln w="38100">
            <a:solidFill>
              <a:srgbClr val="E0E0E0"/>
            </a:solidFill>
            <a:prstDash val="solid"/>
          </a:ln>
        </p:spPr>
      </p:sp>
      <p:sp>
        <p:nvSpPr>
          <p:cNvPr id="6" name="m07-shape-5"/>
          <p:cNvSpPr/>
          <p:nvPr/>
        </p:nvSpPr>
        <p:spPr>
          <a:xfrm>
            <a:off x="1397000" y="4508500"/>
            <a:ext cx="762000" cy="762000"/>
          </a:xfrm>
          <a:prstGeom prst="ellipse">
            <a:avLst/>
          </a:prstGeom>
          <a:solidFill>
            <a:srgbClr val="051429"/>
          </a:solidFill>
          <a:ln/>
        </p:spPr>
      </p:sp>
      <p:pic>
        <p:nvPicPr>
          <p:cNvPr id="7" name="m07-icon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4699000"/>
            <a:ext cx="381000" cy="381000"/>
          </a:xfrm>
          <a:prstGeom prst="rect">
            <a:avLst/>
          </a:prstGeom>
        </p:spPr>
      </p:pic>
      <p:sp>
        <p:nvSpPr>
          <p:cNvPr id="8" name="m07-text-7"/>
          <p:cNvSpPr/>
          <p:nvPr/>
        </p:nvSpPr>
        <p:spPr>
          <a:xfrm>
            <a:off x="1041400" y="5588000"/>
            <a:ext cx="147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候補選定</a:t>
            </a:r>
            <a:endParaRPr lang="en-US" sz="1400" dirty="0"/>
          </a:p>
        </p:txBody>
      </p:sp>
      <p:sp>
        <p:nvSpPr>
          <p:cNvPr id="9" name="m07-shape-8"/>
          <p:cNvSpPr/>
          <p:nvPr/>
        </p:nvSpPr>
        <p:spPr>
          <a:xfrm>
            <a:off x="4445000" y="4508500"/>
            <a:ext cx="762000" cy="762000"/>
          </a:xfrm>
          <a:prstGeom prst="ellipse">
            <a:avLst/>
          </a:prstGeom>
          <a:solidFill>
            <a:srgbClr val="051429"/>
          </a:solidFill>
          <a:ln/>
        </p:spPr>
      </p:sp>
      <p:pic>
        <p:nvPicPr>
          <p:cNvPr id="10" name="m07-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00" y="4699000"/>
            <a:ext cx="381000" cy="381000"/>
          </a:xfrm>
          <a:prstGeom prst="rect">
            <a:avLst/>
          </a:prstGeom>
        </p:spPr>
      </p:pic>
      <p:sp>
        <p:nvSpPr>
          <p:cNvPr id="11" name="m07-text-10"/>
          <p:cNvSpPr/>
          <p:nvPr/>
        </p:nvSpPr>
        <p:spPr>
          <a:xfrm>
            <a:off x="4089400" y="5588000"/>
            <a:ext cx="147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再コンパイル</a:t>
            </a:r>
            <a:endParaRPr lang="en-US" sz="1400" dirty="0"/>
          </a:p>
        </p:txBody>
      </p:sp>
      <p:sp>
        <p:nvSpPr>
          <p:cNvPr id="12" name="m07-shape-11"/>
          <p:cNvSpPr/>
          <p:nvPr/>
        </p:nvSpPr>
        <p:spPr>
          <a:xfrm>
            <a:off x="7493000" y="4508500"/>
            <a:ext cx="762000" cy="762000"/>
          </a:xfrm>
          <a:prstGeom prst="ellipse">
            <a:avLst/>
          </a:prstGeom>
          <a:solidFill>
            <a:srgbClr val="0F62FE"/>
          </a:solidFill>
          <a:ln/>
        </p:spPr>
      </p:sp>
      <p:pic>
        <p:nvPicPr>
          <p:cNvPr id="13" name="m07-icon-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500" y="4699000"/>
            <a:ext cx="381000" cy="381000"/>
          </a:xfrm>
          <a:prstGeom prst="rect">
            <a:avLst/>
          </a:prstGeom>
        </p:spPr>
      </p:pic>
      <p:sp>
        <p:nvSpPr>
          <p:cNvPr id="14" name="m07-text-13"/>
          <p:cNvSpPr/>
          <p:nvPr/>
        </p:nvSpPr>
        <p:spPr>
          <a:xfrm>
            <a:off x="7137400" y="5588000"/>
            <a:ext cx="147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DEV IWS</a:t>
            </a:r>
            <a:endParaRPr lang="en-US" sz="1400" dirty="0"/>
          </a:p>
        </p:txBody>
      </p:sp>
      <p:sp>
        <p:nvSpPr>
          <p:cNvPr id="15" name="m07-shape-14"/>
          <p:cNvSpPr/>
          <p:nvPr/>
        </p:nvSpPr>
        <p:spPr>
          <a:xfrm>
            <a:off x="10541000" y="4508500"/>
            <a:ext cx="762000" cy="762000"/>
          </a:xfrm>
          <a:prstGeom prst="ellipse">
            <a:avLst/>
          </a:prstGeom>
          <a:solidFill>
            <a:srgbClr val="051429"/>
          </a:solidFill>
          <a:ln/>
        </p:spPr>
      </p:sp>
      <p:pic>
        <p:nvPicPr>
          <p:cNvPr id="16" name="m07-icon-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500" y="4699000"/>
            <a:ext cx="381000" cy="381000"/>
          </a:xfrm>
          <a:prstGeom prst="rect">
            <a:avLst/>
          </a:prstGeom>
        </p:spPr>
      </p:pic>
      <p:sp>
        <p:nvSpPr>
          <p:cNvPr id="17" name="m07-text-16"/>
          <p:cNvSpPr/>
          <p:nvPr/>
        </p:nvSpPr>
        <p:spPr>
          <a:xfrm>
            <a:off x="10185400" y="5588000"/>
            <a:ext cx="147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OpenAPI契約</a:t>
            </a:r>
            <a:endParaRPr lang="en-US" sz="1400" dirty="0"/>
          </a:p>
        </p:txBody>
      </p:sp>
      <p:sp>
        <p:nvSpPr>
          <p:cNvPr id="18" name="m07-shape-17"/>
          <p:cNvSpPr/>
          <p:nvPr/>
        </p:nvSpPr>
        <p:spPr>
          <a:xfrm>
            <a:off x="13589000" y="4508500"/>
            <a:ext cx="762000" cy="762000"/>
          </a:xfrm>
          <a:prstGeom prst="ellipse">
            <a:avLst/>
          </a:prstGeom>
          <a:solidFill>
            <a:srgbClr val="051429"/>
          </a:solidFill>
          <a:ln/>
        </p:spPr>
      </p:sp>
      <p:pic>
        <p:nvPicPr>
          <p:cNvPr id="19" name="m07-icon-1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9500" y="4699000"/>
            <a:ext cx="381000" cy="381000"/>
          </a:xfrm>
          <a:prstGeom prst="rect">
            <a:avLst/>
          </a:prstGeom>
        </p:spPr>
      </p:pic>
      <p:sp>
        <p:nvSpPr>
          <p:cNvPr id="20" name="m07-text-19"/>
          <p:cNvSpPr/>
          <p:nvPr/>
        </p:nvSpPr>
        <p:spPr>
          <a:xfrm>
            <a:off x="13233400" y="5588000"/>
            <a:ext cx="147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疎通テスト</a:t>
            </a:r>
            <a:endParaRPr lang="en-US" sz="1400" dirty="0"/>
          </a:p>
        </p:txBody>
      </p:sp>
      <p:sp>
        <p:nvSpPr>
          <p:cNvPr id="21" name="m07-shape-20"/>
          <p:cNvSpPr/>
          <p:nvPr/>
        </p:nvSpPr>
        <p:spPr>
          <a:xfrm>
            <a:off x="762000" y="6908800"/>
            <a:ext cx="14732000" cy="685800"/>
          </a:xfrm>
          <a:prstGeom prst="roundRect">
            <a:avLst>
              <a:gd name="adj" fmla="val 11111"/>
            </a:avLst>
          </a:prstGeom>
          <a:solidFill>
            <a:srgbClr val="051429"/>
          </a:solidFill>
          <a:ln/>
        </p:spPr>
      </p:sp>
      <p:sp>
        <p:nvSpPr>
          <p:cNvPr id="22" name="m07-text-21"/>
          <p:cNvSpPr/>
          <p:nvPr/>
        </p:nvSpPr>
        <p:spPr>
          <a:xfrm>
            <a:off x="1041400" y="7112000"/>
            <a:ext cx="14173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本番IWSへの公開・外部ネットワークへの公開は Human Gate。公開APIごとに契約書とテスト結果を揃える。</a:t>
            </a:r>
            <a:endParaRPr lang="en-US" sz="1400" dirty="0"/>
          </a:p>
        </p:txBody>
      </p:sp>
      <p:sp>
        <p:nvSpPr>
          <p:cNvPr id="23" name="m07-text-22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変更範囲：IBM i Mutation = DEV_TEST　/　Mode：IBM i Developer</a:t>
            </a:r>
            <a:endParaRPr lang="en-US" sz="1400" dirty="0"/>
          </a:p>
        </p:txBody>
      </p:sp>
      <p:sp>
        <p:nvSpPr>
          <p:cNvPr id="24" name="m07-text-2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08-text-1"/>
          <p:cNvSpPr/>
          <p:nvPr/>
        </p:nvSpPr>
        <p:spPr>
          <a:xfrm>
            <a:off x="762000" y="711200"/>
            <a:ext cx="1219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M08 テスト自動化・等価性保証</a:t>
            </a:r>
            <a:endParaRPr lang="en-US" sz="3200" dirty="0"/>
          </a:p>
        </p:txBody>
      </p:sp>
      <p:sp>
        <p:nvSpPr>
          <p:cNvPr id="3" name="m08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m08-text-3"/>
          <p:cNvSpPr/>
          <p:nvPr/>
        </p:nvSpPr>
        <p:spPr>
          <a:xfrm>
            <a:off x="762000" y="2082800"/>
            <a:ext cx="1384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変革前後に同じテストを再実行し、合格・カバレッジ・基準結果をDEVの証跡として残す。</a:t>
            </a:r>
            <a:endParaRPr lang="en-US" sz="2400" dirty="0"/>
          </a:p>
        </p:txBody>
      </p:sp>
      <p:sp>
        <p:nvSpPr>
          <p:cNvPr id="5" name="m08-shape-4"/>
          <p:cNvSpPr/>
          <p:nvPr/>
        </p:nvSpPr>
        <p:spPr>
          <a:xfrm>
            <a:off x="762000" y="3429000"/>
            <a:ext cx="5334000" cy="2984500"/>
          </a:xfrm>
          <a:prstGeom prst="roundRect">
            <a:avLst>
              <a:gd name="adj" fmla="val 4255"/>
            </a:avLst>
          </a:prstGeom>
          <a:solidFill>
            <a:srgbClr val="F1F4F8"/>
          </a:solidFill>
          <a:ln/>
        </p:spPr>
      </p:sp>
      <p:pic>
        <p:nvPicPr>
          <p:cNvPr id="6" name="m08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810000"/>
            <a:ext cx="482600" cy="482600"/>
          </a:xfrm>
          <a:prstGeom prst="rect">
            <a:avLst/>
          </a:prstGeom>
        </p:spPr>
      </p:pic>
      <p:sp>
        <p:nvSpPr>
          <p:cNvPr id="7" name="m08-text-6"/>
          <p:cNvSpPr/>
          <p:nvPr/>
        </p:nvSpPr>
        <p:spPr>
          <a:xfrm>
            <a:off x="1905000" y="3810000"/>
            <a:ext cx="317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変革前 Baseline</a:t>
            </a:r>
            <a:endParaRPr lang="en-US" sz="2200" dirty="0"/>
          </a:p>
        </p:txBody>
      </p:sp>
      <p:sp>
        <p:nvSpPr>
          <p:cNvPr id="8" name="m08-text-7"/>
          <p:cNvSpPr/>
          <p:nvPr/>
        </p:nvSpPr>
        <p:spPr>
          <a:xfrm>
            <a:off x="1143000" y="4635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既存テストを実行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結果を基準として保存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既知の失敗を分離</a:t>
            </a:r>
            <a:endParaRPr lang="en-US" sz="1800" dirty="0"/>
          </a:p>
        </p:txBody>
      </p:sp>
      <p:sp>
        <p:nvSpPr>
          <p:cNvPr id="9" name="m08-shape-8"/>
          <p:cNvSpPr/>
          <p:nvPr/>
        </p:nvSpPr>
        <p:spPr>
          <a:xfrm>
            <a:off x="6604000" y="4445000"/>
            <a:ext cx="2286000" cy="889000"/>
          </a:xfrm>
          <a:prstGeom prst="rightArrow">
            <a:avLst/>
          </a:prstGeom>
          <a:solidFill>
            <a:srgbClr val="0F62FE"/>
          </a:solidFill>
          <a:ln/>
        </p:spPr>
      </p:sp>
      <p:sp>
        <p:nvSpPr>
          <p:cNvPr id="10" name="m08-text-9"/>
          <p:cNvSpPr/>
          <p:nvPr/>
        </p:nvSpPr>
        <p:spPr>
          <a:xfrm>
            <a:off x="6858000" y="47244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同一Suiteで比較</a:t>
            </a:r>
            <a:endParaRPr lang="en-US" sz="1400" dirty="0"/>
          </a:p>
        </p:txBody>
      </p:sp>
      <p:sp>
        <p:nvSpPr>
          <p:cNvPr id="11" name="m08-shape-10"/>
          <p:cNvSpPr/>
          <p:nvPr/>
        </p:nvSpPr>
        <p:spPr>
          <a:xfrm>
            <a:off x="9652000" y="3429000"/>
            <a:ext cx="5842000" cy="2984500"/>
          </a:xfrm>
          <a:prstGeom prst="roundRect">
            <a:avLst>
              <a:gd name="adj" fmla="val 4255"/>
            </a:avLst>
          </a:prstGeom>
          <a:solidFill>
            <a:srgbClr val="051429"/>
          </a:solidFill>
          <a:ln/>
        </p:spPr>
      </p:sp>
      <p:pic>
        <p:nvPicPr>
          <p:cNvPr id="12" name="m08-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0" y="3810000"/>
            <a:ext cx="482600" cy="482600"/>
          </a:xfrm>
          <a:prstGeom prst="rect">
            <a:avLst/>
          </a:prstGeom>
        </p:spPr>
      </p:pic>
      <p:sp>
        <p:nvSpPr>
          <p:cNvPr id="13" name="m08-text-12"/>
          <p:cNvSpPr/>
          <p:nvPr/>
        </p:nvSpPr>
        <p:spPr>
          <a:xfrm>
            <a:off x="10795000" y="38100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変革後の確認</a:t>
            </a:r>
            <a:endParaRPr lang="en-US" sz="2200" dirty="0"/>
          </a:p>
        </p:txBody>
      </p:sp>
      <p:sp>
        <p:nvSpPr>
          <p:cNvPr id="14" name="m08-text-13"/>
          <p:cNvSpPr/>
          <p:nvPr/>
        </p:nvSpPr>
        <p:spPr>
          <a:xfrm>
            <a:off x="10033000" y="4635500"/>
            <a:ext cx="444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RPGUnit計画とSuite実装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新規テスト全件合格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カバレッジ計測結果</a:t>
            </a:r>
            <a:endParaRPr lang="en-US" sz="1800" dirty="0"/>
          </a:p>
        </p:txBody>
      </p:sp>
      <p:sp>
        <p:nvSpPr>
          <p:cNvPr id="15" name="m08-text-14"/>
          <p:cNvSpPr/>
          <p:nvPr/>
        </p:nvSpPr>
        <p:spPr>
          <a:xfrm>
            <a:off x="762000" y="7391400"/>
            <a:ext cx="139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既存テストの失敗を修正対象に含めるかは Human / Official Component Gate で確認。</a:t>
            </a:r>
            <a:endParaRPr lang="en-US" sz="1400" dirty="0"/>
          </a:p>
        </p:txBody>
      </p:sp>
      <p:sp>
        <p:nvSpPr>
          <p:cNvPr id="16" name="m08-text-15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変更範囲：IBM i Mutation = DEV_TEST　/　Mode：IBM i Developer</a:t>
            </a:r>
            <a:endParaRPr lang="en-US" sz="1400" dirty="0"/>
          </a:p>
        </p:txBody>
      </p:sp>
      <p:sp>
        <p:nvSpPr>
          <p:cNvPr id="17" name="m08-text-16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09-text-1"/>
          <p:cNvSpPr/>
          <p:nvPr/>
        </p:nvSpPr>
        <p:spPr>
          <a:xfrm>
            <a:off x="762000" y="711200"/>
            <a:ext cx="1219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M09 SQL性能診断</a:t>
            </a:r>
            <a:endParaRPr lang="en-US" sz="3200" dirty="0"/>
          </a:p>
        </p:txBody>
      </p:sp>
      <p:sp>
        <p:nvSpPr>
          <p:cNvPr id="3" name="m09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m09-text-3"/>
          <p:cNvSpPr/>
          <p:nvPr/>
        </p:nvSpPr>
        <p:spPr>
          <a:xfrm>
            <a:off x="762000" y="2082800"/>
            <a:ext cx="1384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性能データに根拠を置いたSQL診断とインデックス戦略で、無断変更なしに改善優先順位を明確化する。</a:t>
            </a:r>
            <a:endParaRPr lang="en-US" sz="2400" dirty="0"/>
          </a:p>
        </p:txBody>
      </p:sp>
      <p:sp>
        <p:nvSpPr>
          <p:cNvPr id="5" name="m09-shape-4"/>
          <p:cNvSpPr/>
          <p:nvPr/>
        </p:nvSpPr>
        <p:spPr>
          <a:xfrm>
            <a:off x="762000" y="3429000"/>
            <a:ext cx="6731000" cy="304800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/>
        </p:spPr>
      </p:sp>
      <p:pic>
        <p:nvPicPr>
          <p:cNvPr id="6" name="m09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810000"/>
            <a:ext cx="508000" cy="508000"/>
          </a:xfrm>
          <a:prstGeom prst="rect">
            <a:avLst/>
          </a:prstGeom>
        </p:spPr>
      </p:pic>
      <p:sp>
        <p:nvSpPr>
          <p:cNvPr id="7" name="m09-text-6"/>
          <p:cNvSpPr/>
          <p:nvPr/>
        </p:nvSpPr>
        <p:spPr>
          <a:xfrm>
            <a:off x="1955800" y="381000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SQLレビュー</a:t>
            </a:r>
            <a:endParaRPr lang="en-US" sz="2300" dirty="0"/>
          </a:p>
        </p:txBody>
      </p:sp>
      <p:sp>
        <p:nvSpPr>
          <p:cNvPr id="8" name="m09-text-7"/>
          <p:cNvSpPr/>
          <p:nvPr/>
        </p:nvSpPr>
        <p:spPr>
          <a:xfrm>
            <a:off x="1143000" y="4673600"/>
            <a:ext cx="482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SQLを含むメンバーを横断レビュー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Plan Cache・Index Advisor・MTI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クエリ統計から優先順位を確認</a:t>
            </a:r>
            <a:endParaRPr lang="en-US" sz="1800" dirty="0"/>
          </a:p>
        </p:txBody>
      </p:sp>
      <p:sp>
        <p:nvSpPr>
          <p:cNvPr id="9" name="m09-shape-8"/>
          <p:cNvSpPr/>
          <p:nvPr/>
        </p:nvSpPr>
        <p:spPr>
          <a:xfrm>
            <a:off x="8763000" y="3429000"/>
            <a:ext cx="6731000" cy="3048000"/>
          </a:xfrm>
          <a:prstGeom prst="roundRect">
            <a:avLst>
              <a:gd name="adj" fmla="val 4167"/>
            </a:avLst>
          </a:prstGeom>
          <a:solidFill>
            <a:srgbClr val="051429"/>
          </a:solidFill>
          <a:ln/>
        </p:spPr>
      </p:sp>
      <p:pic>
        <p:nvPicPr>
          <p:cNvPr id="10" name="m09-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3810000"/>
            <a:ext cx="508000" cy="508000"/>
          </a:xfrm>
          <a:prstGeom prst="rect">
            <a:avLst/>
          </a:prstGeom>
        </p:spPr>
      </p:pic>
      <p:sp>
        <p:nvSpPr>
          <p:cNvPr id="11" name="m09-text-10"/>
          <p:cNvSpPr/>
          <p:nvPr/>
        </p:nvSpPr>
        <p:spPr>
          <a:xfrm>
            <a:off x="9956800" y="38100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インデックス戦略</a:t>
            </a:r>
            <a:endParaRPr lang="en-US" sz="2300" dirty="0"/>
          </a:p>
        </p:txBody>
      </p:sp>
      <p:sp>
        <p:nvSpPr>
          <p:cNvPr id="12" name="m09-text-11"/>
          <p:cNvSpPr/>
          <p:nvPr/>
        </p:nvSpPr>
        <p:spPr>
          <a:xfrm>
            <a:off x="9144000" y="467360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提案ごとに性能データを紐付け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重複・更新負荷・容量も評価</a:t>
            </a:r>
            <a:endParaRPr lang="en-US" sz="1800" dirty="0"/>
          </a:p>
          <a:p>
            <a:pPr algn="l"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承認前に作成しない</a:t>
            </a:r>
            <a:endParaRPr lang="en-US" sz="1800" dirty="0"/>
          </a:p>
        </p:txBody>
      </p:sp>
      <p:sp>
        <p:nvSpPr>
          <p:cNvPr id="13" name="m09-shape-12"/>
          <p:cNvSpPr/>
          <p:nvPr/>
        </p:nvSpPr>
        <p:spPr>
          <a:xfrm>
            <a:off x="762000" y="7010400"/>
            <a:ext cx="14732000" cy="6350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/>
        </p:spPr>
      </p:sp>
      <p:sp>
        <p:nvSpPr>
          <p:cNvPr id="14" name="m09-text-13"/>
          <p:cNvSpPr/>
          <p:nvPr/>
        </p:nvSpPr>
        <p:spPr>
          <a:xfrm>
            <a:off x="1041400" y="7200900"/>
            <a:ext cx="14173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成果物：sql_review / index_strategy_report / top_sql　　インデックス作成は Human Gate</a:t>
            </a:r>
            <a:endParaRPr lang="en-US" sz="1400" dirty="0"/>
          </a:p>
        </p:txBody>
      </p:sp>
      <p:sp>
        <p:nvSpPr>
          <p:cNvPr id="15" name="m09-text-14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変更範囲：IBM i Mutation = HUMAN_GATE　/　Mode：IBM i Database</a:t>
            </a:r>
            <a:endParaRPr lang="en-US" sz="1400" dirty="0"/>
          </a:p>
        </p:txBody>
      </p:sp>
      <p:sp>
        <p:nvSpPr>
          <p:cNvPr id="16" name="m09-text-1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10-text-1"/>
          <p:cNvSpPr/>
          <p:nvPr/>
        </p:nvSpPr>
        <p:spPr>
          <a:xfrm>
            <a:off x="762000" y="711200"/>
            <a:ext cx="1219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M10 セキュリティ一括診断</a:t>
            </a:r>
            <a:endParaRPr lang="en-US" sz="3200" dirty="0"/>
          </a:p>
        </p:txBody>
      </p:sp>
      <p:sp>
        <p:nvSpPr>
          <p:cNvPr id="3" name="m10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m10-text-3"/>
          <p:cNvSpPr/>
          <p:nvPr/>
        </p:nvSpPr>
        <p:spPr>
          <a:xfrm>
            <a:off x="762000" y="2082800"/>
            <a:ext cx="1384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IBM iを変更せず、権限・監査・SQL・個人情報候補を横断可視化して是正計画へつなげる。</a:t>
            </a:r>
            <a:endParaRPr lang="en-US" sz="2400" dirty="0"/>
          </a:p>
        </p:txBody>
      </p:sp>
      <p:sp>
        <p:nvSpPr>
          <p:cNvPr id="5" name="m10-shape-4"/>
          <p:cNvSpPr/>
          <p:nvPr/>
        </p:nvSpPr>
        <p:spPr>
          <a:xfrm>
            <a:off x="762000" y="3429000"/>
            <a:ext cx="6350000" cy="3429000"/>
          </a:xfrm>
          <a:prstGeom prst="roundRect">
            <a:avLst>
              <a:gd name="adj" fmla="val 3704"/>
            </a:avLst>
          </a:prstGeom>
          <a:solidFill>
            <a:srgbClr val="F1F4F8"/>
          </a:solidFill>
          <a:ln/>
        </p:spPr>
      </p:sp>
      <p:sp>
        <p:nvSpPr>
          <p:cNvPr id="6" name="m10-text-5"/>
          <p:cNvSpPr/>
          <p:nvPr/>
        </p:nvSpPr>
        <p:spPr>
          <a:xfrm>
            <a:off x="1143000" y="38354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診断スコープ</a:t>
            </a:r>
            <a:endParaRPr lang="en-US" sz="2300" dirty="0"/>
          </a:p>
        </p:txBody>
      </p:sp>
      <p:sp>
        <p:nvSpPr>
          <p:cNvPr id="7" name="m10-text-6"/>
          <p:cNvSpPr/>
          <p:nvPr/>
        </p:nvSpPr>
        <p:spPr>
          <a:xfrm>
            <a:off x="1143000" y="4635500"/>
            <a:ext cx="4826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66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*PUBLIC・採用権限・特殊権限</a:t>
            </a:r>
            <a:endParaRPr lang="en-US" sz="1800" dirty="0"/>
          </a:p>
          <a:p>
            <a:pPr algn="l" marL="285750" indent="-285750">
              <a:lnSpc>
                <a:spcPts val="266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監査設定・環境分離・RCAC</a:t>
            </a:r>
            <a:endParaRPr lang="en-US" sz="1800" dirty="0"/>
          </a:p>
          <a:p>
            <a:pPr algn="l" marL="285750" indent="-285750">
              <a:lnSpc>
                <a:spcPts val="266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動的SQL・機密データ候補</a:t>
            </a:r>
            <a:endParaRPr lang="en-US" sz="1800" dirty="0"/>
          </a:p>
        </p:txBody>
      </p:sp>
      <p:sp>
        <p:nvSpPr>
          <p:cNvPr id="8" name="m10-shape-7"/>
          <p:cNvSpPr/>
          <p:nvPr/>
        </p:nvSpPr>
        <p:spPr>
          <a:xfrm>
            <a:off x="8509000" y="3429000"/>
            <a:ext cx="6985000" cy="3429000"/>
          </a:xfrm>
          <a:prstGeom prst="roundRect">
            <a:avLst>
              <a:gd name="adj" fmla="val 3704"/>
            </a:avLst>
          </a:prstGeom>
          <a:solidFill>
            <a:srgbClr val="051429"/>
          </a:solidFill>
          <a:ln/>
        </p:spPr>
      </p:sp>
      <p:pic>
        <p:nvPicPr>
          <p:cNvPr id="9" name="m10-icon-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3835400"/>
            <a:ext cx="508000" cy="508000"/>
          </a:xfrm>
          <a:prstGeom prst="rect">
            <a:avLst/>
          </a:prstGeom>
        </p:spPr>
      </p:pic>
      <p:sp>
        <p:nvSpPr>
          <p:cNvPr id="10" name="m10-text-9"/>
          <p:cNvSpPr/>
          <p:nvPr/>
        </p:nvSpPr>
        <p:spPr>
          <a:xfrm>
            <a:off x="9779000" y="3835400"/>
            <a:ext cx="444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根拠と是正計画</a:t>
            </a:r>
            <a:endParaRPr lang="en-US" sz="2300" dirty="0"/>
          </a:p>
        </p:txBody>
      </p:sp>
      <p:sp>
        <p:nvSpPr>
          <p:cNvPr id="11" name="m10-text-10"/>
          <p:cNvSpPr/>
          <p:nvPr/>
        </p:nvSpPr>
        <p:spPr>
          <a:xfrm>
            <a:off x="8915400" y="4635500"/>
            <a:ext cx="5207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66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security_findings.csv</a:t>
            </a:r>
            <a:endParaRPr lang="en-US" sz="1800" dirty="0"/>
          </a:p>
          <a:p>
            <a:pPr algn="l" marL="285750" indent="-285750">
              <a:lnSpc>
                <a:spcPts val="266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sensitive_columns.csv</a:t>
            </a:r>
            <a:endParaRPr lang="en-US" sz="1800" dirty="0"/>
          </a:p>
          <a:p>
            <a:pPr algn="l" marL="285750" indent="-285750">
              <a:lnSpc>
                <a:spcPts val="266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remediation_plan.md</a:t>
            </a:r>
            <a:endParaRPr lang="en-US" sz="1800" dirty="0"/>
          </a:p>
        </p:txBody>
      </p:sp>
      <p:sp>
        <p:nvSpPr>
          <p:cNvPr id="12" name="m10-shape-11"/>
          <p:cNvSpPr/>
          <p:nvPr/>
        </p:nvSpPr>
        <p:spPr>
          <a:xfrm>
            <a:off x="762000" y="7340600"/>
            <a:ext cx="14732000" cy="381000"/>
          </a:xfrm>
          <a:prstGeom prst="roundRect">
            <a:avLst>
              <a:gd name="adj" fmla="val 16667"/>
            </a:avLst>
          </a:prstGeom>
          <a:solidFill>
            <a:srgbClr val="0F62FE"/>
          </a:solidFill>
          <a:ln/>
        </p:spPr>
      </p:sp>
      <p:sp>
        <p:nvSpPr>
          <p:cNvPr id="13" name="m10-text-12"/>
          <p:cNvSpPr/>
          <p:nvPr/>
        </p:nvSpPr>
        <p:spPr>
          <a:xfrm>
            <a:off x="1041400" y="7429500"/>
            <a:ext cx="14173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権限不足は INSUFFICIENT_AUTHORITY / UNKNOWN。権限・システム値の変更は顧客実施。</a:t>
            </a:r>
            <a:endParaRPr lang="en-US" sz="1400" dirty="0"/>
          </a:p>
        </p:txBody>
      </p:sp>
      <p:sp>
        <p:nvSpPr>
          <p:cNvPr id="14" name="m10-text-13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変更範囲：IBM i Mutation = NONE　/　Mode：IBM i Database</a:t>
            </a:r>
            <a:endParaRPr lang="en-US" sz="1400" dirty="0"/>
          </a:p>
        </p:txBody>
      </p:sp>
      <p:sp>
        <p:nvSpPr>
          <p:cNvPr id="15" name="m10-text-1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11-text-1"/>
          <p:cNvSpPr/>
          <p:nvPr/>
        </p:nvSpPr>
        <p:spPr>
          <a:xfrm>
            <a:off x="762000" y="711200"/>
            <a:ext cx="1219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M11 ビルド・リリース準備</a:t>
            </a:r>
            <a:endParaRPr lang="en-US" sz="3200" dirty="0"/>
          </a:p>
        </p:txBody>
      </p:sp>
      <p:sp>
        <p:nvSpPr>
          <p:cNvPr id="3" name="m11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m11-text-3"/>
          <p:cNvSpPr/>
          <p:nvPr/>
        </p:nvSpPr>
        <p:spPr>
          <a:xfrm>
            <a:off x="762000" y="2082800"/>
            <a:ext cx="1384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依存順ビルドと統合証跡により、安全なリリース判定・本番手順・切戻し手順を準備する。</a:t>
            </a:r>
            <a:endParaRPr lang="en-US" sz="2400" dirty="0"/>
          </a:p>
        </p:txBody>
      </p:sp>
      <p:sp>
        <p:nvSpPr>
          <p:cNvPr id="5" name="m11-shape-4"/>
          <p:cNvSpPr/>
          <p:nvPr/>
        </p:nvSpPr>
        <p:spPr>
          <a:xfrm>
            <a:off x="762000" y="3556000"/>
            <a:ext cx="2413000" cy="914400"/>
          </a:xfrm>
          <a:prstGeom prst="roundRect">
            <a:avLst>
              <a:gd name="adj" fmla="val 11111"/>
            </a:avLst>
          </a:prstGeom>
          <a:solidFill>
            <a:srgbClr val="F1F4F8"/>
          </a:solidFill>
          <a:ln/>
        </p:spPr>
      </p:sp>
      <p:sp>
        <p:nvSpPr>
          <p:cNvPr id="6" name="m11-text-5"/>
          <p:cNvSpPr/>
          <p:nvPr/>
        </p:nvSpPr>
        <p:spPr>
          <a:xfrm>
            <a:off x="1016000" y="38354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PF / TABLE</a:t>
            </a:r>
            <a:endParaRPr lang="en-US" sz="1900" dirty="0"/>
          </a:p>
        </p:txBody>
      </p:sp>
      <p:sp>
        <p:nvSpPr>
          <p:cNvPr id="7" name="m11-shape-6"/>
          <p:cNvSpPr/>
          <p:nvPr/>
        </p:nvSpPr>
        <p:spPr>
          <a:xfrm>
            <a:off x="3429000" y="3759200"/>
            <a:ext cx="889000" cy="482600"/>
          </a:xfrm>
          <a:prstGeom prst="rightArrow">
            <a:avLst/>
          </a:prstGeom>
          <a:solidFill>
            <a:srgbClr val="0F62FE"/>
          </a:solidFill>
          <a:ln/>
        </p:spPr>
      </p:sp>
      <p:sp>
        <p:nvSpPr>
          <p:cNvPr id="8" name="m11-shape-7"/>
          <p:cNvSpPr/>
          <p:nvPr/>
        </p:nvSpPr>
        <p:spPr>
          <a:xfrm>
            <a:off x="4572000" y="3556000"/>
            <a:ext cx="2413000" cy="914400"/>
          </a:xfrm>
          <a:prstGeom prst="roundRect">
            <a:avLst>
              <a:gd name="adj" fmla="val 11111"/>
            </a:avLst>
          </a:prstGeom>
          <a:solidFill>
            <a:srgbClr val="F1F4F8"/>
          </a:solidFill>
          <a:ln/>
        </p:spPr>
      </p:sp>
      <p:sp>
        <p:nvSpPr>
          <p:cNvPr id="9" name="m11-text-8"/>
          <p:cNvSpPr/>
          <p:nvPr/>
        </p:nvSpPr>
        <p:spPr>
          <a:xfrm>
            <a:off x="4826000" y="38354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LF / INDEX</a:t>
            </a:r>
            <a:endParaRPr lang="en-US" sz="1900" dirty="0"/>
          </a:p>
        </p:txBody>
      </p:sp>
      <p:sp>
        <p:nvSpPr>
          <p:cNvPr id="10" name="m11-shape-9"/>
          <p:cNvSpPr/>
          <p:nvPr/>
        </p:nvSpPr>
        <p:spPr>
          <a:xfrm>
            <a:off x="7239000" y="3759200"/>
            <a:ext cx="889000" cy="482600"/>
          </a:xfrm>
          <a:prstGeom prst="rightArrow">
            <a:avLst/>
          </a:prstGeom>
          <a:solidFill>
            <a:srgbClr val="0F62FE"/>
          </a:solidFill>
          <a:ln/>
        </p:spPr>
      </p:sp>
      <p:sp>
        <p:nvSpPr>
          <p:cNvPr id="11" name="m11-shape-10"/>
          <p:cNvSpPr/>
          <p:nvPr/>
        </p:nvSpPr>
        <p:spPr>
          <a:xfrm>
            <a:off x="8382000" y="3556000"/>
            <a:ext cx="2413000" cy="914400"/>
          </a:xfrm>
          <a:prstGeom prst="roundRect">
            <a:avLst>
              <a:gd name="adj" fmla="val 11111"/>
            </a:avLst>
          </a:prstGeom>
          <a:solidFill>
            <a:srgbClr val="F1F4F8"/>
          </a:solidFill>
          <a:ln/>
        </p:spPr>
      </p:sp>
      <p:sp>
        <p:nvSpPr>
          <p:cNvPr id="12" name="m11-text-11"/>
          <p:cNvSpPr/>
          <p:nvPr/>
        </p:nvSpPr>
        <p:spPr>
          <a:xfrm>
            <a:off x="8636000" y="38354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MODULE</a:t>
            </a:r>
            <a:endParaRPr lang="en-US" sz="1900" dirty="0"/>
          </a:p>
        </p:txBody>
      </p:sp>
      <p:sp>
        <p:nvSpPr>
          <p:cNvPr id="13" name="m11-shape-12"/>
          <p:cNvSpPr/>
          <p:nvPr/>
        </p:nvSpPr>
        <p:spPr>
          <a:xfrm>
            <a:off x="11049000" y="3759200"/>
            <a:ext cx="889000" cy="482600"/>
          </a:xfrm>
          <a:prstGeom prst="rightArrow">
            <a:avLst/>
          </a:prstGeom>
          <a:solidFill>
            <a:srgbClr val="0F62FE"/>
          </a:solidFill>
          <a:ln/>
        </p:spPr>
      </p:sp>
      <p:sp>
        <p:nvSpPr>
          <p:cNvPr id="14" name="m11-shape-13"/>
          <p:cNvSpPr/>
          <p:nvPr/>
        </p:nvSpPr>
        <p:spPr>
          <a:xfrm>
            <a:off x="12192000" y="3556000"/>
            <a:ext cx="3302000" cy="914400"/>
          </a:xfrm>
          <a:prstGeom prst="roundRect">
            <a:avLst>
              <a:gd name="adj" fmla="val 11111"/>
            </a:avLst>
          </a:prstGeom>
          <a:solidFill>
            <a:srgbClr val="051429"/>
          </a:solidFill>
          <a:ln/>
        </p:spPr>
      </p:sp>
      <p:sp>
        <p:nvSpPr>
          <p:cNvPr id="15" name="m11-text-14"/>
          <p:cNvSpPr/>
          <p:nvPr/>
        </p:nvSpPr>
        <p:spPr>
          <a:xfrm>
            <a:off x="12446000" y="38354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SRVPGM / PGM</a:t>
            </a:r>
            <a:endParaRPr lang="en-US" sz="1900" dirty="0"/>
          </a:p>
        </p:txBody>
      </p:sp>
      <p:sp>
        <p:nvSpPr>
          <p:cNvPr id="16" name="m11-shape-15"/>
          <p:cNvSpPr/>
          <p:nvPr/>
        </p:nvSpPr>
        <p:spPr>
          <a:xfrm>
            <a:off x="762000" y="5359400"/>
            <a:ext cx="14732000" cy="1676400"/>
          </a:xfrm>
          <a:prstGeom prst="roundRect">
            <a:avLst>
              <a:gd name="adj" fmla="val 7576"/>
            </a:avLst>
          </a:prstGeom>
          <a:solidFill>
            <a:srgbClr val="F1F4F8"/>
          </a:solidFill>
          <a:ln/>
        </p:spPr>
      </p:sp>
      <p:pic>
        <p:nvPicPr>
          <p:cNvPr id="17" name="m11-icon-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5740400"/>
            <a:ext cx="508000" cy="508000"/>
          </a:xfrm>
          <a:prstGeom prst="rect">
            <a:avLst/>
          </a:prstGeom>
        </p:spPr>
      </p:pic>
      <p:sp>
        <p:nvSpPr>
          <p:cNvPr id="18" name="m11-text-17"/>
          <p:cNvSpPr/>
          <p:nvPr/>
        </p:nvSpPr>
        <p:spPr>
          <a:xfrm>
            <a:off x="1955800" y="565150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Release Readiness</a:t>
            </a:r>
            <a:endParaRPr lang="en-US" sz="2300" dirty="0"/>
          </a:p>
        </p:txBody>
      </p:sp>
      <p:sp>
        <p:nvSpPr>
          <p:cNvPr id="19" name="m11-text-18"/>
          <p:cNvSpPr/>
          <p:nvPr/>
        </p:nvSpPr>
        <p:spPr>
          <a:xfrm>
            <a:off x="1955800" y="6324600"/>
            <a:ext cx="1231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Manifest・ビルドログ・M08テスト・M09性能・M10セキュリティ・Runbook・Rollbackを統合</a:t>
            </a:r>
            <a:endParaRPr lang="en-US" sz="1800" dirty="0"/>
          </a:p>
        </p:txBody>
      </p:sp>
      <p:sp>
        <p:nvSpPr>
          <p:cNvPr id="20" name="m11-text-19"/>
          <p:cNvSpPr/>
          <p:nvPr/>
        </p:nvSpPr>
        <p:spPr>
          <a:xfrm>
            <a:off x="762000" y="7696200"/>
            <a:ext cx="139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本番適用は顧客の承認と実施が必要。自動実行しない。</a:t>
            </a:r>
            <a:endParaRPr lang="en-US" sz="1400" dirty="0"/>
          </a:p>
        </p:txBody>
      </p:sp>
      <p:sp>
        <p:nvSpPr>
          <p:cNvPr id="21" name="m11-text-20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変更範囲：IBM i Mutation = HUMAN_GATE　/　Mode：IBM i Developer</a:t>
            </a:r>
            <a:endParaRPr lang="en-US" sz="1400" dirty="0"/>
          </a:p>
        </p:txBody>
      </p:sp>
      <p:sp>
        <p:nvSpPr>
          <p:cNvPr id="22" name="m11-text-2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12-text-1"/>
          <p:cNvSpPr/>
          <p:nvPr/>
        </p:nvSpPr>
        <p:spPr>
          <a:xfrm>
            <a:off x="762000" y="711200"/>
            <a:ext cx="1295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M12 大規模・横断プログラム運営</a:t>
            </a:r>
            <a:endParaRPr lang="en-US" sz="3200" dirty="0"/>
          </a:p>
        </p:txBody>
      </p:sp>
      <p:sp>
        <p:nvSpPr>
          <p:cNvPr id="3" name="m12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m12-text-3"/>
          <p:cNvSpPr/>
          <p:nvPr/>
        </p:nvSpPr>
        <p:spPr>
          <a:xfrm>
            <a:off x="762000" y="2082800"/>
            <a:ext cx="1397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複数アプリのWave実行を、完了・品質・課題の証跡と人の承認ポイントで統制する。</a:t>
            </a:r>
            <a:endParaRPr lang="en-US" sz="2400" dirty="0"/>
          </a:p>
        </p:txBody>
      </p:sp>
      <p:sp>
        <p:nvSpPr>
          <p:cNvPr id="5" name="m12-text-4"/>
          <p:cNvSpPr/>
          <p:nvPr/>
        </p:nvSpPr>
        <p:spPr>
          <a:xfrm>
            <a:off x="762000" y="31750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Wave対象</a:t>
            </a:r>
            <a:endParaRPr lang="en-US" sz="1400" dirty="0"/>
          </a:p>
        </p:txBody>
      </p:sp>
      <p:sp>
        <p:nvSpPr>
          <p:cNvPr id="6" name="m12-text-5"/>
          <p:cNvSpPr/>
          <p:nvPr/>
        </p:nvSpPr>
        <p:spPr>
          <a:xfrm>
            <a:off x="3683000" y="31750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M01 / M02</a:t>
            </a:r>
            <a:endParaRPr lang="en-US" sz="1400" dirty="0"/>
          </a:p>
        </p:txBody>
      </p:sp>
      <p:sp>
        <p:nvSpPr>
          <p:cNvPr id="7" name="m12-text-6"/>
          <p:cNvSpPr/>
          <p:nvPr/>
        </p:nvSpPr>
        <p:spPr>
          <a:xfrm>
            <a:off x="6604000" y="31750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M08 / M04</a:t>
            </a:r>
            <a:endParaRPr lang="en-US" sz="1400" dirty="0"/>
          </a:p>
        </p:txBody>
      </p:sp>
      <p:sp>
        <p:nvSpPr>
          <p:cNvPr id="8" name="m12-text-7"/>
          <p:cNvSpPr/>
          <p:nvPr/>
        </p:nvSpPr>
        <p:spPr>
          <a:xfrm>
            <a:off x="9525000" y="31750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M11</a:t>
            </a:r>
            <a:endParaRPr lang="en-US" sz="1400" dirty="0"/>
          </a:p>
        </p:txBody>
      </p:sp>
      <p:sp>
        <p:nvSpPr>
          <p:cNvPr id="9" name="m12-text-8"/>
          <p:cNvSpPr/>
          <p:nvPr/>
        </p:nvSpPr>
        <p:spPr>
          <a:xfrm>
            <a:off x="12446000" y="31750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完了状態 / 課題</a:t>
            </a:r>
            <a:endParaRPr lang="en-US" sz="1400" dirty="0"/>
          </a:p>
        </p:txBody>
      </p:sp>
      <p:sp>
        <p:nvSpPr>
          <p:cNvPr id="10" name="m12-shape-9"/>
          <p:cNvSpPr/>
          <p:nvPr/>
        </p:nvSpPr>
        <p:spPr>
          <a:xfrm>
            <a:off x="762000" y="3708400"/>
            <a:ext cx="14732000" cy="787400"/>
          </a:xfrm>
          <a:prstGeom prst="roundRect">
            <a:avLst>
              <a:gd name="adj" fmla="val 9677"/>
            </a:avLst>
          </a:prstGeom>
          <a:solidFill>
            <a:srgbClr val="F1F4F8"/>
          </a:solidFill>
          <a:ln/>
        </p:spPr>
      </p:sp>
      <p:sp>
        <p:nvSpPr>
          <p:cNvPr id="11" name="m12-text-10"/>
          <p:cNvSpPr/>
          <p:nvPr/>
        </p:nvSpPr>
        <p:spPr>
          <a:xfrm>
            <a:off x="1041400" y="39751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Application A</a:t>
            </a:r>
            <a:endParaRPr lang="en-US" sz="1800" dirty="0"/>
          </a:p>
        </p:txBody>
      </p:sp>
      <p:sp>
        <p:nvSpPr>
          <p:cNvPr id="12" name="m12-text-11"/>
          <p:cNvSpPr/>
          <p:nvPr/>
        </p:nvSpPr>
        <p:spPr>
          <a:xfrm>
            <a:off x="3708400" y="3975100"/>
            <a:ext cx="228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可視化・知識化</a:t>
            </a:r>
            <a:endParaRPr lang="en-US" sz="1400" dirty="0"/>
          </a:p>
        </p:txBody>
      </p:sp>
      <p:sp>
        <p:nvSpPr>
          <p:cNvPr id="13" name="m12-text-12"/>
          <p:cNvSpPr/>
          <p:nvPr/>
        </p:nvSpPr>
        <p:spPr>
          <a:xfrm>
            <a:off x="6629400" y="3975100"/>
            <a:ext cx="228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保証・近代化</a:t>
            </a:r>
            <a:endParaRPr lang="en-US" sz="1400" dirty="0"/>
          </a:p>
        </p:txBody>
      </p:sp>
      <p:sp>
        <p:nvSpPr>
          <p:cNvPr id="14" name="m12-text-13"/>
          <p:cNvSpPr/>
          <p:nvPr/>
        </p:nvSpPr>
        <p:spPr>
          <a:xfrm>
            <a:off x="9550400" y="39751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リリース準備</a:t>
            </a:r>
            <a:endParaRPr lang="en-US" sz="1400" dirty="0"/>
          </a:p>
        </p:txBody>
      </p:sp>
      <p:sp>
        <p:nvSpPr>
          <p:cNvPr id="15" name="m12-text-14"/>
          <p:cNvSpPr/>
          <p:nvPr/>
        </p:nvSpPr>
        <p:spPr>
          <a:xfrm>
            <a:off x="12471400" y="39751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Evidenceで集約</a:t>
            </a:r>
            <a:endParaRPr lang="en-US" sz="1400" dirty="0"/>
          </a:p>
        </p:txBody>
      </p:sp>
      <p:sp>
        <p:nvSpPr>
          <p:cNvPr id="16" name="m12-shape-15"/>
          <p:cNvSpPr/>
          <p:nvPr/>
        </p:nvSpPr>
        <p:spPr>
          <a:xfrm>
            <a:off x="762000" y="4749800"/>
            <a:ext cx="14732000" cy="787400"/>
          </a:xfrm>
          <a:prstGeom prst="roundRect">
            <a:avLst>
              <a:gd name="adj" fmla="val 9677"/>
            </a:avLst>
          </a:prstGeom>
          <a:solidFill>
            <a:srgbClr val="F1F4F8"/>
          </a:solidFill>
          <a:ln/>
        </p:spPr>
      </p:sp>
      <p:sp>
        <p:nvSpPr>
          <p:cNvPr id="17" name="m12-text-16"/>
          <p:cNvSpPr/>
          <p:nvPr/>
        </p:nvSpPr>
        <p:spPr>
          <a:xfrm>
            <a:off x="1041400" y="50165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Application B</a:t>
            </a:r>
            <a:endParaRPr lang="en-US" sz="1800" dirty="0"/>
          </a:p>
        </p:txBody>
      </p:sp>
      <p:sp>
        <p:nvSpPr>
          <p:cNvPr id="18" name="m12-text-17"/>
          <p:cNvSpPr/>
          <p:nvPr/>
        </p:nvSpPr>
        <p:spPr>
          <a:xfrm>
            <a:off x="3708400" y="5016500"/>
            <a:ext cx="228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可視化・知識化</a:t>
            </a:r>
            <a:endParaRPr lang="en-US" sz="1400" dirty="0"/>
          </a:p>
        </p:txBody>
      </p:sp>
      <p:sp>
        <p:nvSpPr>
          <p:cNvPr id="19" name="m12-text-18"/>
          <p:cNvSpPr/>
          <p:nvPr/>
        </p:nvSpPr>
        <p:spPr>
          <a:xfrm>
            <a:off x="6629400" y="5016500"/>
            <a:ext cx="228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保証・近代化</a:t>
            </a:r>
            <a:endParaRPr lang="en-US" sz="1400" dirty="0"/>
          </a:p>
        </p:txBody>
      </p:sp>
      <p:sp>
        <p:nvSpPr>
          <p:cNvPr id="20" name="m12-text-19"/>
          <p:cNvSpPr/>
          <p:nvPr/>
        </p:nvSpPr>
        <p:spPr>
          <a:xfrm>
            <a:off x="9550400" y="50165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リリース準備</a:t>
            </a:r>
            <a:endParaRPr lang="en-US" sz="1400" dirty="0"/>
          </a:p>
        </p:txBody>
      </p:sp>
      <p:sp>
        <p:nvSpPr>
          <p:cNvPr id="21" name="m12-text-20"/>
          <p:cNvSpPr/>
          <p:nvPr/>
        </p:nvSpPr>
        <p:spPr>
          <a:xfrm>
            <a:off x="12471400" y="50165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課題をBacklog化</a:t>
            </a:r>
            <a:endParaRPr lang="en-US" sz="1400" dirty="0"/>
          </a:p>
        </p:txBody>
      </p:sp>
      <p:sp>
        <p:nvSpPr>
          <p:cNvPr id="22" name="m12-shape-21"/>
          <p:cNvSpPr/>
          <p:nvPr/>
        </p:nvSpPr>
        <p:spPr>
          <a:xfrm>
            <a:off x="762000" y="5791200"/>
            <a:ext cx="14732000" cy="787400"/>
          </a:xfrm>
          <a:prstGeom prst="roundRect">
            <a:avLst>
              <a:gd name="adj" fmla="val 9677"/>
            </a:avLst>
          </a:prstGeom>
          <a:solidFill>
            <a:srgbClr val="051429"/>
          </a:solidFill>
          <a:ln/>
        </p:spPr>
      </p:sp>
      <p:sp>
        <p:nvSpPr>
          <p:cNvPr id="23" name="m12-text-22"/>
          <p:cNvSpPr/>
          <p:nvPr/>
        </p:nvSpPr>
        <p:spPr>
          <a:xfrm>
            <a:off x="1041400" y="60579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Program view</a:t>
            </a:r>
            <a:endParaRPr lang="en-US" sz="1800" dirty="0"/>
          </a:p>
        </p:txBody>
      </p:sp>
      <p:sp>
        <p:nvSpPr>
          <p:cNvPr id="24" name="m12-text-23"/>
          <p:cNvSpPr/>
          <p:nvPr/>
        </p:nvSpPr>
        <p:spPr>
          <a:xfrm>
            <a:off x="3708400" y="6057900"/>
            <a:ext cx="228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同時実行は3以内</a:t>
            </a:r>
            <a:endParaRPr lang="en-US" sz="1400" dirty="0"/>
          </a:p>
        </p:txBody>
      </p:sp>
      <p:sp>
        <p:nvSpPr>
          <p:cNvPr id="25" name="m12-text-24"/>
          <p:cNvSpPr/>
          <p:nvPr/>
        </p:nvSpPr>
        <p:spPr>
          <a:xfrm>
            <a:off x="6629400" y="6057900"/>
            <a:ext cx="228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単一Sourceは単一Writer</a:t>
            </a:r>
            <a:endParaRPr lang="en-US" sz="1400" dirty="0"/>
          </a:p>
        </p:txBody>
      </p:sp>
      <p:sp>
        <p:nvSpPr>
          <p:cNvPr id="26" name="m12-text-25"/>
          <p:cNvSpPr/>
          <p:nvPr/>
        </p:nvSpPr>
        <p:spPr>
          <a:xfrm>
            <a:off x="9550400" y="60579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Human Gate</a:t>
            </a:r>
            <a:endParaRPr lang="en-US" sz="1400" dirty="0"/>
          </a:p>
        </p:txBody>
      </p:sp>
      <p:sp>
        <p:nvSpPr>
          <p:cNvPr id="27" name="m12-text-26"/>
          <p:cNvSpPr/>
          <p:nvPr/>
        </p:nvSpPr>
        <p:spPr>
          <a:xfrm>
            <a:off x="12471400" y="6057900"/>
            <a:ext cx="254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dashboard / issues_backlog</a:t>
            </a:r>
            <a:endParaRPr lang="en-US" sz="1400" dirty="0"/>
          </a:p>
        </p:txBody>
      </p:sp>
      <p:sp>
        <p:nvSpPr>
          <p:cNvPr id="28" name="m12-text-27"/>
          <p:cNvSpPr/>
          <p:nvPr/>
        </p:nvSpPr>
        <p:spPr>
          <a:xfrm>
            <a:off x="762000" y="7264400"/>
            <a:ext cx="139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Mode：Agent Orchestrator。IBM i専用操作はDeveloperまたはDatabaseへ委譲する。</a:t>
            </a:r>
            <a:endParaRPr lang="en-US" sz="1400" dirty="0"/>
          </a:p>
        </p:txBody>
      </p:sp>
      <p:sp>
        <p:nvSpPr>
          <p:cNvPr id="29" name="m12-text-28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変更範囲：IBM i Mutation = HUMAN_GATE　/　Wave単位の実行統制</a:t>
            </a:r>
            <a:endParaRPr lang="en-US" sz="1400" dirty="0"/>
          </a:p>
        </p:txBody>
      </p:sp>
      <p:sp>
        <p:nvSpPr>
          <p:cNvPr id="30" name="m12-text-2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admap-text-1"/>
          <p:cNvSpPr/>
          <p:nvPr/>
        </p:nvSpPr>
        <p:spPr>
          <a:xfrm>
            <a:off x="762000" y="711200"/>
            <a:ext cx="1219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推奨導入ロードマップ</a:t>
            </a:r>
            <a:endParaRPr lang="en-US" sz="3200" dirty="0"/>
          </a:p>
        </p:txBody>
      </p:sp>
      <p:sp>
        <p:nvSpPr>
          <p:cNvPr id="3" name="roadmap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roadmap-text-3"/>
          <p:cNvSpPr/>
          <p:nvPr/>
        </p:nvSpPr>
        <p:spPr>
          <a:xfrm>
            <a:off x="762000" y="2082800"/>
            <a:ext cx="1384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まず現状の根拠を揃え、DEV/TESTで検証し、承認済みのリリース準備へ段階的に進む。</a:t>
            </a:r>
            <a:endParaRPr lang="en-US" sz="2400" dirty="0"/>
          </a:p>
        </p:txBody>
      </p:sp>
      <p:sp>
        <p:nvSpPr>
          <p:cNvPr id="5" name="roadmap-shape-4"/>
          <p:cNvSpPr/>
          <p:nvPr/>
        </p:nvSpPr>
        <p:spPr>
          <a:xfrm>
            <a:off x="1905000" y="5016500"/>
            <a:ext cx="12192000" cy="9144"/>
          </a:xfrm>
          <a:prstGeom prst="line">
            <a:avLst/>
          </a:prstGeom>
          <a:ln w="50800">
            <a:solidFill>
              <a:srgbClr val="E0E0E0"/>
            </a:solidFill>
            <a:prstDash val="solid"/>
          </a:ln>
        </p:spPr>
      </p:sp>
      <p:sp>
        <p:nvSpPr>
          <p:cNvPr id="6" name="roadmap-shape-5"/>
          <p:cNvSpPr/>
          <p:nvPr/>
        </p:nvSpPr>
        <p:spPr>
          <a:xfrm>
            <a:off x="1778000" y="4635500"/>
            <a:ext cx="762000" cy="762000"/>
          </a:xfrm>
          <a:prstGeom prst="ellipse">
            <a:avLst/>
          </a:prstGeom>
          <a:solidFill>
            <a:srgbClr val="051429"/>
          </a:solidFill>
          <a:ln/>
        </p:spPr>
      </p:sp>
      <p:sp>
        <p:nvSpPr>
          <p:cNvPr id="7" name="roadmap-text-6"/>
          <p:cNvSpPr/>
          <p:nvPr/>
        </p:nvSpPr>
        <p:spPr>
          <a:xfrm>
            <a:off x="1333500" y="3632200"/>
            <a:ext cx="16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01 確認</a:t>
            </a:r>
            <a:endParaRPr lang="en-US" sz="2000" dirty="0"/>
          </a:p>
        </p:txBody>
      </p:sp>
      <p:sp>
        <p:nvSpPr>
          <p:cNvPr id="8" name="roadmap-text-7"/>
          <p:cNvSpPr/>
          <p:nvPr/>
        </p:nvSpPr>
        <p:spPr>
          <a:xfrm>
            <a:off x="952500" y="5740400"/>
            <a:ext cx="241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前提条件</a:t>
            </a:r>
            <a:endParaRPr lang="en-US" sz="1800" dirty="0"/>
          </a:p>
          <a:p>
            <a:pPr algn="ctr" indent="0" marL="0">
              <a:lnSpc>
                <a:spcPts val="2430"/>
              </a:lnSpc>
              <a:buNone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対象・目的を合意</a:t>
            </a:r>
            <a:endParaRPr lang="en-US" sz="1800" dirty="0"/>
          </a:p>
        </p:txBody>
      </p:sp>
      <p:sp>
        <p:nvSpPr>
          <p:cNvPr id="9" name="roadmap-shape-8"/>
          <p:cNvSpPr/>
          <p:nvPr/>
        </p:nvSpPr>
        <p:spPr>
          <a:xfrm>
            <a:off x="5080000" y="4635500"/>
            <a:ext cx="762000" cy="762000"/>
          </a:xfrm>
          <a:prstGeom prst="ellipse">
            <a:avLst/>
          </a:prstGeom>
          <a:solidFill>
            <a:srgbClr val="051429"/>
          </a:solidFill>
          <a:ln/>
        </p:spPr>
      </p:sp>
      <p:sp>
        <p:nvSpPr>
          <p:cNvPr id="10" name="roadmap-text-9"/>
          <p:cNvSpPr/>
          <p:nvPr/>
        </p:nvSpPr>
        <p:spPr>
          <a:xfrm>
            <a:off x="4635500" y="3632200"/>
            <a:ext cx="16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02 把握</a:t>
            </a:r>
            <a:endParaRPr lang="en-US" sz="2000" dirty="0"/>
          </a:p>
        </p:txBody>
      </p:sp>
      <p:sp>
        <p:nvSpPr>
          <p:cNvPr id="11" name="roadmap-text-10"/>
          <p:cNvSpPr/>
          <p:nvPr/>
        </p:nvSpPr>
        <p:spPr>
          <a:xfrm>
            <a:off x="4254500" y="5740400"/>
            <a:ext cx="241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M01 資産可視化</a:t>
            </a:r>
            <a:endParaRPr lang="en-US" sz="1800" dirty="0"/>
          </a:p>
          <a:p>
            <a:pPr algn="ctr" indent="0" marL="0">
              <a:lnSpc>
                <a:spcPts val="2430"/>
              </a:lnSpc>
              <a:buNone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M02 業務知識化</a:t>
            </a:r>
            <a:endParaRPr lang="en-US" sz="1800" dirty="0"/>
          </a:p>
        </p:txBody>
      </p:sp>
      <p:sp>
        <p:nvSpPr>
          <p:cNvPr id="12" name="roadmap-shape-11"/>
          <p:cNvSpPr/>
          <p:nvPr/>
        </p:nvSpPr>
        <p:spPr>
          <a:xfrm>
            <a:off x="8382000" y="4635500"/>
            <a:ext cx="762000" cy="76200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3" name="roadmap-text-12"/>
          <p:cNvSpPr/>
          <p:nvPr/>
        </p:nvSpPr>
        <p:spPr>
          <a:xfrm>
            <a:off x="7937500" y="3632200"/>
            <a:ext cx="16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03 計画・検証</a:t>
            </a:r>
            <a:endParaRPr lang="en-US" sz="2000" dirty="0"/>
          </a:p>
        </p:txBody>
      </p:sp>
      <p:sp>
        <p:nvSpPr>
          <p:cNvPr id="14" name="roadmap-text-13"/>
          <p:cNvSpPr/>
          <p:nvPr/>
        </p:nvSpPr>
        <p:spPr>
          <a:xfrm>
            <a:off x="7556500" y="5740400"/>
            <a:ext cx="241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M03 Wave計画</a:t>
            </a:r>
            <a:endParaRPr lang="en-US" sz="1800" dirty="0"/>
          </a:p>
          <a:p>
            <a:pPr algn="ctr" indent="0" marL="0">
              <a:lnSpc>
                <a:spcPts val="2430"/>
              </a:lnSpc>
              <a:buNone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M04〜M10 DEV / TEST</a:t>
            </a:r>
            <a:endParaRPr lang="en-US" sz="1800" dirty="0"/>
          </a:p>
        </p:txBody>
      </p:sp>
      <p:sp>
        <p:nvSpPr>
          <p:cNvPr id="15" name="roadmap-shape-14"/>
          <p:cNvSpPr/>
          <p:nvPr/>
        </p:nvSpPr>
        <p:spPr>
          <a:xfrm>
            <a:off x="11684000" y="4635500"/>
            <a:ext cx="762000" cy="762000"/>
          </a:xfrm>
          <a:prstGeom prst="ellipse">
            <a:avLst/>
          </a:prstGeom>
          <a:solidFill>
            <a:srgbClr val="051429"/>
          </a:solidFill>
          <a:ln/>
        </p:spPr>
      </p:sp>
      <p:sp>
        <p:nvSpPr>
          <p:cNvPr id="16" name="roadmap-text-15"/>
          <p:cNvSpPr/>
          <p:nvPr/>
        </p:nvSpPr>
        <p:spPr>
          <a:xfrm>
            <a:off x="11239500" y="3632200"/>
            <a:ext cx="16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04 準備・統制</a:t>
            </a:r>
            <a:endParaRPr lang="en-US" sz="2000" dirty="0"/>
          </a:p>
        </p:txBody>
      </p:sp>
      <p:sp>
        <p:nvSpPr>
          <p:cNvPr id="17" name="roadmap-text-16"/>
          <p:cNvSpPr/>
          <p:nvPr/>
        </p:nvSpPr>
        <p:spPr>
          <a:xfrm>
            <a:off x="10858500" y="5740400"/>
            <a:ext cx="241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M11 リリース準備</a:t>
            </a:r>
            <a:endParaRPr lang="en-US" sz="1800" dirty="0"/>
          </a:p>
          <a:p>
            <a:pPr algn="ctr" indent="0" marL="0">
              <a:lnSpc>
                <a:spcPts val="2430"/>
              </a:lnSpc>
              <a:buNone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M12 横断プログラム</a:t>
            </a:r>
            <a:endParaRPr lang="en-US" sz="1800" dirty="0"/>
          </a:p>
        </p:txBody>
      </p:sp>
      <p:sp>
        <p:nvSpPr>
          <p:cNvPr id="18" name="roadmap-shape-17"/>
          <p:cNvSpPr/>
          <p:nvPr/>
        </p:nvSpPr>
        <p:spPr>
          <a:xfrm>
            <a:off x="762000" y="7391400"/>
            <a:ext cx="14732000" cy="584200"/>
          </a:xfrm>
          <a:prstGeom prst="roundRect">
            <a:avLst>
              <a:gd name="adj" fmla="val 13043"/>
            </a:avLst>
          </a:prstGeom>
          <a:solidFill>
            <a:srgbClr val="051429"/>
          </a:solidFill>
          <a:ln/>
        </p:spPr>
      </p:sp>
      <p:sp>
        <p:nvSpPr>
          <p:cNvPr id="19" name="roadmap-text-18"/>
          <p:cNvSpPr/>
          <p:nvPr/>
        </p:nvSpPr>
        <p:spPr>
          <a:xfrm>
            <a:off x="1066800" y="7556500"/>
            <a:ext cx="14122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フェーズ間：Evidence Gate　/　PROD直前：Human Approval Gate　/　本番適用：顧客の承認と実施</a:t>
            </a:r>
            <a:endParaRPr lang="en-US" sz="1400" dirty="0"/>
          </a:p>
        </p:txBody>
      </p:sp>
      <p:sp>
        <p:nvSpPr>
          <p:cNvPr id="20" name="roadmap-text-19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実環境の結果および公式機能の利用可否は、実行時に確認</a:t>
            </a:r>
            <a:endParaRPr lang="en-US" sz="1400" dirty="0"/>
          </a:p>
        </p:txBody>
      </p:sp>
      <p:sp>
        <p:nvSpPr>
          <p:cNvPr id="21" name="roadmap-text-20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xt_steps-text-1"/>
          <p:cNvSpPr/>
          <p:nvPr/>
        </p:nvSpPr>
        <p:spPr>
          <a:xfrm>
            <a:off x="762000" y="711200"/>
            <a:ext cx="1219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まとめ・次のアクション</a:t>
            </a:r>
            <a:endParaRPr lang="en-US" sz="3200" dirty="0"/>
          </a:p>
        </p:txBody>
      </p:sp>
      <p:sp>
        <p:nvSpPr>
          <p:cNvPr id="3" name="next_steps-shape-2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25400">
            <a:solidFill>
              <a:srgbClr val="0F62FE"/>
            </a:solidFill>
            <a:prstDash val="solid"/>
          </a:ln>
        </p:spPr>
      </p:sp>
      <p:sp>
        <p:nvSpPr>
          <p:cNvPr id="4" name="next_steps-text-3"/>
          <p:cNvSpPr/>
          <p:nvPr/>
        </p:nvSpPr>
        <p:spPr>
          <a:xfrm>
            <a:off x="762000" y="2082800"/>
            <a:ext cx="1397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最初の行動は、前提を確認し、対象を定め、根拠を可視化して人の判断へ渡すことです。</a:t>
            </a:r>
            <a:endParaRPr lang="en-US" sz="2400" dirty="0"/>
          </a:p>
        </p:txBody>
      </p:sp>
      <p:sp>
        <p:nvSpPr>
          <p:cNvPr id="5" name="next_steps-shape-4"/>
          <p:cNvSpPr/>
          <p:nvPr/>
        </p:nvSpPr>
        <p:spPr>
          <a:xfrm>
            <a:off x="762000" y="3556000"/>
            <a:ext cx="6604000" cy="3238500"/>
          </a:xfrm>
          <a:prstGeom prst="roundRect">
            <a:avLst>
              <a:gd name="adj" fmla="val 3922"/>
            </a:avLst>
          </a:prstGeom>
          <a:solidFill>
            <a:srgbClr val="051429"/>
          </a:solidFill>
          <a:ln/>
        </p:spPr>
      </p:sp>
      <p:sp>
        <p:nvSpPr>
          <p:cNvPr id="6" name="next_steps-text-5"/>
          <p:cNvSpPr/>
          <p:nvPr/>
        </p:nvSpPr>
        <p:spPr>
          <a:xfrm>
            <a:off x="1206500" y="4038600"/>
            <a:ext cx="482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Start with M01</a:t>
            </a:r>
            <a:endParaRPr lang="en-US" sz="2500" dirty="0"/>
          </a:p>
        </p:txBody>
      </p:sp>
      <p:sp>
        <p:nvSpPr>
          <p:cNvPr id="7" name="next_steps-text-6"/>
          <p:cNvSpPr/>
          <p:nvPr/>
        </p:nvSpPr>
        <p:spPr>
          <a:xfrm>
            <a:off x="1206500" y="5016500"/>
            <a:ext cx="4953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7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前提条件を確認</a:t>
            </a:r>
            <a:endParaRPr lang="en-US" sz="1800" dirty="0"/>
          </a:p>
          <a:p>
            <a:pPr algn="l" marL="285750" indent="-285750">
              <a:lnSpc>
                <a:spcPts val="27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対象アプリと目的を確定</a:t>
            </a:r>
            <a:endParaRPr lang="en-US" sz="1800" dirty="0"/>
          </a:p>
          <a:p>
            <a:pPr algn="l" marL="285750" indent="-285750">
              <a:lnSpc>
                <a:spcPts val="27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>
                    <a:alpha val="87000"/>
                  </a:srgbClr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資産・依存・UNKNOWNを可視化</a:t>
            </a:r>
            <a:endParaRPr lang="en-US" sz="1800" dirty="0"/>
          </a:p>
        </p:txBody>
      </p:sp>
      <p:sp>
        <p:nvSpPr>
          <p:cNvPr id="8" name="next_steps-shape-7"/>
          <p:cNvSpPr/>
          <p:nvPr/>
        </p:nvSpPr>
        <p:spPr>
          <a:xfrm>
            <a:off x="8890000" y="3556000"/>
            <a:ext cx="6604000" cy="3238500"/>
          </a:xfrm>
          <a:prstGeom prst="roundRect">
            <a:avLst>
              <a:gd name="adj" fmla="val 3922"/>
            </a:avLst>
          </a:prstGeom>
          <a:solidFill>
            <a:srgbClr val="F1F4F8"/>
          </a:solidFill>
          <a:ln/>
        </p:spPr>
      </p:sp>
      <p:sp>
        <p:nvSpPr>
          <p:cNvPr id="9" name="next_steps-text-8"/>
          <p:cNvSpPr/>
          <p:nvPr/>
        </p:nvSpPr>
        <p:spPr>
          <a:xfrm>
            <a:off x="9334500" y="4038600"/>
            <a:ext cx="482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051429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Operate with governance</a:t>
            </a:r>
            <a:endParaRPr lang="en-US" sz="2500" dirty="0"/>
          </a:p>
        </p:txBody>
      </p:sp>
      <p:sp>
        <p:nvSpPr>
          <p:cNvPr id="10" name="next_steps-text-9"/>
          <p:cNvSpPr/>
          <p:nvPr/>
        </p:nvSpPr>
        <p:spPr>
          <a:xfrm>
            <a:off x="9334500" y="5016500"/>
            <a:ext cx="5080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ts val="27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DEV / TEST先行</a:t>
            </a:r>
            <a:endParaRPr lang="en-US" sz="1800" dirty="0"/>
          </a:p>
          <a:p>
            <a:pPr algn="l" marL="285750" indent="-285750">
              <a:lnSpc>
                <a:spcPts val="27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Evidenceと状態区分を運用</a:t>
            </a:r>
            <a:endParaRPr lang="en-US" sz="1800" dirty="0"/>
          </a:p>
          <a:p>
            <a:pPr algn="l" marL="285750" indent="-285750">
              <a:lnSpc>
                <a:spcPts val="27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161616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Human Gateで意思決定</a:t>
            </a:r>
            <a:endParaRPr lang="en-US" sz="1800" dirty="0"/>
          </a:p>
        </p:txBody>
      </p:sp>
      <p:sp>
        <p:nvSpPr>
          <p:cNvPr id="11" name="next_steps-shape-10"/>
          <p:cNvSpPr/>
          <p:nvPr/>
        </p:nvSpPr>
        <p:spPr>
          <a:xfrm>
            <a:off x="762000" y="7416800"/>
            <a:ext cx="14732000" cy="558800"/>
          </a:xfrm>
          <a:prstGeom prst="roundRect">
            <a:avLst>
              <a:gd name="adj" fmla="val 13636"/>
            </a:avLst>
          </a:prstGeom>
          <a:solidFill>
            <a:srgbClr val="0F62FE"/>
          </a:solidFill>
          <a:ln/>
        </p:spPr>
      </p:sp>
      <p:sp>
        <p:nvSpPr>
          <p:cNvPr id="12" name="next_steps-text-11"/>
          <p:cNvSpPr/>
          <p:nvPr/>
        </p:nvSpPr>
        <p:spPr>
          <a:xfrm>
            <a:off x="1041400" y="7569200"/>
            <a:ext cx="14173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Runtime実績は未検証。公式コンポーネントの利用可否と実環境の結果を実行時に確認する。</a:t>
            </a:r>
            <a:endParaRPr lang="en-US" sz="1400" dirty="0"/>
          </a:p>
        </p:txBody>
      </p:sp>
      <p:sp>
        <p:nvSpPr>
          <p:cNvPr id="13" name="next_steps-text-12"/>
          <p:cNvSpPr/>
          <p:nvPr/>
        </p:nvSpPr>
        <p:spPr>
          <a:xfrm>
            <a:off x="762000" y="863600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IBM Bob Premium Package for i — IBM iモダナイゼーション・プレイブックライブラリ V2.1</a:t>
            </a:r>
            <a:endParaRPr lang="en-US" sz="1400" dirty="0"/>
          </a:p>
        </p:txBody>
      </p:sp>
      <p:sp>
        <p:nvSpPr>
          <p:cNvPr id="14" name="next_steps-text-1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2525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Bob Premium Package for i — IBM iモダナイゼーション・プレイブックのご紹介</dc:title>
  <dc:subject>IBM Bob Premium Package for i — IBM iモダナイゼーション・プレイブックのご紹介</dc:subject>
  <dc:creator>Manus</dc:creator>
  <cp:lastModifiedBy>Manus</cp:lastModifiedBy>
  <cp:revision>1</cp:revision>
  <dcterms:created xsi:type="dcterms:W3CDTF">2026-09-29T08:25:48Z</dcterms:created>
  <dcterms:modified xsi:type="dcterms:W3CDTF">2026-09-29T08:25:48Z</dcterms:modified>
</cp:coreProperties>
</file>